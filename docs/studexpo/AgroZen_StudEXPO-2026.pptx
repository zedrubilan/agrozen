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AgroZen is a working Android app: an AI mentor that guides a beginner broiler farmer through the 42-day cycle. New this autumn: a smart-barn monitor for sensors and AI cameras, and reports for banks.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2017: chicken loans for low-income families went wrong. From August 2026 the state again gives concessional poultry loans. A beginner without knowledge loses the flock in the first two weeks and keeps the debt.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screens a farmer uses every day: today's targets, the 42-day plan, the AI assistant that answers by voice, the diary with alerts and the course that ends with a certificate for a concessional loan.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app open Smart barn and press 'Losses'. The camera colours every bird: green is active, amber moves little and needs watching, red has stopped moving — and the vet's number appears. Press 'Ammonia' to show the sensors: NH3 passes 10 ppm and the fans switch on. All checks are plain code against the Ross-308 norms.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farmer agrees, and the app turns the diary into a one-page PDF with a score out of 100. The bank's dashboard shows all its farmers: who is on track, who needs attention, and it can warn every farmer in a district about a disease. This is how AgroZen pays for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shown is in the Android app today, in three languages and offline. 260 automated tests check the norms, the alerts and the bank score. The assistant answers only from the knowledge base; outside it, it sends the farmer to the district vet and never names medicines.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a pilot with ten farmers and one bank in Namangan region, with sensors and cameras in two farms. Scan the QR code to install the app.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slideLayout" Target="../slideLayouts/slideLayout1.xml"/><Relationship Id="rId1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slideLayout" Target="../slideLayouts/slideLayout1.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slideLayout" Target="../slideLayouts/slideLayout1.xml"/><Relationship Id="rId1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1.xml"/><Relationship Id="rId10"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2E16"/>
        </a:solidFill>
      </p:bgPr>
    </p:bg>
    <p:spTree>
      <p:nvGrpSpPr>
        <p:cNvPr id="1" name=""/>
        <p:cNvGrpSpPr/>
        <p:nvPr/>
      </p:nvGrpSpPr>
      <p:grpSpPr>
        <a:xfrm>
          <a:off x="0" y="0"/>
          <a:ext cx="0" cy="0"/>
          <a:chOff x="0" y="0"/>
          <a:chExt cx="0" cy="0"/>
        </a:xfrm>
      </p:grpSpPr>
      <p:sp>
        <p:nvSpPr>
          <p:cNvPr id="2" name="Shape 0"/>
          <p:cNvSpPr/>
          <p:nvPr/>
        </p:nvSpPr>
        <p:spPr>
          <a:xfrm>
            <a:off x="6309360" y="-1188720"/>
            <a:ext cx="6949440" cy="6949440"/>
          </a:xfrm>
          <a:prstGeom prst="ellipse">
            <a:avLst/>
          </a:prstGeom>
          <a:solidFill>
            <a:srgbClr val="15803D">
              <a:alpha val="45000"/>
            </a:srgbClr>
          </a:solidFill>
          <a:ln/>
        </p:spPr>
      </p:sp>
      <p:pic>
        <p:nvPicPr>
          <p:cNvPr id="3" name="Image 0" descr="/home/abraxis/Desktop/AgroZen/docs/studexpo/assets/logo.png">    </p:cNvPr>
          <p:cNvPicPr>
            <a:picLocks noChangeAspect="1"/>
          </p:cNvPicPr>
          <p:nvPr/>
        </p:nvPicPr>
        <p:blipFill>
          <a:blip r:embed="rId1"/>
          <a:stretch>
            <a:fillRect/>
          </a:stretch>
        </p:blipFill>
        <p:spPr>
          <a:xfrm>
            <a:off x="640080" y="594360"/>
            <a:ext cx="777240" cy="777240"/>
          </a:xfrm>
          <a:prstGeom prst="rect">
            <a:avLst/>
          </a:prstGeom>
        </p:spPr>
      </p:pic>
      <p:sp>
        <p:nvSpPr>
          <p:cNvPr id="4" name="Text 1"/>
          <p:cNvSpPr/>
          <p:nvPr/>
        </p:nvSpPr>
        <p:spPr>
          <a:xfrm>
            <a:off x="1600200" y="594360"/>
            <a:ext cx="4754880" cy="777240"/>
          </a:xfrm>
          <a:prstGeom prst="rect">
            <a:avLst/>
          </a:prstGeom>
          <a:noFill/>
          <a:ln/>
        </p:spPr>
        <p:txBody>
          <a:bodyPr wrap="square" lIns="0" tIns="0" rIns="0" bIns="0" rtlCol="0" anchor="ctr"/>
          <a:lstStyle/>
          <a:p>
            <a:pPr indent="0" marL="0">
              <a:buNone/>
            </a:pPr>
            <a:r>
              <a:rPr lang="en-US" sz="1500" b="1" spc="200" kern="0" dirty="0">
                <a:solidFill>
                  <a:srgbClr val="FFFFFF"/>
                </a:solidFill>
                <a:latin typeface="Calibri" pitchFamily="34" charset="0"/>
                <a:ea typeface="Calibri" pitchFamily="34" charset="-122"/>
                <a:cs typeface="Calibri" pitchFamily="34" charset="-120"/>
              </a:rPr>
              <a:t>STUDEXPO-2026</a:t>
            </a:r>
            <a:endParaRPr lang="en-US" sz="1500" dirty="0"/>
          </a:p>
          <a:p>
            <a:pPr indent="0" marL="0">
              <a:buNone/>
            </a:pPr>
            <a:r>
              <a:rPr lang="en-US" sz="1400" dirty="0">
                <a:solidFill>
                  <a:srgbClr val="DCFCE7"/>
                </a:solidFill>
                <a:latin typeface="Calibri" pitchFamily="34" charset="0"/>
                <a:ea typeface="Calibri" pitchFamily="34" charset="-122"/>
                <a:cs typeface="Calibri" pitchFamily="34" charset="-120"/>
              </a:rPr>
              <a:t>Mobile apps and artificial intelligence</a:t>
            </a:r>
            <a:endParaRPr lang="en-US" sz="1500" dirty="0"/>
          </a:p>
        </p:txBody>
      </p:sp>
      <p:sp>
        <p:nvSpPr>
          <p:cNvPr id="5" name="Text 2"/>
          <p:cNvSpPr/>
          <p:nvPr/>
        </p:nvSpPr>
        <p:spPr>
          <a:xfrm>
            <a:off x="640080" y="1691640"/>
            <a:ext cx="5760720" cy="1188720"/>
          </a:xfrm>
          <a:prstGeom prst="rect">
            <a:avLst/>
          </a:prstGeom>
          <a:noFill/>
          <a:ln/>
        </p:spPr>
        <p:txBody>
          <a:bodyPr wrap="square" lIns="0" tIns="0" rIns="0" bIns="0" rtlCol="0" anchor="ctr"/>
          <a:lstStyle/>
          <a:p>
            <a:pPr indent="0" marL="0">
              <a:buNone/>
            </a:pPr>
            <a:r>
              <a:rPr lang="en-US" sz="8000" b="1" dirty="0">
                <a:solidFill>
                  <a:srgbClr val="FFFFFF"/>
                </a:solidFill>
                <a:latin typeface="Calibri" pitchFamily="34" charset="0"/>
                <a:ea typeface="Calibri" pitchFamily="34" charset="-122"/>
                <a:cs typeface="Calibri" pitchFamily="34" charset="-120"/>
              </a:rPr>
              <a:t>AgroZen</a:t>
            </a:r>
            <a:endParaRPr lang="en-US" sz="8000" dirty="0"/>
          </a:p>
        </p:txBody>
      </p:sp>
      <p:sp>
        <p:nvSpPr>
          <p:cNvPr id="6" name="Text 3"/>
          <p:cNvSpPr/>
          <p:nvPr/>
        </p:nvSpPr>
        <p:spPr>
          <a:xfrm>
            <a:off x="640080" y="2926080"/>
            <a:ext cx="5486400" cy="914400"/>
          </a:xfrm>
          <a:prstGeom prst="rect">
            <a:avLst/>
          </a:prstGeom>
          <a:noFill/>
          <a:ln/>
        </p:spPr>
        <p:txBody>
          <a:bodyPr wrap="square" lIns="0" tIns="0" rIns="0" bIns="0" rtlCol="0" anchor="t"/>
          <a:lstStyle/>
          <a:p>
            <a:pPr indent="0" marL="0">
              <a:buNone/>
            </a:pPr>
            <a:r>
              <a:rPr lang="en-US" sz="2400" dirty="0">
                <a:solidFill>
                  <a:srgbClr val="DCFCE7"/>
                </a:solidFill>
                <a:latin typeface="Calibri" pitchFamily="34" charset="0"/>
                <a:ea typeface="Calibri" pitchFamily="34" charset="-122"/>
                <a:cs typeface="Calibri" pitchFamily="34" charset="-120"/>
              </a:rPr>
              <a:t>An AI mentor in your smartphone for beginner poultry farmers</a:t>
            </a:r>
            <a:endParaRPr lang="en-US" sz="2400" dirty="0"/>
          </a:p>
        </p:txBody>
      </p:sp>
      <p:sp>
        <p:nvSpPr>
          <p:cNvPr id="7" name="Shape 4"/>
          <p:cNvSpPr/>
          <p:nvPr/>
        </p:nvSpPr>
        <p:spPr>
          <a:xfrm>
            <a:off x="640080" y="4069080"/>
            <a:ext cx="2240280" cy="384048"/>
          </a:xfrm>
          <a:prstGeom prst="roundRect">
            <a:avLst>
              <a:gd name="adj" fmla="val 50000"/>
            </a:avLst>
          </a:prstGeom>
          <a:solidFill>
            <a:srgbClr val="15803D"/>
          </a:solidFill>
          <a:ln/>
        </p:spPr>
      </p:sp>
      <p:sp>
        <p:nvSpPr>
          <p:cNvPr id="8" name="Text 5"/>
          <p:cNvSpPr/>
          <p:nvPr/>
        </p:nvSpPr>
        <p:spPr>
          <a:xfrm>
            <a:off x="640080" y="4069080"/>
            <a:ext cx="22402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Working MVP · Android</a:t>
            </a:r>
            <a:endParaRPr lang="en-US" sz="1300" dirty="0"/>
          </a:p>
        </p:txBody>
      </p:sp>
      <p:sp>
        <p:nvSpPr>
          <p:cNvPr id="9" name="Shape 6"/>
          <p:cNvSpPr/>
          <p:nvPr/>
        </p:nvSpPr>
        <p:spPr>
          <a:xfrm>
            <a:off x="3017520" y="4069080"/>
            <a:ext cx="1280160" cy="384048"/>
          </a:xfrm>
          <a:prstGeom prst="roundRect">
            <a:avLst>
              <a:gd name="adj" fmla="val 50000"/>
            </a:avLst>
          </a:prstGeom>
          <a:solidFill>
            <a:srgbClr val="15803D"/>
          </a:solidFill>
          <a:ln/>
        </p:spPr>
      </p:sp>
      <p:sp>
        <p:nvSpPr>
          <p:cNvPr id="10" name="Text 7"/>
          <p:cNvSpPr/>
          <p:nvPr/>
        </p:nvSpPr>
        <p:spPr>
          <a:xfrm>
            <a:off x="3017520" y="4069080"/>
            <a:ext cx="128016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 languages</a:t>
            </a:r>
            <a:endParaRPr lang="en-US" sz="1300" dirty="0"/>
          </a:p>
        </p:txBody>
      </p:sp>
      <p:sp>
        <p:nvSpPr>
          <p:cNvPr id="11" name="Shape 8"/>
          <p:cNvSpPr/>
          <p:nvPr/>
        </p:nvSpPr>
        <p:spPr>
          <a:xfrm>
            <a:off x="4434840" y="4069080"/>
            <a:ext cx="1463040" cy="384048"/>
          </a:xfrm>
          <a:prstGeom prst="roundRect">
            <a:avLst>
              <a:gd name="adj" fmla="val 50000"/>
            </a:avLst>
          </a:prstGeom>
          <a:solidFill>
            <a:srgbClr val="15803D"/>
          </a:solidFill>
          <a:ln/>
        </p:spPr>
      </p:sp>
      <p:sp>
        <p:nvSpPr>
          <p:cNvPr id="12" name="Text 9"/>
          <p:cNvSpPr/>
          <p:nvPr/>
        </p:nvSpPr>
        <p:spPr>
          <a:xfrm>
            <a:off x="4434840" y="4069080"/>
            <a:ext cx="146304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Works offline</a:t>
            </a:r>
            <a:endParaRPr lang="en-US" sz="1300" dirty="0"/>
          </a:p>
        </p:txBody>
      </p:sp>
      <p:sp>
        <p:nvSpPr>
          <p:cNvPr id="13" name="Shape 10"/>
          <p:cNvSpPr/>
          <p:nvPr/>
        </p:nvSpPr>
        <p:spPr>
          <a:xfrm>
            <a:off x="640080" y="4572000"/>
            <a:ext cx="1874520" cy="384048"/>
          </a:xfrm>
          <a:prstGeom prst="roundRect">
            <a:avLst>
              <a:gd name="adj" fmla="val 50000"/>
            </a:avLst>
          </a:prstGeom>
          <a:solidFill>
            <a:srgbClr val="15803D"/>
          </a:solidFill>
          <a:ln/>
        </p:spPr>
      </p:sp>
      <p:sp>
        <p:nvSpPr>
          <p:cNvPr id="14" name="Text 11"/>
          <p:cNvSpPr/>
          <p:nvPr/>
        </p:nvSpPr>
        <p:spPr>
          <a:xfrm>
            <a:off x="640080" y="4572000"/>
            <a:ext cx="187452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Smart barn sensors</a:t>
            </a:r>
            <a:endParaRPr lang="en-US" sz="1300" dirty="0"/>
          </a:p>
        </p:txBody>
      </p:sp>
      <p:sp>
        <p:nvSpPr>
          <p:cNvPr id="15" name="Shape 12"/>
          <p:cNvSpPr/>
          <p:nvPr/>
        </p:nvSpPr>
        <p:spPr>
          <a:xfrm>
            <a:off x="2651760" y="4572000"/>
            <a:ext cx="1783080" cy="384048"/>
          </a:xfrm>
          <a:prstGeom prst="roundRect">
            <a:avLst>
              <a:gd name="adj" fmla="val 50000"/>
            </a:avLst>
          </a:prstGeom>
          <a:solidFill>
            <a:srgbClr val="15803D"/>
          </a:solidFill>
          <a:ln/>
        </p:spPr>
      </p:sp>
      <p:sp>
        <p:nvSpPr>
          <p:cNvPr id="16" name="Text 13"/>
          <p:cNvSpPr/>
          <p:nvPr/>
        </p:nvSpPr>
        <p:spPr>
          <a:xfrm>
            <a:off x="2651760" y="4572000"/>
            <a:ext cx="17830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Reports for banks</a:t>
            </a:r>
            <a:endParaRPr lang="en-US" sz="1300" dirty="0"/>
          </a:p>
        </p:txBody>
      </p:sp>
      <p:sp>
        <p:nvSpPr>
          <p:cNvPr id="17" name="Text 14"/>
          <p:cNvSpPr/>
          <p:nvPr/>
        </p:nvSpPr>
        <p:spPr>
          <a:xfrm>
            <a:off x="640080" y="5715000"/>
            <a:ext cx="5486400" cy="6400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Salimbek Zamalitdinov · Ulugbek Kodirov</a:t>
            </a:r>
            <a:endParaRPr lang="en-US" sz="1500" dirty="0"/>
          </a:p>
          <a:p>
            <a:pPr indent="0" marL="0">
              <a:buNone/>
            </a:pPr>
            <a:r>
              <a:rPr lang="en-US" sz="1300" dirty="0">
                <a:solidFill>
                  <a:srgbClr val="DCFCE7"/>
                </a:solidFill>
                <a:latin typeface="Calibri" pitchFamily="34" charset="0"/>
                <a:ea typeface="Calibri" pitchFamily="34" charset="-122"/>
                <a:cs typeface="Calibri" pitchFamily="34" charset="-120"/>
              </a:rPr>
              <a:t>Namangan State Technical University</a:t>
            </a:r>
            <a:endParaRPr lang="en-US" sz="1500" dirty="0"/>
          </a:p>
        </p:txBody>
      </p:sp>
      <p:pic>
        <p:nvPicPr>
          <p:cNvPr id="18" name="Image 1" descr="AgroZen screen: monitor">    </p:cNvPr>
          <p:cNvPicPr>
            <a:picLocks noChangeAspect="1"/>
          </p:cNvPicPr>
          <p:nvPr/>
        </p:nvPicPr>
        <p:blipFill>
          <a:blip r:embed="rId2"/>
          <a:stretch>
            <a:fillRect/>
          </a:stretch>
        </p:blipFill>
        <p:spPr>
          <a:xfrm rot="21120000">
            <a:off x="6366291" y="1245651"/>
            <a:ext cx="2472033" cy="4823898"/>
          </a:xfrm>
          <a:prstGeom prst="rect">
            <a:avLst/>
          </a:prstGeom>
        </p:spPr>
      </p:pic>
      <p:pic>
        <p:nvPicPr>
          <p:cNvPr id="19" name="Image 2" descr="AgroZen screen: bank_report">    </p:cNvPr>
          <p:cNvPicPr>
            <a:picLocks noChangeAspect="1"/>
          </p:cNvPicPr>
          <p:nvPr/>
        </p:nvPicPr>
        <p:blipFill>
          <a:blip r:embed="rId3"/>
          <a:stretch>
            <a:fillRect/>
          </a:stretch>
        </p:blipFill>
        <p:spPr>
          <a:xfrm rot="480000">
            <a:off x="9658131" y="1245651"/>
            <a:ext cx="2472033" cy="4823898"/>
          </a:xfrm>
          <a:prstGeom prst="rect">
            <a:avLst/>
          </a:prstGeom>
        </p:spPr>
      </p:pic>
      <p:pic>
        <p:nvPicPr>
          <p:cNvPr id="20" name="Image 3" descr="AgroZen screen: today">    </p:cNvPr>
          <p:cNvPicPr>
            <a:picLocks noChangeAspect="1"/>
          </p:cNvPicPr>
          <p:nvPr/>
        </p:nvPicPr>
        <p:blipFill>
          <a:blip r:embed="rId4"/>
          <a:stretch>
            <a:fillRect/>
          </a:stretch>
        </p:blipFill>
        <p:spPr>
          <a:xfrm>
            <a:off x="7796048" y="663728"/>
            <a:ext cx="2951305" cy="575914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4"/>
        </a:solidFill>
      </p:bgPr>
    </p:bg>
    <p:spTree>
      <p:nvGrpSpPr>
        <p:cNvPr id="1" name=""/>
        <p:cNvGrpSpPr/>
        <p:nvPr/>
      </p:nvGrpSpPr>
      <p:grpSpPr>
        <a:xfrm>
          <a:off x="0" y="0"/>
          <a:ext cx="0" cy="0"/>
          <a:chOff x="0" y="0"/>
          <a:chExt cx="0" cy="0"/>
        </a:xfrm>
      </p:grpSpPr>
      <p:pic>
        <p:nvPicPr>
          <p:cNvPr id="2" name="Image 0" descr="/home/abraxis/Desktop/AgroZen/docs/studexpo/assets/problem_photo.jpg">    </p:cNvPr>
          <p:cNvPicPr>
            <a:picLocks noChangeAspect="1"/>
          </p:cNvPicPr>
          <p:nvPr/>
        </p:nvPicPr>
        <p:blipFill>
          <a:blip r:embed="rId1"/>
          <a:srcRect l="0" r="0" t="0" b="0"/>
          <a:stretch/>
        </p:blipFill>
        <p:spPr>
          <a:xfrm>
            <a:off x="0" y="0"/>
            <a:ext cx="4480560" cy="6858000"/>
          </a:xfrm>
          <a:prstGeom prst="rect">
            <a:avLst/>
          </a:prstGeom>
        </p:spPr>
      </p:pic>
      <p:sp>
        <p:nvSpPr>
          <p:cNvPr id="3" name="Shape 0"/>
          <p:cNvSpPr/>
          <p:nvPr/>
        </p:nvSpPr>
        <p:spPr>
          <a:xfrm>
            <a:off x="365760" y="3977640"/>
            <a:ext cx="3749040" cy="1143000"/>
          </a:xfrm>
          <a:prstGeom prst="roundRect">
            <a:avLst>
              <a:gd name="adj" fmla="val 14400"/>
            </a:avLst>
          </a:prstGeom>
          <a:solidFill>
            <a:srgbClr val="FFFFFF"/>
          </a:solidFill>
          <a:ln w="12700">
            <a:solidFill>
              <a:srgbClr val="E2EBE4"/>
            </a:solidFill>
            <a:prstDash val="solid"/>
          </a:ln>
        </p:spPr>
      </p:sp>
      <p:sp>
        <p:nvSpPr>
          <p:cNvPr id="4" name="Shape 1"/>
          <p:cNvSpPr/>
          <p:nvPr/>
        </p:nvSpPr>
        <p:spPr>
          <a:xfrm>
            <a:off x="548640" y="4133088"/>
            <a:ext cx="777240" cy="310896"/>
          </a:xfrm>
          <a:prstGeom prst="roundRect">
            <a:avLst>
              <a:gd name="adj" fmla="val 50000"/>
            </a:avLst>
          </a:prstGeom>
          <a:solidFill>
            <a:srgbClr val="FEE2E2"/>
          </a:solidFill>
          <a:ln/>
        </p:spPr>
      </p:sp>
      <p:sp>
        <p:nvSpPr>
          <p:cNvPr id="5" name="Text 2"/>
          <p:cNvSpPr/>
          <p:nvPr/>
        </p:nvSpPr>
        <p:spPr>
          <a:xfrm>
            <a:off x="548640" y="4133088"/>
            <a:ext cx="777240" cy="310896"/>
          </a:xfrm>
          <a:prstGeom prst="rect">
            <a:avLst/>
          </a:prstGeom>
          <a:noFill/>
          <a:ln/>
        </p:spPr>
        <p:txBody>
          <a:bodyPr wrap="square" lIns="0" tIns="0" rIns="0" bIns="0" rtlCol="0" anchor="ctr"/>
          <a:lstStyle/>
          <a:p>
            <a:pPr algn="ctr" indent="0" marL="0">
              <a:buNone/>
            </a:pPr>
            <a:r>
              <a:rPr lang="en-US" sz="1200" b="1" dirty="0">
                <a:solidFill>
                  <a:srgbClr val="DC2626"/>
                </a:solidFill>
                <a:latin typeface="Calibri" pitchFamily="34" charset="0"/>
                <a:ea typeface="Calibri" pitchFamily="34" charset="-122"/>
                <a:cs typeface="Calibri" pitchFamily="34" charset="-120"/>
              </a:rPr>
              <a:t>2017</a:t>
            </a:r>
            <a:endParaRPr lang="en-US" sz="1200" dirty="0"/>
          </a:p>
        </p:txBody>
      </p:sp>
      <p:sp>
        <p:nvSpPr>
          <p:cNvPr id="6" name="Text 3"/>
          <p:cNvSpPr/>
          <p:nvPr/>
        </p:nvSpPr>
        <p:spPr>
          <a:xfrm>
            <a:off x="548640" y="4498848"/>
            <a:ext cx="3429000" cy="548640"/>
          </a:xfrm>
          <a:prstGeom prst="rect">
            <a:avLst/>
          </a:prstGeom>
          <a:noFill/>
          <a:ln/>
        </p:spPr>
        <p:txBody>
          <a:bodyPr wrap="square" lIns="0" tIns="0" rIns="0" bIns="0" rtlCol="0" anchor="t"/>
          <a:lstStyle/>
          <a:p>
            <a:pPr indent="0" marL="0">
              <a:buNone/>
            </a:pPr>
            <a:r>
              <a:rPr lang="en-US" sz="1200" dirty="0">
                <a:solidFill>
                  <a:srgbClr val="0F172A"/>
                </a:solidFill>
                <a:latin typeface="Calibri" pitchFamily="34" charset="0"/>
                <a:ea typeface="Calibri" pitchFamily="34" charset="-122"/>
                <a:cs typeface="Calibri" pitchFamily="34" charset="-120"/>
              </a:rPr>
              <a:t>Families got loans to raise chickens. Reportedly, many couldn't repay, and banks cut such loans.</a:t>
            </a:r>
            <a:endParaRPr lang="en-US" sz="1200" dirty="0"/>
          </a:p>
        </p:txBody>
      </p:sp>
      <p:sp>
        <p:nvSpPr>
          <p:cNvPr id="7" name="Shape 4"/>
          <p:cNvSpPr/>
          <p:nvPr/>
        </p:nvSpPr>
        <p:spPr>
          <a:xfrm>
            <a:off x="365760" y="5257800"/>
            <a:ext cx="3749040" cy="1143000"/>
          </a:xfrm>
          <a:prstGeom prst="roundRect">
            <a:avLst>
              <a:gd name="adj" fmla="val 14400"/>
            </a:avLst>
          </a:prstGeom>
          <a:solidFill>
            <a:srgbClr val="FFFFFF"/>
          </a:solidFill>
          <a:ln w="12700">
            <a:solidFill>
              <a:srgbClr val="E2EBE4"/>
            </a:solidFill>
            <a:prstDash val="solid"/>
          </a:ln>
        </p:spPr>
      </p:sp>
      <p:sp>
        <p:nvSpPr>
          <p:cNvPr id="8" name="Shape 5"/>
          <p:cNvSpPr/>
          <p:nvPr/>
        </p:nvSpPr>
        <p:spPr>
          <a:xfrm>
            <a:off x="548640" y="5413248"/>
            <a:ext cx="1783080" cy="310896"/>
          </a:xfrm>
          <a:prstGeom prst="roundRect">
            <a:avLst>
              <a:gd name="adj" fmla="val 50000"/>
            </a:avLst>
          </a:prstGeom>
          <a:solidFill>
            <a:srgbClr val="E6F4EA"/>
          </a:solidFill>
          <a:ln/>
        </p:spPr>
      </p:sp>
      <p:sp>
        <p:nvSpPr>
          <p:cNvPr id="9" name="Text 6"/>
          <p:cNvSpPr/>
          <p:nvPr/>
        </p:nvSpPr>
        <p:spPr>
          <a:xfrm>
            <a:off x="548640" y="5413248"/>
            <a:ext cx="1783080" cy="310896"/>
          </a:xfrm>
          <a:prstGeom prst="rect">
            <a:avLst/>
          </a:prstGeom>
          <a:noFill/>
          <a:ln/>
        </p:spPr>
        <p:txBody>
          <a:bodyPr wrap="square" lIns="0" tIns="0" rIns="0" bIns="0" rtlCol="0" anchor="ctr"/>
          <a:lstStyle/>
          <a:p>
            <a:pPr algn="ctr" indent="0" marL="0">
              <a:buNone/>
            </a:pPr>
            <a:r>
              <a:rPr lang="en-US" sz="1200" b="1" dirty="0">
                <a:solidFill>
                  <a:srgbClr val="15803D"/>
                </a:solidFill>
                <a:latin typeface="Calibri" pitchFamily="34" charset="0"/>
                <a:ea typeface="Calibri" pitchFamily="34" charset="-122"/>
                <a:cs typeface="Calibri" pitchFamily="34" charset="-120"/>
              </a:rPr>
              <a:t>From 1 August 2026</a:t>
            </a:r>
            <a:endParaRPr lang="en-US" sz="1200" dirty="0"/>
          </a:p>
        </p:txBody>
      </p:sp>
      <p:sp>
        <p:nvSpPr>
          <p:cNvPr id="10" name="Text 7"/>
          <p:cNvSpPr/>
          <p:nvPr/>
        </p:nvSpPr>
        <p:spPr>
          <a:xfrm>
            <a:off x="548640" y="5779008"/>
            <a:ext cx="3429000" cy="548640"/>
          </a:xfrm>
          <a:prstGeom prst="rect">
            <a:avLst/>
          </a:prstGeom>
          <a:noFill/>
          <a:ln/>
        </p:spPr>
        <p:txBody>
          <a:bodyPr wrap="square" lIns="0" tIns="0" rIns="0" bIns="0" rtlCol="0" anchor="t"/>
          <a:lstStyle/>
          <a:p>
            <a:pPr indent="0" marL="0">
              <a:buNone/>
            </a:pPr>
            <a:r>
              <a:rPr lang="en-US" sz="1200" dirty="0">
                <a:solidFill>
                  <a:srgbClr val="0F172A"/>
                </a:solidFill>
                <a:latin typeface="Calibri" pitchFamily="34" charset="0"/>
                <a:ea typeface="Calibri" pitchFamily="34" charset="-122"/>
                <a:cs typeface="Calibri" pitchFamily="34" charset="-120"/>
              </a:rPr>
              <a:t>Concessional poultry loans are back: up to 10 years at 10% a year.</a:t>
            </a:r>
            <a:endParaRPr lang="en-US" sz="1200" dirty="0"/>
          </a:p>
        </p:txBody>
      </p:sp>
      <p:sp>
        <p:nvSpPr>
          <p:cNvPr id="11" name="Text 8"/>
          <p:cNvSpPr/>
          <p:nvPr/>
        </p:nvSpPr>
        <p:spPr>
          <a:xfrm>
            <a:off x="5074920" y="457200"/>
            <a:ext cx="7315200" cy="292608"/>
          </a:xfrm>
          <a:prstGeom prst="rect">
            <a:avLst/>
          </a:prstGeom>
          <a:noFill/>
          <a:ln/>
        </p:spPr>
        <p:txBody>
          <a:bodyPr wrap="square" lIns="0" tIns="0" rIns="0" bIns="0" rtlCol="0" anchor="ctr"/>
          <a:lstStyle/>
          <a:p>
            <a:pPr indent="0" marL="0">
              <a:buNone/>
            </a:pPr>
            <a:r>
              <a:rPr lang="en-US" sz="1300" b="1" spc="200" kern="0" dirty="0">
                <a:solidFill>
                  <a:srgbClr val="15803D"/>
                </a:solidFill>
                <a:latin typeface="Calibri" pitchFamily="34" charset="0"/>
                <a:ea typeface="Calibri" pitchFamily="34" charset="-122"/>
                <a:cs typeface="Calibri" pitchFamily="34" charset="-120"/>
              </a:rPr>
              <a:t>THE PROBLEM</a:t>
            </a:r>
            <a:endParaRPr lang="en-US" sz="1300" dirty="0"/>
          </a:p>
        </p:txBody>
      </p:sp>
      <p:sp>
        <p:nvSpPr>
          <p:cNvPr id="12" name="Text 9"/>
          <p:cNvSpPr/>
          <p:nvPr/>
        </p:nvSpPr>
        <p:spPr>
          <a:xfrm>
            <a:off x="5074920" y="777240"/>
            <a:ext cx="6583680" cy="822960"/>
          </a:xfrm>
          <a:prstGeom prst="rect">
            <a:avLst/>
          </a:prstGeom>
          <a:noFill/>
          <a:ln/>
        </p:spPr>
        <p:txBody>
          <a:bodyPr wrap="square" lIns="0" tIns="0" rIns="0" bIns="0" rtlCol="0" anchor="t"/>
          <a:lstStyle/>
          <a:p>
            <a:pPr indent="0" marL="0">
              <a:buNone/>
            </a:pPr>
            <a:r>
              <a:rPr lang="en-US" sz="3400" b="1" dirty="0">
                <a:solidFill>
                  <a:srgbClr val="0F172A"/>
                </a:solidFill>
                <a:latin typeface="Calibri" pitchFamily="34" charset="0"/>
                <a:ea typeface="Calibri" pitchFamily="34" charset="-122"/>
                <a:cs typeface="Calibri" pitchFamily="34" charset="-120"/>
              </a:rPr>
              <a:t>Loan taken, flock lost</a:t>
            </a:r>
            <a:endParaRPr lang="en-US" sz="3400" dirty="0"/>
          </a:p>
        </p:txBody>
      </p:sp>
      <p:sp>
        <p:nvSpPr>
          <p:cNvPr id="13" name="Shape 10"/>
          <p:cNvSpPr/>
          <p:nvPr/>
        </p:nvSpPr>
        <p:spPr>
          <a:xfrm>
            <a:off x="5074920" y="1691640"/>
            <a:ext cx="6492240" cy="896112"/>
          </a:xfrm>
          <a:prstGeom prst="roundRect">
            <a:avLst>
              <a:gd name="adj" fmla="val 18367"/>
            </a:avLst>
          </a:prstGeom>
          <a:solidFill>
            <a:srgbClr val="FEE2E2"/>
          </a:solidFill>
          <a:ln/>
        </p:spPr>
      </p:sp>
      <p:sp>
        <p:nvSpPr>
          <p:cNvPr id="14" name="Shape 11"/>
          <p:cNvSpPr/>
          <p:nvPr/>
        </p:nvSpPr>
        <p:spPr>
          <a:xfrm>
            <a:off x="5257800" y="1874520"/>
            <a:ext cx="530352" cy="530352"/>
          </a:xfrm>
          <a:prstGeom prst="ellipse">
            <a:avLst/>
          </a:prstGeom>
          <a:solidFill>
            <a:srgbClr val="DC2626"/>
          </a:solidFill>
          <a:ln/>
        </p:spPr>
      </p:sp>
      <p:pic>
        <p:nvPicPr>
          <p:cNvPr id="15" name="Image 1" descr="preencoded.png">    </p:cNvPr>
          <p:cNvPicPr>
            <a:picLocks noChangeAspect="1"/>
          </p:cNvPicPr>
          <p:nvPr/>
        </p:nvPicPr>
        <p:blipFill>
          <a:blip r:embed="rId2"/>
          <a:stretch>
            <a:fillRect/>
          </a:stretch>
        </p:blipFill>
        <p:spPr>
          <a:xfrm>
            <a:off x="5379781" y="1996501"/>
            <a:ext cx="286390" cy="286390"/>
          </a:xfrm>
          <a:prstGeom prst="rect">
            <a:avLst/>
          </a:prstGeom>
        </p:spPr>
      </p:pic>
      <p:sp>
        <p:nvSpPr>
          <p:cNvPr id="16" name="Text 12"/>
          <p:cNvSpPr/>
          <p:nvPr/>
        </p:nvSpPr>
        <p:spPr>
          <a:xfrm>
            <a:off x="5961888" y="1801368"/>
            <a:ext cx="5486400" cy="731520"/>
          </a:xfrm>
          <a:prstGeom prst="rect">
            <a:avLst/>
          </a:prstGeom>
          <a:noFill/>
          <a:ln/>
        </p:spPr>
        <p:txBody>
          <a:bodyPr wrap="square" lIns="0" tIns="0" rIns="0" bIns="0" rtlCol="0" anchor="ctr"/>
          <a:lstStyle/>
          <a:p>
            <a:pPr algn="l" indent="0" marL="0">
              <a:buNone/>
            </a:pPr>
            <a:r>
              <a:rPr lang="en-US" sz="1600" b="1" dirty="0">
                <a:solidFill>
                  <a:srgbClr val="0F172A"/>
                </a:solidFill>
                <a:latin typeface="Calibri" pitchFamily="34" charset="0"/>
                <a:ea typeface="Calibri" pitchFamily="34" charset="-122"/>
                <a:cs typeface="Calibri" pitchFamily="34" charset="-120"/>
              </a:rPr>
              <a:t>No knowledge</a:t>
            </a:r>
            <a:endParaRPr lang="en-US" sz="1600" dirty="0"/>
          </a:p>
          <a:p>
            <a:pPr algn="l" indent="0" marL="0">
              <a:buNone/>
            </a:pPr>
            <a:r>
              <a:rPr lang="en-US" sz="1250" dirty="0">
                <a:solidFill>
                  <a:srgbClr val="0F172A"/>
                </a:solidFill>
                <a:latin typeface="Calibri" pitchFamily="34" charset="0"/>
                <a:ea typeface="Calibri" pitchFamily="34" charset="-122"/>
                <a:cs typeface="Calibri" pitchFamily="34" charset="-120"/>
              </a:rPr>
              <a:t>A beginner doesn't know the norms for temperature, feeding and vaccination.</a:t>
            </a:r>
            <a:endParaRPr lang="en-US" sz="1600" dirty="0"/>
          </a:p>
        </p:txBody>
      </p:sp>
      <p:sp>
        <p:nvSpPr>
          <p:cNvPr id="17" name="Shape 13"/>
          <p:cNvSpPr/>
          <p:nvPr/>
        </p:nvSpPr>
        <p:spPr>
          <a:xfrm>
            <a:off x="5074920" y="2715768"/>
            <a:ext cx="6492240" cy="896112"/>
          </a:xfrm>
          <a:prstGeom prst="roundRect">
            <a:avLst>
              <a:gd name="adj" fmla="val 18367"/>
            </a:avLst>
          </a:prstGeom>
          <a:solidFill>
            <a:srgbClr val="FEF3C7"/>
          </a:solidFill>
          <a:ln/>
        </p:spPr>
      </p:sp>
      <p:sp>
        <p:nvSpPr>
          <p:cNvPr id="18" name="Shape 14"/>
          <p:cNvSpPr/>
          <p:nvPr/>
        </p:nvSpPr>
        <p:spPr>
          <a:xfrm>
            <a:off x="5257800" y="2898648"/>
            <a:ext cx="530352" cy="530352"/>
          </a:xfrm>
          <a:prstGeom prst="ellipse">
            <a:avLst/>
          </a:prstGeom>
          <a:solidFill>
            <a:srgbClr val="F59E0B"/>
          </a:solidFill>
          <a:ln/>
        </p:spPr>
      </p:sp>
      <p:pic>
        <p:nvPicPr>
          <p:cNvPr id="19" name="Image 2" descr="preencoded.png">    </p:cNvPr>
          <p:cNvPicPr>
            <a:picLocks noChangeAspect="1"/>
          </p:cNvPicPr>
          <p:nvPr/>
        </p:nvPicPr>
        <p:blipFill>
          <a:blip r:embed="rId3"/>
          <a:stretch>
            <a:fillRect/>
          </a:stretch>
        </p:blipFill>
        <p:spPr>
          <a:xfrm>
            <a:off x="5379781" y="3020629"/>
            <a:ext cx="286390" cy="286390"/>
          </a:xfrm>
          <a:prstGeom prst="rect">
            <a:avLst/>
          </a:prstGeom>
        </p:spPr>
      </p:pic>
      <p:sp>
        <p:nvSpPr>
          <p:cNvPr id="20" name="Text 15"/>
          <p:cNvSpPr/>
          <p:nvPr/>
        </p:nvSpPr>
        <p:spPr>
          <a:xfrm>
            <a:off x="5961888" y="2825496"/>
            <a:ext cx="5486400" cy="731520"/>
          </a:xfrm>
          <a:prstGeom prst="rect">
            <a:avLst/>
          </a:prstGeom>
          <a:noFill/>
          <a:ln/>
        </p:spPr>
        <p:txBody>
          <a:bodyPr wrap="square" lIns="0" tIns="0" rIns="0" bIns="0" rtlCol="0" anchor="ctr"/>
          <a:lstStyle/>
          <a:p>
            <a:pPr algn="l" indent="0" marL="0">
              <a:buNone/>
            </a:pPr>
            <a:r>
              <a:rPr lang="en-US" sz="1600" b="1" dirty="0">
                <a:solidFill>
                  <a:srgbClr val="0F172A"/>
                </a:solidFill>
                <a:latin typeface="Calibri" pitchFamily="34" charset="0"/>
                <a:ea typeface="Calibri" pitchFamily="34" charset="-122"/>
                <a:cs typeface="Calibri" pitchFamily="34" charset="-120"/>
              </a:rPr>
              <a:t>The first 14 days are the most dangerous</a:t>
            </a:r>
            <a:endParaRPr lang="en-US" sz="1600" dirty="0"/>
          </a:p>
          <a:p>
            <a:pPr algn="l" indent="0" marL="0">
              <a:buNone/>
            </a:pPr>
            <a:r>
              <a:rPr lang="en-US" sz="1250" dirty="0">
                <a:solidFill>
                  <a:srgbClr val="0F172A"/>
                </a:solidFill>
                <a:latin typeface="Calibri" pitchFamily="34" charset="0"/>
                <a:ea typeface="Calibri" pitchFamily="34" charset="-122"/>
                <a:cs typeface="Calibri" pitchFamily="34" charset="-120"/>
              </a:rPr>
              <a:t>One microclimate mistake leads to mass mortality — and nobody measures ammonia or CO2.</a:t>
            </a:r>
            <a:endParaRPr lang="en-US" sz="1600" dirty="0"/>
          </a:p>
        </p:txBody>
      </p:sp>
      <p:sp>
        <p:nvSpPr>
          <p:cNvPr id="21" name="Shape 16"/>
          <p:cNvSpPr/>
          <p:nvPr/>
        </p:nvSpPr>
        <p:spPr>
          <a:xfrm>
            <a:off x="5074920" y="3739896"/>
            <a:ext cx="6492240" cy="896112"/>
          </a:xfrm>
          <a:prstGeom prst="roundRect">
            <a:avLst>
              <a:gd name="adj" fmla="val 18367"/>
            </a:avLst>
          </a:prstGeom>
          <a:solidFill>
            <a:srgbClr val="DBEAFE"/>
          </a:solidFill>
          <a:ln/>
        </p:spPr>
      </p:sp>
      <p:sp>
        <p:nvSpPr>
          <p:cNvPr id="22" name="Shape 17"/>
          <p:cNvSpPr/>
          <p:nvPr/>
        </p:nvSpPr>
        <p:spPr>
          <a:xfrm>
            <a:off x="5257800" y="3922776"/>
            <a:ext cx="530352" cy="530352"/>
          </a:xfrm>
          <a:prstGeom prst="ellipse">
            <a:avLst/>
          </a:prstGeom>
          <a:solidFill>
            <a:srgbClr val="2563EB"/>
          </a:solidFill>
          <a:ln/>
        </p:spPr>
      </p:sp>
      <p:pic>
        <p:nvPicPr>
          <p:cNvPr id="23" name="Image 3" descr="preencoded.png">    </p:cNvPr>
          <p:cNvPicPr>
            <a:picLocks noChangeAspect="1"/>
          </p:cNvPicPr>
          <p:nvPr/>
        </p:nvPicPr>
        <p:blipFill>
          <a:blip r:embed="rId4"/>
          <a:stretch>
            <a:fillRect/>
          </a:stretch>
        </p:blipFill>
        <p:spPr>
          <a:xfrm>
            <a:off x="5379781" y="4044757"/>
            <a:ext cx="286390" cy="286390"/>
          </a:xfrm>
          <a:prstGeom prst="rect">
            <a:avLst/>
          </a:prstGeom>
        </p:spPr>
      </p:pic>
      <p:sp>
        <p:nvSpPr>
          <p:cNvPr id="24" name="Text 18"/>
          <p:cNvSpPr/>
          <p:nvPr/>
        </p:nvSpPr>
        <p:spPr>
          <a:xfrm>
            <a:off x="5961888" y="3849624"/>
            <a:ext cx="5486400" cy="731520"/>
          </a:xfrm>
          <a:prstGeom prst="rect">
            <a:avLst/>
          </a:prstGeom>
          <a:noFill/>
          <a:ln/>
        </p:spPr>
        <p:txBody>
          <a:bodyPr wrap="square" lIns="0" tIns="0" rIns="0" bIns="0" rtlCol="0" anchor="ctr"/>
          <a:lstStyle/>
          <a:p>
            <a:pPr algn="l" indent="0" marL="0">
              <a:buNone/>
            </a:pPr>
            <a:r>
              <a:rPr lang="en-US" sz="1600" b="1" dirty="0">
                <a:solidFill>
                  <a:srgbClr val="0F172A"/>
                </a:solidFill>
                <a:latin typeface="Calibri" pitchFamily="34" charset="0"/>
                <a:ea typeface="Calibri" pitchFamily="34" charset="-122"/>
                <a:cs typeface="Calibri" pitchFamily="34" charset="-120"/>
              </a:rPr>
              <a:t>The specialist is far away</a:t>
            </a:r>
            <a:endParaRPr lang="en-US" sz="1600" dirty="0"/>
          </a:p>
          <a:p>
            <a:pPr algn="l" indent="0" marL="0">
              <a:buNone/>
            </a:pPr>
            <a:r>
              <a:rPr lang="en-US" sz="1250" dirty="0">
                <a:solidFill>
                  <a:srgbClr val="0F172A"/>
                </a:solidFill>
                <a:latin typeface="Calibri" pitchFamily="34" charset="0"/>
                <a:ea typeface="Calibri" pitchFamily="34" charset="-122"/>
                <a:cs typeface="Calibri" pitchFamily="34" charset="-120"/>
              </a:rPr>
              <a:t>There is no vet nearby at the moment a question comes up.</a:t>
            </a:r>
            <a:endParaRPr lang="en-US" sz="1600" dirty="0"/>
          </a:p>
        </p:txBody>
      </p:sp>
      <p:pic>
        <p:nvPicPr>
          <p:cNvPr id="25" name="Image 4" descr="/home/abraxis/Desktop/AgroZen/docs/studexpo/assets/photo_card.png">    </p:cNvPr>
          <p:cNvPicPr>
            <a:picLocks noChangeAspect="1"/>
          </p:cNvPicPr>
          <p:nvPr/>
        </p:nvPicPr>
        <p:blipFill>
          <a:blip r:embed="rId5"/>
          <a:stretch>
            <a:fillRect/>
          </a:stretch>
        </p:blipFill>
        <p:spPr>
          <a:xfrm>
            <a:off x="5074920" y="4846320"/>
            <a:ext cx="6492240" cy="1731264"/>
          </a:xfrm>
          <a:prstGeom prst="rect">
            <a:avLst/>
          </a:prstGeom>
        </p:spPr>
      </p:pic>
      <p:sp>
        <p:nvSpPr>
          <p:cNvPr id="26" name="Text 19"/>
          <p:cNvSpPr/>
          <p:nvPr/>
        </p:nvSpPr>
        <p:spPr>
          <a:xfrm>
            <a:off x="5349240" y="4919472"/>
            <a:ext cx="4846320" cy="1600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The birds are gone. The debt remains.</a:t>
            </a:r>
            <a:endParaRPr lang="en-US" sz="2000" dirty="0"/>
          </a:p>
          <a:p>
            <a:pPr indent="0" marL="0">
              <a:buNone/>
            </a:pPr>
            <a:r>
              <a:rPr lang="en-US" sz="1250" dirty="0">
                <a:solidFill>
                  <a:srgbClr val="DCFCE7"/>
                </a:solidFill>
                <a:latin typeface="Calibri" pitchFamily="34" charset="0"/>
                <a:ea typeface="Calibri" pitchFamily="34" charset="-122"/>
                <a:cs typeface="Calibri" pitchFamily="34" charset="-120"/>
              </a:rPr>
              <a:t>People lose money not because of laziness, but because of mistakes no one warned them about.</a:t>
            </a:r>
            <a:endParaRPr lang="en-US" sz="2000" dirty="0"/>
          </a:p>
        </p:txBody>
      </p:sp>
      <p:pic>
        <p:nvPicPr>
          <p:cNvPr id="27" name="Image 5" descr="/home/abraxis/Desktop/AgroZen/docs/studexpo/assets/chick_red.png">    </p:cNvPr>
          <p:cNvPicPr>
            <a:picLocks noChangeAspect="1"/>
          </p:cNvPicPr>
          <p:nvPr/>
        </p:nvPicPr>
        <p:blipFill>
          <a:blip r:embed="rId6"/>
          <a:stretch>
            <a:fillRect/>
          </a:stretch>
        </p:blipFill>
        <p:spPr>
          <a:xfrm>
            <a:off x="10469880" y="5120640"/>
            <a:ext cx="1005840" cy="1005840"/>
          </a:xfrm>
          <a:prstGeom prst="rect">
            <a:avLst/>
          </a:prstGeom>
        </p:spPr>
      </p:pic>
      <p:sp>
        <p:nvSpPr>
          <p:cNvPr id="28" name="Text 20"/>
          <p:cNvSpPr/>
          <p:nvPr/>
        </p:nvSpPr>
        <p:spPr>
          <a:xfrm>
            <a:off x="11274552" y="6419088"/>
            <a:ext cx="457200" cy="274320"/>
          </a:xfrm>
          <a:prstGeom prst="rect">
            <a:avLst/>
          </a:prstGeom>
          <a:noFill/>
          <a:ln/>
        </p:spPr>
        <p:txBody>
          <a:bodyPr wrap="square" lIns="0" tIns="0" rIns="0" bIns="0" rtlCol="0" anchor="ctr"/>
          <a:lstStyle/>
          <a:p>
            <a:pPr algn="r" indent="0" marL="0">
              <a:buNone/>
            </a:pPr>
            <a:r>
              <a:rPr lang="en-US" sz="1000" dirty="0">
                <a:solidFill>
                  <a:srgbClr val="7A8E7E"/>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4"/>
        </a:solidFill>
      </p:bgPr>
    </p:bg>
    <p:spTree>
      <p:nvGrpSpPr>
        <p:cNvPr id="1" name=""/>
        <p:cNvGrpSpPr/>
        <p:nvPr/>
      </p:nvGrpSpPr>
      <p:grpSpPr>
        <a:xfrm>
          <a:off x="0" y="0"/>
          <a:ext cx="0" cy="0"/>
          <a:chOff x="0" y="0"/>
          <a:chExt cx="0" cy="0"/>
        </a:xfrm>
      </p:grpSpPr>
      <p:sp>
        <p:nvSpPr>
          <p:cNvPr id="2" name="Text 0"/>
          <p:cNvSpPr/>
          <p:nvPr/>
        </p:nvSpPr>
        <p:spPr>
          <a:xfrm>
            <a:off x="640080" y="411480"/>
            <a:ext cx="7315200" cy="292608"/>
          </a:xfrm>
          <a:prstGeom prst="rect">
            <a:avLst/>
          </a:prstGeom>
          <a:noFill/>
          <a:ln/>
        </p:spPr>
        <p:txBody>
          <a:bodyPr wrap="square" lIns="0" tIns="0" rIns="0" bIns="0" rtlCol="0" anchor="ctr"/>
          <a:lstStyle/>
          <a:p>
            <a:pPr indent="0" marL="0">
              <a:buNone/>
            </a:pPr>
            <a:r>
              <a:rPr lang="en-US" sz="1300" b="1" spc="200" kern="0" dirty="0">
                <a:solidFill>
                  <a:srgbClr val="15803D"/>
                </a:solidFill>
                <a:latin typeface="Calibri" pitchFamily="34" charset="0"/>
                <a:ea typeface="Calibri" pitchFamily="34" charset="-122"/>
                <a:cs typeface="Calibri" pitchFamily="34" charset="-120"/>
              </a:rPr>
              <a:t>THE SOLUTION</a:t>
            </a:r>
            <a:endParaRPr lang="en-US" sz="1300" dirty="0"/>
          </a:p>
        </p:txBody>
      </p:sp>
      <p:sp>
        <p:nvSpPr>
          <p:cNvPr id="3" name="Text 1"/>
          <p:cNvSpPr/>
          <p:nvPr/>
        </p:nvSpPr>
        <p:spPr>
          <a:xfrm>
            <a:off x="640080" y="731520"/>
            <a:ext cx="10972800" cy="822960"/>
          </a:xfrm>
          <a:prstGeom prst="rect">
            <a:avLst/>
          </a:prstGeom>
          <a:noFill/>
          <a:ln/>
        </p:spPr>
        <p:txBody>
          <a:bodyPr wrap="square" lIns="0" tIns="0" rIns="0" bIns="0" rtlCol="0" anchor="t"/>
          <a:lstStyle/>
          <a:p>
            <a:pPr indent="0" marL="0">
              <a:buNone/>
            </a:pPr>
            <a:r>
              <a:rPr lang="en-US" sz="3400" b="1" dirty="0">
                <a:solidFill>
                  <a:srgbClr val="0F172A"/>
                </a:solidFill>
                <a:latin typeface="Calibri" pitchFamily="34" charset="0"/>
                <a:ea typeface="Calibri" pitchFamily="34" charset="-122"/>
                <a:cs typeface="Calibri" pitchFamily="34" charset="-120"/>
              </a:rPr>
              <a:t>AgroZen guides the farmer through all 42 days</a:t>
            </a:r>
            <a:endParaRPr lang="en-US" sz="3400" dirty="0"/>
          </a:p>
        </p:txBody>
      </p:sp>
      <p:pic>
        <p:nvPicPr>
          <p:cNvPr id="4" name="Image 0" descr="/home/abraxis/Desktop/AgroZen/docs/studexpo/assets/panel_dark.png">    </p:cNvPr>
          <p:cNvPicPr>
            <a:picLocks noChangeAspect="1"/>
          </p:cNvPicPr>
          <p:nvPr/>
        </p:nvPicPr>
        <p:blipFill>
          <a:blip r:embed="rId1"/>
          <a:stretch>
            <a:fillRect/>
          </a:stretch>
        </p:blipFill>
        <p:spPr>
          <a:xfrm>
            <a:off x="457200" y="1508760"/>
            <a:ext cx="11274552" cy="5167503"/>
          </a:xfrm>
          <a:prstGeom prst="rect">
            <a:avLst/>
          </a:prstGeom>
        </p:spPr>
      </p:pic>
      <p:pic>
        <p:nvPicPr>
          <p:cNvPr id="5" name="Image 1" descr="AgroZen screen: today">    </p:cNvPr>
          <p:cNvPicPr>
            <a:picLocks noChangeAspect="1"/>
          </p:cNvPicPr>
          <p:nvPr/>
        </p:nvPicPr>
        <p:blipFill>
          <a:blip r:embed="rId2"/>
          <a:stretch>
            <a:fillRect/>
          </a:stretch>
        </p:blipFill>
        <p:spPr>
          <a:xfrm>
            <a:off x="776014" y="1644694"/>
            <a:ext cx="1992761" cy="3888652"/>
          </a:xfrm>
          <a:prstGeom prst="rect">
            <a:avLst/>
          </a:prstGeom>
        </p:spPr>
      </p:pic>
      <p:sp>
        <p:nvSpPr>
          <p:cNvPr id="6" name="Shape 2"/>
          <p:cNvSpPr/>
          <p:nvPr/>
        </p:nvSpPr>
        <p:spPr>
          <a:xfrm>
            <a:off x="914400" y="5596128"/>
            <a:ext cx="402336" cy="402336"/>
          </a:xfrm>
          <a:prstGeom prst="ellipse">
            <a:avLst/>
          </a:prstGeom>
          <a:solidFill>
            <a:srgbClr val="F97316"/>
          </a:solidFill>
          <a:ln/>
        </p:spPr>
      </p:sp>
      <p:pic>
        <p:nvPicPr>
          <p:cNvPr id="7" name="Image 2" descr="preencoded.png">    </p:cNvPr>
          <p:cNvPicPr>
            <a:picLocks noChangeAspect="1"/>
          </p:cNvPicPr>
          <p:nvPr/>
        </p:nvPicPr>
        <p:blipFill>
          <a:blip r:embed="rId3"/>
          <a:stretch>
            <a:fillRect/>
          </a:stretch>
        </p:blipFill>
        <p:spPr>
          <a:xfrm>
            <a:off x="1006937" y="5688665"/>
            <a:ext cx="217261" cy="217261"/>
          </a:xfrm>
          <a:prstGeom prst="rect">
            <a:avLst/>
          </a:prstGeom>
        </p:spPr>
      </p:pic>
      <p:sp>
        <p:nvSpPr>
          <p:cNvPr id="8" name="Text 3"/>
          <p:cNvSpPr/>
          <p:nvPr/>
        </p:nvSpPr>
        <p:spPr>
          <a:xfrm>
            <a:off x="1389888" y="5532120"/>
            <a:ext cx="1612401" cy="685800"/>
          </a:xfrm>
          <a:prstGeom prst="rect">
            <a:avLst/>
          </a:prstGeom>
          <a:noFill/>
          <a:ln/>
        </p:spPr>
        <p:txBody>
          <a:bodyPr wrap="square" lIns="0" tIns="0" rIns="0" bIns="0" rtlCol="0" anchor="t"/>
          <a:lstStyle/>
          <a:p>
            <a:pPr algn="l" indent="0" marL="0">
              <a:buNone/>
            </a:pPr>
            <a:r>
              <a:rPr lang="en-US" sz="1400" b="1" dirty="0">
                <a:solidFill>
                  <a:srgbClr val="FFFFFF"/>
                </a:solidFill>
                <a:latin typeface="Calibri" pitchFamily="34" charset="0"/>
                <a:ea typeface="Calibri" pitchFamily="34" charset="-122"/>
                <a:cs typeface="Calibri" pitchFamily="34" charset="-120"/>
              </a:rPr>
              <a:t>Today</a:t>
            </a:r>
            <a:endParaRPr lang="en-US" sz="1400" dirty="0"/>
          </a:p>
          <a:p>
            <a:pPr algn="l" indent="0" marL="0">
              <a:buNone/>
            </a:pPr>
            <a:r>
              <a:rPr lang="en-US" sz="1050" dirty="0">
                <a:solidFill>
                  <a:srgbClr val="DCFCE7"/>
                </a:solidFill>
                <a:latin typeface="Calibri" pitchFamily="34" charset="0"/>
                <a:ea typeface="Calibri" pitchFamily="34" charset="-122"/>
                <a:cs typeface="Calibri" pitchFamily="34" charset="-120"/>
              </a:rPr>
              <a:t>Targets for temperature, feed and water</a:t>
            </a:r>
            <a:endParaRPr lang="en-US" sz="1400" dirty="0"/>
          </a:p>
        </p:txBody>
      </p:sp>
      <p:pic>
        <p:nvPicPr>
          <p:cNvPr id="9" name="Image 3" descr="AgroZen screen: plan">    </p:cNvPr>
          <p:cNvPicPr>
            <a:picLocks noChangeAspect="1"/>
          </p:cNvPicPr>
          <p:nvPr/>
        </p:nvPicPr>
        <p:blipFill>
          <a:blip r:embed="rId4"/>
          <a:stretch>
            <a:fillRect/>
          </a:stretch>
        </p:blipFill>
        <p:spPr>
          <a:xfrm>
            <a:off x="2937055" y="1644694"/>
            <a:ext cx="1992761" cy="3888652"/>
          </a:xfrm>
          <a:prstGeom prst="rect">
            <a:avLst/>
          </a:prstGeom>
        </p:spPr>
      </p:pic>
      <p:sp>
        <p:nvSpPr>
          <p:cNvPr id="10" name="Shape 4"/>
          <p:cNvSpPr/>
          <p:nvPr/>
        </p:nvSpPr>
        <p:spPr>
          <a:xfrm>
            <a:off x="3075441" y="5596128"/>
            <a:ext cx="402336" cy="402336"/>
          </a:xfrm>
          <a:prstGeom prst="ellipse">
            <a:avLst/>
          </a:prstGeom>
          <a:solidFill>
            <a:srgbClr val="15803D"/>
          </a:solidFill>
          <a:ln/>
        </p:spPr>
      </p:sp>
      <p:pic>
        <p:nvPicPr>
          <p:cNvPr id="11" name="Image 4" descr="preencoded.png">    </p:cNvPr>
          <p:cNvPicPr>
            <a:picLocks noChangeAspect="1"/>
          </p:cNvPicPr>
          <p:nvPr/>
        </p:nvPicPr>
        <p:blipFill>
          <a:blip r:embed="rId5"/>
          <a:stretch>
            <a:fillRect/>
          </a:stretch>
        </p:blipFill>
        <p:spPr>
          <a:xfrm>
            <a:off x="3167978" y="5688665"/>
            <a:ext cx="217261" cy="217261"/>
          </a:xfrm>
          <a:prstGeom prst="rect">
            <a:avLst/>
          </a:prstGeom>
        </p:spPr>
      </p:pic>
      <p:sp>
        <p:nvSpPr>
          <p:cNvPr id="12" name="Text 5"/>
          <p:cNvSpPr/>
          <p:nvPr/>
        </p:nvSpPr>
        <p:spPr>
          <a:xfrm>
            <a:off x="3550929" y="5532120"/>
            <a:ext cx="1612401" cy="685800"/>
          </a:xfrm>
          <a:prstGeom prst="rect">
            <a:avLst/>
          </a:prstGeom>
          <a:noFill/>
          <a:ln/>
        </p:spPr>
        <p:txBody>
          <a:bodyPr wrap="square" lIns="0" tIns="0" rIns="0" bIns="0" rtlCol="0" anchor="t"/>
          <a:lstStyle/>
          <a:p>
            <a:pPr algn="l" indent="0" marL="0">
              <a:buNone/>
            </a:pPr>
            <a:r>
              <a:rPr lang="en-US" sz="1400" b="1" dirty="0">
                <a:solidFill>
                  <a:srgbClr val="FFFFFF"/>
                </a:solidFill>
                <a:latin typeface="Calibri" pitchFamily="34" charset="0"/>
                <a:ea typeface="Calibri" pitchFamily="34" charset="-122"/>
                <a:cs typeface="Calibri" pitchFamily="34" charset="-120"/>
              </a:rPr>
              <a:t>42-day plan</a:t>
            </a:r>
            <a:endParaRPr lang="en-US" sz="1400" dirty="0"/>
          </a:p>
          <a:p>
            <a:pPr algn="l" indent="0" marL="0">
              <a:buNone/>
            </a:pPr>
            <a:r>
              <a:rPr lang="en-US" sz="1050" dirty="0">
                <a:solidFill>
                  <a:srgbClr val="DCFCE7"/>
                </a:solidFill>
                <a:latin typeface="Calibri" pitchFamily="34" charset="0"/>
                <a:ea typeface="Calibri" pitchFamily="34" charset="-122"/>
                <a:cs typeface="Calibri" pitchFamily="34" charset="-120"/>
              </a:rPr>
              <a:t>Ross-308 / Cobb-500 for every day</a:t>
            </a:r>
            <a:endParaRPr lang="en-US" sz="1400" dirty="0"/>
          </a:p>
        </p:txBody>
      </p:sp>
      <p:pic>
        <p:nvPicPr>
          <p:cNvPr id="13" name="Image 5" descr="AgroZen screen: assistant">    </p:cNvPr>
          <p:cNvPicPr>
            <a:picLocks noChangeAspect="1"/>
          </p:cNvPicPr>
          <p:nvPr/>
        </p:nvPicPr>
        <p:blipFill>
          <a:blip r:embed="rId6"/>
          <a:stretch>
            <a:fillRect/>
          </a:stretch>
        </p:blipFill>
        <p:spPr>
          <a:xfrm>
            <a:off x="5098095" y="1644694"/>
            <a:ext cx="1992761" cy="3888652"/>
          </a:xfrm>
          <a:prstGeom prst="rect">
            <a:avLst/>
          </a:prstGeom>
        </p:spPr>
      </p:pic>
      <p:sp>
        <p:nvSpPr>
          <p:cNvPr id="14" name="Shape 6"/>
          <p:cNvSpPr/>
          <p:nvPr/>
        </p:nvSpPr>
        <p:spPr>
          <a:xfrm>
            <a:off x="5236482" y="5596128"/>
            <a:ext cx="402336" cy="402336"/>
          </a:xfrm>
          <a:prstGeom prst="ellipse">
            <a:avLst/>
          </a:prstGeom>
          <a:solidFill>
            <a:srgbClr val="2563EB"/>
          </a:solidFill>
          <a:ln/>
        </p:spPr>
      </p:sp>
      <p:pic>
        <p:nvPicPr>
          <p:cNvPr id="15" name="Image 6" descr="preencoded.png">    </p:cNvPr>
          <p:cNvPicPr>
            <a:picLocks noChangeAspect="1"/>
          </p:cNvPicPr>
          <p:nvPr/>
        </p:nvPicPr>
        <p:blipFill>
          <a:blip r:embed="rId7"/>
          <a:stretch>
            <a:fillRect/>
          </a:stretch>
        </p:blipFill>
        <p:spPr>
          <a:xfrm>
            <a:off x="5329019" y="5688665"/>
            <a:ext cx="217261" cy="217261"/>
          </a:xfrm>
          <a:prstGeom prst="rect">
            <a:avLst/>
          </a:prstGeom>
        </p:spPr>
      </p:pic>
      <p:sp>
        <p:nvSpPr>
          <p:cNvPr id="16" name="Text 7"/>
          <p:cNvSpPr/>
          <p:nvPr/>
        </p:nvSpPr>
        <p:spPr>
          <a:xfrm>
            <a:off x="5711970" y="5532120"/>
            <a:ext cx="1612401" cy="685800"/>
          </a:xfrm>
          <a:prstGeom prst="rect">
            <a:avLst/>
          </a:prstGeom>
          <a:noFill/>
          <a:ln/>
        </p:spPr>
        <p:txBody>
          <a:bodyPr wrap="square" lIns="0" tIns="0" rIns="0" bIns="0" rtlCol="0" anchor="t"/>
          <a:lstStyle/>
          <a:p>
            <a:pPr algn="l" indent="0" marL="0">
              <a:buNone/>
            </a:pPr>
            <a:r>
              <a:rPr lang="en-US" sz="1400" b="1" dirty="0">
                <a:solidFill>
                  <a:srgbClr val="FFFFFF"/>
                </a:solidFill>
                <a:latin typeface="Calibri" pitchFamily="34" charset="0"/>
                <a:ea typeface="Calibri" pitchFamily="34" charset="-122"/>
                <a:cs typeface="Calibri" pitchFamily="34" charset="-120"/>
              </a:rPr>
              <a:t>AI assistant</a:t>
            </a:r>
            <a:endParaRPr lang="en-US" sz="1400" dirty="0"/>
          </a:p>
          <a:p>
            <a:pPr algn="l" indent="0" marL="0">
              <a:buNone/>
            </a:pPr>
            <a:r>
              <a:rPr lang="en-US" sz="1050" dirty="0">
                <a:solidFill>
                  <a:srgbClr val="DCFCE7"/>
                </a:solidFill>
                <a:latin typeface="Calibri" pitchFamily="34" charset="0"/>
                <a:ea typeface="Calibri" pitchFamily="34" charset="-122"/>
                <a:cs typeface="Calibri" pitchFamily="34" charset="-120"/>
              </a:rPr>
              <a:t>Voice, text or photo, in your language</a:t>
            </a:r>
            <a:endParaRPr lang="en-US" sz="1400" dirty="0"/>
          </a:p>
        </p:txBody>
      </p:sp>
      <p:pic>
        <p:nvPicPr>
          <p:cNvPr id="17" name="Image 7" descr="AgroZen screen: diary">    </p:cNvPr>
          <p:cNvPicPr>
            <a:picLocks noChangeAspect="1"/>
          </p:cNvPicPr>
          <p:nvPr/>
        </p:nvPicPr>
        <p:blipFill>
          <a:blip r:embed="rId8"/>
          <a:stretch>
            <a:fillRect/>
          </a:stretch>
        </p:blipFill>
        <p:spPr>
          <a:xfrm>
            <a:off x="7259136" y="1644694"/>
            <a:ext cx="1992761" cy="3888652"/>
          </a:xfrm>
          <a:prstGeom prst="rect">
            <a:avLst/>
          </a:prstGeom>
        </p:spPr>
      </p:pic>
      <p:sp>
        <p:nvSpPr>
          <p:cNvPr id="18" name="Shape 8"/>
          <p:cNvSpPr/>
          <p:nvPr/>
        </p:nvSpPr>
        <p:spPr>
          <a:xfrm>
            <a:off x="7397522" y="5596128"/>
            <a:ext cx="402336" cy="402336"/>
          </a:xfrm>
          <a:prstGeom prst="ellipse">
            <a:avLst/>
          </a:prstGeom>
          <a:solidFill>
            <a:srgbClr val="DC2626"/>
          </a:solidFill>
          <a:ln/>
        </p:spPr>
      </p:sp>
      <p:pic>
        <p:nvPicPr>
          <p:cNvPr id="19" name="Image 8" descr="preencoded.png">    </p:cNvPr>
          <p:cNvPicPr>
            <a:picLocks noChangeAspect="1"/>
          </p:cNvPicPr>
          <p:nvPr/>
        </p:nvPicPr>
        <p:blipFill>
          <a:blip r:embed="rId9"/>
          <a:stretch>
            <a:fillRect/>
          </a:stretch>
        </p:blipFill>
        <p:spPr>
          <a:xfrm>
            <a:off x="7490060" y="5688665"/>
            <a:ext cx="217261" cy="217261"/>
          </a:xfrm>
          <a:prstGeom prst="rect">
            <a:avLst/>
          </a:prstGeom>
        </p:spPr>
      </p:pic>
      <p:sp>
        <p:nvSpPr>
          <p:cNvPr id="20" name="Text 9"/>
          <p:cNvSpPr/>
          <p:nvPr/>
        </p:nvSpPr>
        <p:spPr>
          <a:xfrm>
            <a:off x="7873010" y="5532120"/>
            <a:ext cx="1612401" cy="685800"/>
          </a:xfrm>
          <a:prstGeom prst="rect">
            <a:avLst/>
          </a:prstGeom>
          <a:noFill/>
          <a:ln/>
        </p:spPr>
        <p:txBody>
          <a:bodyPr wrap="square" lIns="0" tIns="0" rIns="0" bIns="0" rtlCol="0" anchor="t"/>
          <a:lstStyle/>
          <a:p>
            <a:pPr algn="l" indent="0" marL="0">
              <a:buNone/>
            </a:pPr>
            <a:r>
              <a:rPr lang="en-US" sz="1400" b="1" dirty="0">
                <a:solidFill>
                  <a:srgbClr val="FFFFFF"/>
                </a:solidFill>
                <a:latin typeface="Calibri" pitchFamily="34" charset="0"/>
                <a:ea typeface="Calibri" pitchFamily="34" charset="-122"/>
                <a:cs typeface="Calibri" pitchFamily="34" charset="-120"/>
              </a:rPr>
              <a:t>Flock diary</a:t>
            </a:r>
            <a:endParaRPr lang="en-US" sz="1400" dirty="0"/>
          </a:p>
          <a:p>
            <a:pPr algn="l" indent="0" marL="0">
              <a:buNone/>
            </a:pPr>
            <a:r>
              <a:rPr lang="en-US" sz="1050" dirty="0">
                <a:solidFill>
                  <a:srgbClr val="DCFCE7"/>
                </a:solidFill>
                <a:latin typeface="Calibri" pitchFamily="34" charset="0"/>
                <a:ea typeface="Calibri" pitchFamily="34" charset="-122"/>
                <a:cs typeface="Calibri" pitchFamily="34" charset="-120"/>
              </a:rPr>
              <a:t>Losses above the norm: the vet's number</a:t>
            </a:r>
            <a:endParaRPr lang="en-US" sz="1400" dirty="0"/>
          </a:p>
        </p:txBody>
      </p:sp>
      <p:pic>
        <p:nvPicPr>
          <p:cNvPr id="21" name="Image 9" descr="AgroZen screen: learn">    </p:cNvPr>
          <p:cNvPicPr>
            <a:picLocks noChangeAspect="1"/>
          </p:cNvPicPr>
          <p:nvPr/>
        </p:nvPicPr>
        <p:blipFill>
          <a:blip r:embed="rId10"/>
          <a:stretch>
            <a:fillRect/>
          </a:stretch>
        </p:blipFill>
        <p:spPr>
          <a:xfrm>
            <a:off x="9420177" y="1644694"/>
            <a:ext cx="1992761" cy="3888652"/>
          </a:xfrm>
          <a:prstGeom prst="rect">
            <a:avLst/>
          </a:prstGeom>
        </p:spPr>
      </p:pic>
      <p:sp>
        <p:nvSpPr>
          <p:cNvPr id="22" name="Shape 10"/>
          <p:cNvSpPr/>
          <p:nvPr/>
        </p:nvSpPr>
        <p:spPr>
          <a:xfrm>
            <a:off x="9558563" y="5596128"/>
            <a:ext cx="402336" cy="402336"/>
          </a:xfrm>
          <a:prstGeom prst="ellipse">
            <a:avLst/>
          </a:prstGeom>
          <a:solidFill>
            <a:srgbClr val="F59E0B"/>
          </a:solidFill>
          <a:ln/>
        </p:spPr>
      </p:sp>
      <p:pic>
        <p:nvPicPr>
          <p:cNvPr id="23" name="Image 10" descr="preencoded.png">    </p:cNvPr>
          <p:cNvPicPr>
            <a:picLocks noChangeAspect="1"/>
          </p:cNvPicPr>
          <p:nvPr/>
        </p:nvPicPr>
        <p:blipFill>
          <a:blip r:embed="rId11"/>
          <a:stretch>
            <a:fillRect/>
          </a:stretch>
        </p:blipFill>
        <p:spPr>
          <a:xfrm>
            <a:off x="9651100" y="5688665"/>
            <a:ext cx="217261" cy="217261"/>
          </a:xfrm>
          <a:prstGeom prst="rect">
            <a:avLst/>
          </a:prstGeom>
        </p:spPr>
      </p:pic>
      <p:sp>
        <p:nvSpPr>
          <p:cNvPr id="24" name="Text 11"/>
          <p:cNvSpPr/>
          <p:nvPr/>
        </p:nvSpPr>
        <p:spPr>
          <a:xfrm>
            <a:off x="10034051" y="5532120"/>
            <a:ext cx="1612401" cy="685800"/>
          </a:xfrm>
          <a:prstGeom prst="rect">
            <a:avLst/>
          </a:prstGeom>
          <a:noFill/>
          <a:ln/>
        </p:spPr>
        <p:txBody>
          <a:bodyPr wrap="square" lIns="0" tIns="0" rIns="0" bIns="0" rtlCol="0" anchor="t"/>
          <a:lstStyle/>
          <a:p>
            <a:pPr algn="l" indent="0" marL="0">
              <a:buNone/>
            </a:pPr>
            <a:r>
              <a:rPr lang="en-US" sz="1400" b="1" dirty="0">
                <a:solidFill>
                  <a:srgbClr val="FFFFFF"/>
                </a:solidFill>
                <a:latin typeface="Calibri" pitchFamily="34" charset="0"/>
                <a:ea typeface="Calibri" pitchFamily="34" charset="-122"/>
                <a:cs typeface="Calibri" pitchFamily="34" charset="-120"/>
              </a:rPr>
              <a:t>Course</a:t>
            </a:r>
            <a:endParaRPr lang="en-US" sz="1400" dirty="0"/>
          </a:p>
          <a:p>
            <a:pPr algn="l" indent="0" marL="0">
              <a:buNone/>
            </a:pPr>
            <a:r>
              <a:rPr lang="en-US" sz="1050" dirty="0">
                <a:solidFill>
                  <a:srgbClr val="DCFCE7"/>
                </a:solidFill>
                <a:latin typeface="Calibri" pitchFamily="34" charset="0"/>
                <a:ea typeface="Calibri" pitchFamily="34" charset="-122"/>
                <a:cs typeface="Calibri" pitchFamily="34" charset="-120"/>
              </a:rPr>
              <a:t>5 lessons and a certificate for a loan</a:t>
            </a:r>
            <a:endParaRPr lang="en-US" sz="1400" dirty="0"/>
          </a:p>
        </p:txBody>
      </p:sp>
      <p:sp>
        <p:nvSpPr>
          <p:cNvPr id="25" name="Text 12"/>
          <p:cNvSpPr/>
          <p:nvPr/>
        </p:nvSpPr>
        <p:spPr>
          <a:xfrm>
            <a:off x="11274552" y="6419088"/>
            <a:ext cx="457200" cy="274320"/>
          </a:xfrm>
          <a:prstGeom prst="rect">
            <a:avLst/>
          </a:prstGeom>
          <a:noFill/>
          <a:ln/>
        </p:spPr>
        <p:txBody>
          <a:bodyPr wrap="square" lIns="0" tIns="0" rIns="0" bIns="0" rtlCol="0" anchor="ctr"/>
          <a:lstStyle/>
          <a:p>
            <a:pPr algn="r" indent="0" marL="0">
              <a:buNone/>
            </a:pPr>
            <a:r>
              <a:rPr lang="en-US" sz="1000" dirty="0">
                <a:solidFill>
                  <a:srgbClr val="7A8E7E"/>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4"/>
        </a:solidFill>
      </p:bgPr>
    </p:bg>
    <p:spTree>
      <p:nvGrpSpPr>
        <p:cNvPr id="1" name=""/>
        <p:cNvGrpSpPr/>
        <p:nvPr/>
      </p:nvGrpSpPr>
      <p:grpSpPr>
        <a:xfrm>
          <a:off x="0" y="0"/>
          <a:ext cx="0" cy="0"/>
          <a:chOff x="0" y="0"/>
          <a:chExt cx="0" cy="0"/>
        </a:xfrm>
      </p:grpSpPr>
      <p:sp>
        <p:nvSpPr>
          <p:cNvPr id="2" name="Text 0"/>
          <p:cNvSpPr/>
          <p:nvPr/>
        </p:nvSpPr>
        <p:spPr>
          <a:xfrm>
            <a:off x="640080" y="411480"/>
            <a:ext cx="7315200" cy="292608"/>
          </a:xfrm>
          <a:prstGeom prst="rect">
            <a:avLst/>
          </a:prstGeom>
          <a:noFill/>
          <a:ln/>
        </p:spPr>
        <p:txBody>
          <a:bodyPr wrap="square" lIns="0" tIns="0" rIns="0" bIns="0" rtlCol="0" anchor="ctr"/>
          <a:lstStyle/>
          <a:p>
            <a:pPr indent="0" marL="0">
              <a:buNone/>
            </a:pPr>
            <a:r>
              <a:rPr lang="en-US" sz="1300" b="1" spc="200" kern="0" dirty="0">
                <a:solidFill>
                  <a:srgbClr val="15803D"/>
                </a:solidFill>
                <a:latin typeface="Calibri" pitchFamily="34" charset="0"/>
                <a:ea typeface="Calibri" pitchFamily="34" charset="-122"/>
                <a:cs typeface="Calibri" pitchFamily="34" charset="-120"/>
              </a:rPr>
              <a:t>NEW · SMART BARN PROTOTYPE</a:t>
            </a:r>
            <a:endParaRPr lang="en-US" sz="1300" dirty="0"/>
          </a:p>
        </p:txBody>
      </p:sp>
      <p:sp>
        <p:nvSpPr>
          <p:cNvPr id="3" name="Text 1"/>
          <p:cNvSpPr/>
          <p:nvPr/>
        </p:nvSpPr>
        <p:spPr>
          <a:xfrm>
            <a:off x="640080" y="731520"/>
            <a:ext cx="10972800" cy="822960"/>
          </a:xfrm>
          <a:prstGeom prst="rect">
            <a:avLst/>
          </a:prstGeom>
          <a:noFill/>
          <a:ln/>
        </p:spPr>
        <p:txBody>
          <a:bodyPr wrap="square" lIns="0" tIns="0" rIns="0" bIns="0" rtlCol="0" anchor="t"/>
          <a:lstStyle/>
          <a:p>
            <a:pPr indent="0" marL="0">
              <a:buNone/>
            </a:pPr>
            <a:r>
              <a:rPr lang="en-US" sz="3400" b="1" dirty="0">
                <a:solidFill>
                  <a:srgbClr val="0F172A"/>
                </a:solidFill>
                <a:latin typeface="Calibri" pitchFamily="34" charset="0"/>
                <a:ea typeface="Calibri" pitchFamily="34" charset="-122"/>
                <a:cs typeface="Calibri" pitchFamily="34" charset="-120"/>
              </a:rPr>
              <a:t>The AI camera colours every bird by its health</a:t>
            </a:r>
            <a:endParaRPr lang="en-US" sz="3400" dirty="0"/>
          </a:p>
        </p:txBody>
      </p:sp>
      <p:pic>
        <p:nvPicPr>
          <p:cNvPr id="4" name="Image 0" descr="AgroZen screen: monitor_alarm">    </p:cNvPr>
          <p:cNvPicPr>
            <a:picLocks noChangeAspect="1"/>
          </p:cNvPicPr>
          <p:nvPr/>
        </p:nvPicPr>
        <p:blipFill>
          <a:blip r:embed="rId1"/>
          <a:stretch>
            <a:fillRect/>
          </a:stretch>
        </p:blipFill>
        <p:spPr>
          <a:xfrm>
            <a:off x="459652" y="1419772"/>
            <a:ext cx="2598157" cy="5070015"/>
          </a:xfrm>
          <a:prstGeom prst="rect">
            <a:avLst/>
          </a:prstGeom>
        </p:spPr>
      </p:pic>
      <p:pic>
        <p:nvPicPr>
          <p:cNvPr id="5" name="Image 1" descr="AI camera frame with green, amber and red boxes">    </p:cNvPr>
          <p:cNvPicPr>
            <a:picLocks noChangeAspect="1"/>
          </p:cNvPicPr>
          <p:nvPr/>
        </p:nvPicPr>
        <p:blipFill>
          <a:blip r:embed="rId2"/>
          <a:stretch>
            <a:fillRect/>
          </a:stretch>
        </p:blipFill>
        <p:spPr>
          <a:xfrm>
            <a:off x="2962605" y="1316685"/>
            <a:ext cx="5641950" cy="4160584"/>
          </a:xfrm>
          <a:prstGeom prst="rect">
            <a:avLst/>
          </a:prstGeom>
        </p:spPr>
      </p:pic>
      <p:sp>
        <p:nvSpPr>
          <p:cNvPr id="6" name="Shape 2"/>
          <p:cNvSpPr/>
          <p:nvPr/>
        </p:nvSpPr>
        <p:spPr>
          <a:xfrm>
            <a:off x="8641080" y="1600200"/>
            <a:ext cx="2907792" cy="822960"/>
          </a:xfrm>
          <a:prstGeom prst="roundRect">
            <a:avLst>
              <a:gd name="adj" fmla="val 20000"/>
            </a:avLst>
          </a:prstGeom>
          <a:solidFill>
            <a:srgbClr val="E6F4EA"/>
          </a:solidFill>
          <a:ln/>
        </p:spPr>
      </p:sp>
      <p:pic>
        <p:nvPicPr>
          <p:cNvPr id="7" name="Image 2" descr="/home/abraxis/Desktop/AgroZen/docs/studexpo/assets/chick_green.png">    </p:cNvPr>
          <p:cNvPicPr>
            <a:picLocks noChangeAspect="1"/>
          </p:cNvPicPr>
          <p:nvPr/>
        </p:nvPicPr>
        <p:blipFill>
          <a:blip r:embed="rId3"/>
          <a:stretch>
            <a:fillRect/>
          </a:stretch>
        </p:blipFill>
        <p:spPr>
          <a:xfrm>
            <a:off x="8732520" y="1664208"/>
            <a:ext cx="694944" cy="694944"/>
          </a:xfrm>
          <a:prstGeom prst="rect">
            <a:avLst/>
          </a:prstGeom>
        </p:spPr>
      </p:pic>
      <p:sp>
        <p:nvSpPr>
          <p:cNvPr id="8" name="Text 3"/>
          <p:cNvSpPr/>
          <p:nvPr/>
        </p:nvSpPr>
        <p:spPr>
          <a:xfrm>
            <a:off x="9509760" y="1691640"/>
            <a:ext cx="1965960" cy="640080"/>
          </a:xfrm>
          <a:prstGeom prst="rect">
            <a:avLst/>
          </a:prstGeom>
          <a:noFill/>
          <a:ln/>
        </p:spPr>
        <p:txBody>
          <a:bodyPr wrap="square" lIns="0" tIns="0" rIns="0" bIns="0" rtlCol="0" anchor="ctr"/>
          <a:lstStyle/>
          <a:p>
            <a:pPr algn="l" indent="0" marL="0">
              <a:buNone/>
            </a:pPr>
            <a:r>
              <a:rPr lang="en-US" sz="1500" b="1" dirty="0">
                <a:solidFill>
                  <a:srgbClr val="15803D"/>
                </a:solidFill>
                <a:latin typeface="Calibri" pitchFamily="34" charset="0"/>
                <a:ea typeface="Calibri" pitchFamily="34" charset="-122"/>
                <a:cs typeface="Calibri" pitchFamily="34" charset="-120"/>
              </a:rPr>
              <a:t>Active</a:t>
            </a:r>
            <a:endParaRPr lang="en-US" sz="1500" dirty="0"/>
          </a:p>
          <a:p>
            <a:pPr algn="l" indent="0" marL="0">
              <a:buNone/>
            </a:pPr>
            <a:r>
              <a:rPr lang="en-US" sz="1150" dirty="0">
                <a:solidFill>
                  <a:srgbClr val="0F172A"/>
                </a:solidFill>
                <a:latin typeface="Calibri" pitchFamily="34" charset="0"/>
                <a:ea typeface="Calibri" pitchFamily="34" charset="-122"/>
                <a:cs typeface="Calibri" pitchFamily="34" charset="-120"/>
              </a:rPr>
              <a:t>Moves, eats and drinks</a:t>
            </a:r>
            <a:endParaRPr lang="en-US" sz="1500" dirty="0"/>
          </a:p>
        </p:txBody>
      </p:sp>
      <p:sp>
        <p:nvSpPr>
          <p:cNvPr id="9" name="Shape 4"/>
          <p:cNvSpPr/>
          <p:nvPr/>
        </p:nvSpPr>
        <p:spPr>
          <a:xfrm>
            <a:off x="8641080" y="2532888"/>
            <a:ext cx="2907792" cy="822960"/>
          </a:xfrm>
          <a:prstGeom prst="roundRect">
            <a:avLst>
              <a:gd name="adj" fmla="val 20000"/>
            </a:avLst>
          </a:prstGeom>
          <a:solidFill>
            <a:srgbClr val="FEF3C7"/>
          </a:solidFill>
          <a:ln/>
        </p:spPr>
      </p:sp>
      <p:pic>
        <p:nvPicPr>
          <p:cNvPr id="10" name="Image 3" descr="/home/abraxis/Desktop/AgroZen/docs/studexpo/assets/chick_amber.png">    </p:cNvPr>
          <p:cNvPicPr>
            <a:picLocks noChangeAspect="1"/>
          </p:cNvPicPr>
          <p:nvPr/>
        </p:nvPicPr>
        <p:blipFill>
          <a:blip r:embed="rId4"/>
          <a:stretch>
            <a:fillRect/>
          </a:stretch>
        </p:blipFill>
        <p:spPr>
          <a:xfrm>
            <a:off x="8732520" y="2596896"/>
            <a:ext cx="694944" cy="694944"/>
          </a:xfrm>
          <a:prstGeom prst="rect">
            <a:avLst/>
          </a:prstGeom>
        </p:spPr>
      </p:pic>
      <p:sp>
        <p:nvSpPr>
          <p:cNvPr id="11" name="Text 5"/>
          <p:cNvSpPr/>
          <p:nvPr/>
        </p:nvSpPr>
        <p:spPr>
          <a:xfrm>
            <a:off x="9509760" y="2624328"/>
            <a:ext cx="1965960" cy="640080"/>
          </a:xfrm>
          <a:prstGeom prst="rect">
            <a:avLst/>
          </a:prstGeom>
          <a:noFill/>
          <a:ln/>
        </p:spPr>
        <p:txBody>
          <a:bodyPr wrap="square" lIns="0" tIns="0" rIns="0" bIns="0" rtlCol="0" anchor="ctr"/>
          <a:lstStyle/>
          <a:p>
            <a:pPr algn="l" indent="0" marL="0">
              <a:buNone/>
            </a:pPr>
            <a:r>
              <a:rPr lang="en-US" sz="1500" b="1" dirty="0">
                <a:solidFill>
                  <a:srgbClr val="B45309"/>
                </a:solidFill>
                <a:latin typeface="Calibri" pitchFamily="34" charset="0"/>
                <a:ea typeface="Calibri" pitchFamily="34" charset="-122"/>
                <a:cs typeface="Calibri" pitchFamily="34" charset="-120"/>
              </a:rPr>
              <a:t>Moving little</a:t>
            </a:r>
            <a:endParaRPr lang="en-US" sz="1500" dirty="0"/>
          </a:p>
          <a:p>
            <a:pPr algn="l" indent="0" marL="0">
              <a:buNone/>
            </a:pPr>
            <a:r>
              <a:rPr lang="en-US" sz="1150" dirty="0">
                <a:solidFill>
                  <a:srgbClr val="0F172A"/>
                </a:solidFill>
                <a:latin typeface="Calibri" pitchFamily="34" charset="0"/>
                <a:ea typeface="Calibri" pitchFamily="34" charset="-122"/>
                <a:cs typeface="Calibri" pitchFamily="34" charset="-120"/>
              </a:rPr>
              <a:t>An early sign: watch it</a:t>
            </a:r>
            <a:endParaRPr lang="en-US" sz="1500" dirty="0"/>
          </a:p>
        </p:txBody>
      </p:sp>
      <p:sp>
        <p:nvSpPr>
          <p:cNvPr id="12" name="Shape 6"/>
          <p:cNvSpPr/>
          <p:nvPr/>
        </p:nvSpPr>
        <p:spPr>
          <a:xfrm>
            <a:off x="8641080" y="3465576"/>
            <a:ext cx="2907792" cy="822960"/>
          </a:xfrm>
          <a:prstGeom prst="roundRect">
            <a:avLst>
              <a:gd name="adj" fmla="val 20000"/>
            </a:avLst>
          </a:prstGeom>
          <a:solidFill>
            <a:srgbClr val="FEE2E2"/>
          </a:solidFill>
          <a:ln/>
        </p:spPr>
      </p:sp>
      <p:pic>
        <p:nvPicPr>
          <p:cNvPr id="13" name="Image 4" descr="/home/abraxis/Desktop/AgroZen/docs/studexpo/assets/chick_red.png">    </p:cNvPr>
          <p:cNvPicPr>
            <a:picLocks noChangeAspect="1"/>
          </p:cNvPicPr>
          <p:nvPr/>
        </p:nvPicPr>
        <p:blipFill>
          <a:blip r:embed="rId5"/>
          <a:stretch>
            <a:fillRect/>
          </a:stretch>
        </p:blipFill>
        <p:spPr>
          <a:xfrm>
            <a:off x="8732520" y="3529584"/>
            <a:ext cx="694944" cy="694944"/>
          </a:xfrm>
          <a:prstGeom prst="rect">
            <a:avLst/>
          </a:prstGeom>
        </p:spPr>
      </p:pic>
      <p:sp>
        <p:nvSpPr>
          <p:cNvPr id="14" name="Text 7"/>
          <p:cNvSpPr/>
          <p:nvPr/>
        </p:nvSpPr>
        <p:spPr>
          <a:xfrm>
            <a:off x="9509760" y="3557016"/>
            <a:ext cx="1965960" cy="640080"/>
          </a:xfrm>
          <a:prstGeom prst="rect">
            <a:avLst/>
          </a:prstGeom>
          <a:noFill/>
          <a:ln/>
        </p:spPr>
        <p:txBody>
          <a:bodyPr wrap="square" lIns="0" tIns="0" rIns="0" bIns="0" rtlCol="0" anchor="ctr"/>
          <a:lstStyle/>
          <a:p>
            <a:pPr algn="l" indent="0" marL="0">
              <a:buNone/>
            </a:pPr>
            <a:r>
              <a:rPr lang="en-US" sz="1500" b="1" dirty="0">
                <a:solidFill>
                  <a:srgbClr val="DC2626"/>
                </a:solidFill>
                <a:latin typeface="Calibri" pitchFamily="34" charset="0"/>
                <a:ea typeface="Calibri" pitchFamily="34" charset="-122"/>
                <a:cs typeface="Calibri" pitchFamily="34" charset="-120"/>
              </a:rPr>
              <a:t>Not moving</a:t>
            </a:r>
            <a:endParaRPr lang="en-US" sz="1500" dirty="0"/>
          </a:p>
          <a:p>
            <a:pPr algn="l" indent="0" marL="0">
              <a:buNone/>
            </a:pPr>
            <a:r>
              <a:rPr lang="en-US" sz="1150" dirty="0">
                <a:solidFill>
                  <a:srgbClr val="0F172A"/>
                </a:solidFill>
                <a:latin typeface="Calibri" pitchFamily="34" charset="0"/>
                <a:ea typeface="Calibri" pitchFamily="34" charset="-122"/>
                <a:cs typeface="Calibri" pitchFamily="34" charset="-120"/>
              </a:rPr>
              <a:t>Remove it, call the vet</a:t>
            </a:r>
            <a:endParaRPr lang="en-US" sz="1500" dirty="0"/>
          </a:p>
        </p:txBody>
      </p:sp>
      <p:sp>
        <p:nvSpPr>
          <p:cNvPr id="15" name="Shape 8"/>
          <p:cNvSpPr/>
          <p:nvPr/>
        </p:nvSpPr>
        <p:spPr>
          <a:xfrm>
            <a:off x="8641080" y="4480560"/>
            <a:ext cx="2907792" cy="1783080"/>
          </a:xfrm>
          <a:prstGeom prst="roundRect">
            <a:avLst>
              <a:gd name="adj" fmla="val 9231"/>
            </a:avLst>
          </a:prstGeom>
          <a:solidFill>
            <a:srgbClr val="FFFFFF"/>
          </a:solidFill>
          <a:ln w="12700">
            <a:solidFill>
              <a:srgbClr val="E2EBE4"/>
            </a:solidFill>
            <a:prstDash val="solid"/>
          </a:ln>
        </p:spPr>
      </p:sp>
      <p:sp>
        <p:nvSpPr>
          <p:cNvPr id="16" name="Text 9"/>
          <p:cNvSpPr/>
          <p:nvPr/>
        </p:nvSpPr>
        <p:spPr>
          <a:xfrm>
            <a:off x="8796528" y="4553712"/>
            <a:ext cx="2651760" cy="274320"/>
          </a:xfrm>
          <a:prstGeom prst="rect">
            <a:avLst/>
          </a:prstGeom>
          <a:noFill/>
          <a:ln/>
        </p:spPr>
        <p:txBody>
          <a:bodyPr wrap="square" lIns="0" tIns="0" rIns="0" bIns="0"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Flock at a glance</a:t>
            </a:r>
            <a:endParaRPr lang="en-US" sz="1250" dirty="0"/>
          </a:p>
        </p:txBody>
      </p:sp>
      <p:pic>
        <p:nvPicPr>
          <p:cNvPr id="17" name="Image 5" descr="/home/abraxis/Desktop/AgroZen/docs/studexpo/assets/chick_grid.png">    </p:cNvPr>
          <p:cNvPicPr>
            <a:picLocks noChangeAspect="1"/>
          </p:cNvPicPr>
          <p:nvPr/>
        </p:nvPicPr>
        <p:blipFill>
          <a:blip r:embed="rId6"/>
          <a:stretch>
            <a:fillRect/>
          </a:stretch>
        </p:blipFill>
        <p:spPr>
          <a:xfrm>
            <a:off x="8778240" y="4864608"/>
            <a:ext cx="2633472" cy="875072"/>
          </a:xfrm>
          <a:prstGeom prst="rect">
            <a:avLst/>
          </a:prstGeom>
        </p:spPr>
      </p:pic>
      <p:sp>
        <p:nvSpPr>
          <p:cNvPr id="18" name="Text 10"/>
          <p:cNvSpPr/>
          <p:nvPr/>
        </p:nvSpPr>
        <p:spPr>
          <a:xfrm>
            <a:off x="8796528" y="5806440"/>
            <a:ext cx="2651760" cy="320040"/>
          </a:xfrm>
          <a:prstGeom prst="rect">
            <a:avLst/>
          </a:prstGeom>
          <a:noFill/>
          <a:ln/>
        </p:spPr>
        <p:txBody>
          <a:bodyPr wrap="square" lIns="0" tIns="0" rIns="0" bIns="0" rtlCol="0" anchor="ctr"/>
          <a:lstStyle/>
          <a:p>
            <a:pPr indent="0" marL="0">
              <a:buNone/>
            </a:pPr>
            <a:r>
              <a:rPr lang="en-US" sz="1150" b="1" dirty="0">
                <a:solidFill>
                  <a:srgbClr val="15803D"/>
                </a:solidFill>
                <a:latin typeface="Calibri" pitchFamily="34" charset="0"/>
                <a:ea typeface="Calibri" pitchFamily="34" charset="-122"/>
                <a:cs typeface="Calibri" pitchFamily="34" charset="-120"/>
              </a:rPr>
              <a:t>63 </a:t>
            </a:r>
            <a:pPr indent="0" marL="0">
              <a:buNone/>
            </a:pPr>
            <a:r>
              <a:rPr lang="en-US" sz="1150" dirty="0">
                <a:solidFill>
                  <a:srgbClr val="52665A"/>
                </a:solidFill>
                <a:latin typeface="Calibri" pitchFamily="34" charset="0"/>
                <a:ea typeface="Calibri" pitchFamily="34" charset="-122"/>
                <a:cs typeface="Calibri" pitchFamily="34" charset="-120"/>
              </a:rPr>
              <a:t>active · </a:t>
            </a:r>
            <a:pPr indent="0" marL="0">
              <a:buNone/>
            </a:pPr>
            <a:r>
              <a:rPr lang="en-US" sz="1150" b="1" dirty="0">
                <a:solidFill>
                  <a:srgbClr val="B45309"/>
                </a:solidFill>
                <a:latin typeface="Calibri" pitchFamily="34" charset="0"/>
                <a:ea typeface="Calibri" pitchFamily="34" charset="-122"/>
                <a:cs typeface="Calibri" pitchFamily="34" charset="-120"/>
              </a:rPr>
              <a:t>5 </a:t>
            </a:r>
            <a:pPr indent="0" marL="0">
              <a:buNone/>
            </a:pPr>
            <a:r>
              <a:rPr lang="en-US" sz="1150" dirty="0">
                <a:solidFill>
                  <a:srgbClr val="52665A"/>
                </a:solidFill>
                <a:latin typeface="Calibri" pitchFamily="34" charset="0"/>
                <a:ea typeface="Calibri" pitchFamily="34" charset="-122"/>
                <a:cs typeface="Calibri" pitchFamily="34" charset="-120"/>
              </a:rPr>
              <a:t>watch · </a:t>
            </a:r>
            <a:pPr indent="0" marL="0">
              <a:buNone/>
            </a:pPr>
            <a:r>
              <a:rPr lang="en-US" sz="1150" b="1" dirty="0">
                <a:solidFill>
                  <a:srgbClr val="DC2626"/>
                </a:solidFill>
                <a:latin typeface="Calibri" pitchFamily="34" charset="0"/>
                <a:ea typeface="Calibri" pitchFamily="34" charset="-122"/>
                <a:cs typeface="Calibri" pitchFamily="34" charset="-120"/>
              </a:rPr>
              <a:t>2 </a:t>
            </a:r>
            <a:pPr indent="0" marL="0">
              <a:buNone/>
            </a:pPr>
            <a:r>
              <a:rPr lang="en-US" sz="1150" dirty="0">
                <a:solidFill>
                  <a:srgbClr val="52665A"/>
                </a:solidFill>
                <a:latin typeface="Calibri" pitchFamily="34" charset="0"/>
                <a:ea typeface="Calibri" pitchFamily="34" charset="-122"/>
                <a:cs typeface="Calibri" pitchFamily="34" charset="-120"/>
              </a:rPr>
              <a:t>not moving</a:t>
            </a:r>
            <a:endParaRPr lang="en-US" sz="1150" dirty="0"/>
          </a:p>
        </p:txBody>
      </p:sp>
      <p:sp>
        <p:nvSpPr>
          <p:cNvPr id="19" name="Shape 11"/>
          <p:cNvSpPr/>
          <p:nvPr/>
        </p:nvSpPr>
        <p:spPr>
          <a:xfrm>
            <a:off x="3246120" y="5468074"/>
            <a:ext cx="1145286" cy="566928"/>
          </a:xfrm>
          <a:prstGeom prst="roundRect">
            <a:avLst>
              <a:gd name="adj" fmla="val 29032"/>
            </a:avLst>
          </a:prstGeom>
          <a:solidFill>
            <a:srgbClr val="FFFFFF"/>
          </a:solidFill>
          <a:ln w="12700">
            <a:solidFill>
              <a:srgbClr val="E2EBE4"/>
            </a:solidFill>
            <a:prstDash val="solid"/>
          </a:ln>
        </p:spPr>
      </p:sp>
      <p:sp>
        <p:nvSpPr>
          <p:cNvPr id="20" name="Shape 12"/>
          <p:cNvSpPr/>
          <p:nvPr/>
        </p:nvSpPr>
        <p:spPr>
          <a:xfrm>
            <a:off x="3337560" y="5568658"/>
            <a:ext cx="365760" cy="365760"/>
          </a:xfrm>
          <a:prstGeom prst="ellipse">
            <a:avLst/>
          </a:prstGeom>
          <a:solidFill>
            <a:srgbClr val="15803D"/>
          </a:solidFill>
          <a:ln/>
        </p:spPr>
      </p:sp>
      <p:pic>
        <p:nvPicPr>
          <p:cNvPr id="21" name="Image 6" descr="preencoded.png">    </p:cNvPr>
          <p:cNvPicPr>
            <a:picLocks noChangeAspect="1"/>
          </p:cNvPicPr>
          <p:nvPr/>
        </p:nvPicPr>
        <p:blipFill>
          <a:blip r:embed="rId7"/>
          <a:stretch>
            <a:fillRect/>
          </a:stretch>
        </p:blipFill>
        <p:spPr>
          <a:xfrm>
            <a:off x="3421685" y="5652782"/>
            <a:ext cx="197510" cy="197510"/>
          </a:xfrm>
          <a:prstGeom prst="rect">
            <a:avLst/>
          </a:prstGeom>
        </p:spPr>
      </p:pic>
      <p:sp>
        <p:nvSpPr>
          <p:cNvPr id="22" name="Text 13"/>
          <p:cNvSpPr/>
          <p:nvPr/>
        </p:nvSpPr>
        <p:spPr>
          <a:xfrm>
            <a:off x="3758184" y="5468074"/>
            <a:ext cx="596646" cy="566928"/>
          </a:xfrm>
          <a:prstGeom prst="rect">
            <a:avLst/>
          </a:prstGeom>
          <a:noFill/>
          <a:ln/>
        </p:spPr>
        <p:txBody>
          <a:bodyPr wrap="square" lIns="0" tIns="0" rIns="0" bIns="0" rtlCol="0" anchor="ctr"/>
          <a:lstStyle/>
          <a:p>
            <a:pPr indent="0" marL="0">
              <a:buNone/>
            </a:pPr>
            <a:r>
              <a:rPr lang="en-US" sz="1150" b="1" dirty="0">
                <a:solidFill>
                  <a:srgbClr val="0F172A"/>
                </a:solidFill>
                <a:latin typeface="Calibri" pitchFamily="34" charset="0"/>
                <a:ea typeface="Calibri" pitchFamily="34" charset="-122"/>
                <a:cs typeface="Calibri" pitchFamily="34" charset="-120"/>
              </a:rPr>
              <a:t>ESP32 sensors</a:t>
            </a:r>
            <a:endParaRPr lang="en-US" sz="1150" dirty="0"/>
          </a:p>
        </p:txBody>
      </p:sp>
      <p:sp>
        <p:nvSpPr>
          <p:cNvPr id="23" name="Shape 14"/>
          <p:cNvSpPr/>
          <p:nvPr/>
        </p:nvSpPr>
        <p:spPr>
          <a:xfrm>
            <a:off x="4555998" y="5468074"/>
            <a:ext cx="1145286" cy="566928"/>
          </a:xfrm>
          <a:prstGeom prst="roundRect">
            <a:avLst>
              <a:gd name="adj" fmla="val 29032"/>
            </a:avLst>
          </a:prstGeom>
          <a:solidFill>
            <a:srgbClr val="FFFFFF"/>
          </a:solidFill>
          <a:ln w="12700">
            <a:solidFill>
              <a:srgbClr val="E2EBE4"/>
            </a:solidFill>
            <a:prstDash val="solid"/>
          </a:ln>
        </p:spPr>
      </p:sp>
      <p:sp>
        <p:nvSpPr>
          <p:cNvPr id="24" name="Shape 15"/>
          <p:cNvSpPr/>
          <p:nvPr/>
        </p:nvSpPr>
        <p:spPr>
          <a:xfrm>
            <a:off x="4647438" y="5568658"/>
            <a:ext cx="365760" cy="365760"/>
          </a:xfrm>
          <a:prstGeom prst="ellipse">
            <a:avLst/>
          </a:prstGeom>
          <a:solidFill>
            <a:srgbClr val="2563EB"/>
          </a:solidFill>
          <a:ln/>
        </p:spPr>
      </p:sp>
      <p:pic>
        <p:nvPicPr>
          <p:cNvPr id="25" name="Image 7" descr="preencoded.png">    </p:cNvPr>
          <p:cNvPicPr>
            <a:picLocks noChangeAspect="1"/>
          </p:cNvPicPr>
          <p:nvPr/>
        </p:nvPicPr>
        <p:blipFill>
          <a:blip r:embed="rId8"/>
          <a:stretch>
            <a:fillRect/>
          </a:stretch>
        </p:blipFill>
        <p:spPr>
          <a:xfrm>
            <a:off x="4731563" y="5652782"/>
            <a:ext cx="197510" cy="197510"/>
          </a:xfrm>
          <a:prstGeom prst="rect">
            <a:avLst/>
          </a:prstGeom>
        </p:spPr>
      </p:pic>
      <p:sp>
        <p:nvSpPr>
          <p:cNvPr id="26" name="Text 16"/>
          <p:cNvSpPr/>
          <p:nvPr/>
        </p:nvSpPr>
        <p:spPr>
          <a:xfrm>
            <a:off x="5068062" y="5468074"/>
            <a:ext cx="596646" cy="566928"/>
          </a:xfrm>
          <a:prstGeom prst="rect">
            <a:avLst/>
          </a:prstGeom>
          <a:noFill/>
          <a:ln/>
        </p:spPr>
        <p:txBody>
          <a:bodyPr wrap="square" lIns="0" tIns="0" rIns="0" bIns="0" rtlCol="0" anchor="ctr"/>
          <a:lstStyle/>
          <a:p>
            <a:pPr indent="0" marL="0">
              <a:buNone/>
            </a:pPr>
            <a:r>
              <a:rPr lang="en-US" sz="1150" b="1" dirty="0">
                <a:solidFill>
                  <a:srgbClr val="0F172A"/>
                </a:solidFill>
                <a:latin typeface="Calibri" pitchFamily="34" charset="0"/>
                <a:ea typeface="Calibri" pitchFamily="34" charset="-122"/>
                <a:cs typeface="Calibri" pitchFamily="34" charset="-120"/>
              </a:rPr>
              <a:t>Jetson edge AI</a:t>
            </a:r>
            <a:endParaRPr lang="en-US" sz="1150" dirty="0"/>
          </a:p>
        </p:txBody>
      </p:sp>
      <p:sp>
        <p:nvSpPr>
          <p:cNvPr id="27" name="Shape 17"/>
          <p:cNvSpPr/>
          <p:nvPr/>
        </p:nvSpPr>
        <p:spPr>
          <a:xfrm>
            <a:off x="5865876" y="5468074"/>
            <a:ext cx="1145286" cy="566928"/>
          </a:xfrm>
          <a:prstGeom prst="roundRect">
            <a:avLst>
              <a:gd name="adj" fmla="val 29032"/>
            </a:avLst>
          </a:prstGeom>
          <a:solidFill>
            <a:srgbClr val="FFFFFF"/>
          </a:solidFill>
          <a:ln w="12700">
            <a:solidFill>
              <a:srgbClr val="E2EBE4"/>
            </a:solidFill>
            <a:prstDash val="solid"/>
          </a:ln>
        </p:spPr>
      </p:sp>
      <p:sp>
        <p:nvSpPr>
          <p:cNvPr id="28" name="Shape 18"/>
          <p:cNvSpPr/>
          <p:nvPr/>
        </p:nvSpPr>
        <p:spPr>
          <a:xfrm>
            <a:off x="5957316" y="5568658"/>
            <a:ext cx="365760" cy="365760"/>
          </a:xfrm>
          <a:prstGeom prst="ellipse">
            <a:avLst/>
          </a:prstGeom>
          <a:solidFill>
            <a:srgbClr val="F59E0B"/>
          </a:solidFill>
          <a:ln/>
        </p:spPr>
      </p:sp>
      <p:pic>
        <p:nvPicPr>
          <p:cNvPr id="29" name="Image 8" descr="preencoded.png">    </p:cNvPr>
          <p:cNvPicPr>
            <a:picLocks noChangeAspect="1"/>
          </p:cNvPicPr>
          <p:nvPr/>
        </p:nvPicPr>
        <p:blipFill>
          <a:blip r:embed="rId9"/>
          <a:stretch>
            <a:fillRect/>
          </a:stretch>
        </p:blipFill>
        <p:spPr>
          <a:xfrm>
            <a:off x="6041441" y="5652782"/>
            <a:ext cx="197510" cy="197510"/>
          </a:xfrm>
          <a:prstGeom prst="rect">
            <a:avLst/>
          </a:prstGeom>
        </p:spPr>
      </p:pic>
      <p:sp>
        <p:nvSpPr>
          <p:cNvPr id="30" name="Text 19"/>
          <p:cNvSpPr/>
          <p:nvPr/>
        </p:nvSpPr>
        <p:spPr>
          <a:xfrm>
            <a:off x="6377940" y="5468074"/>
            <a:ext cx="596646" cy="566928"/>
          </a:xfrm>
          <a:prstGeom prst="rect">
            <a:avLst/>
          </a:prstGeom>
          <a:noFill/>
          <a:ln/>
        </p:spPr>
        <p:txBody>
          <a:bodyPr wrap="square" lIns="0" tIns="0" rIns="0" bIns="0" rtlCol="0" anchor="ctr"/>
          <a:lstStyle/>
          <a:p>
            <a:pPr indent="0" marL="0">
              <a:buNone/>
            </a:pPr>
            <a:r>
              <a:rPr lang="en-US" sz="1150" b="1" dirty="0">
                <a:solidFill>
                  <a:srgbClr val="0F172A"/>
                </a:solidFill>
                <a:latin typeface="Calibri" pitchFamily="34" charset="0"/>
                <a:ea typeface="Calibri" pitchFamily="34" charset="-122"/>
                <a:cs typeface="Calibri" pitchFamily="34" charset="-120"/>
              </a:rPr>
              <a:t>Ross-308 rules</a:t>
            </a:r>
            <a:endParaRPr lang="en-US" sz="1150" dirty="0"/>
          </a:p>
        </p:txBody>
      </p:sp>
      <p:sp>
        <p:nvSpPr>
          <p:cNvPr id="31" name="Shape 20"/>
          <p:cNvSpPr/>
          <p:nvPr/>
        </p:nvSpPr>
        <p:spPr>
          <a:xfrm>
            <a:off x="7175754" y="5468074"/>
            <a:ext cx="1145286" cy="566928"/>
          </a:xfrm>
          <a:prstGeom prst="roundRect">
            <a:avLst>
              <a:gd name="adj" fmla="val 29032"/>
            </a:avLst>
          </a:prstGeom>
          <a:solidFill>
            <a:srgbClr val="FFFFFF"/>
          </a:solidFill>
          <a:ln w="12700">
            <a:solidFill>
              <a:srgbClr val="E2EBE4"/>
            </a:solidFill>
            <a:prstDash val="solid"/>
          </a:ln>
        </p:spPr>
      </p:sp>
      <p:sp>
        <p:nvSpPr>
          <p:cNvPr id="32" name="Shape 21"/>
          <p:cNvSpPr/>
          <p:nvPr/>
        </p:nvSpPr>
        <p:spPr>
          <a:xfrm>
            <a:off x="7267194" y="5568658"/>
            <a:ext cx="365760" cy="365760"/>
          </a:xfrm>
          <a:prstGeom prst="ellipse">
            <a:avLst/>
          </a:prstGeom>
          <a:solidFill>
            <a:srgbClr val="DC2626"/>
          </a:solidFill>
          <a:ln/>
        </p:spPr>
      </p:sp>
      <p:pic>
        <p:nvPicPr>
          <p:cNvPr id="33" name="Image 9" descr="preencoded.png">    </p:cNvPr>
          <p:cNvPicPr>
            <a:picLocks noChangeAspect="1"/>
          </p:cNvPicPr>
          <p:nvPr/>
        </p:nvPicPr>
        <p:blipFill>
          <a:blip r:embed="rId10"/>
          <a:stretch>
            <a:fillRect/>
          </a:stretch>
        </p:blipFill>
        <p:spPr>
          <a:xfrm>
            <a:off x="7351319" y="5652782"/>
            <a:ext cx="197510" cy="197510"/>
          </a:xfrm>
          <a:prstGeom prst="rect">
            <a:avLst/>
          </a:prstGeom>
        </p:spPr>
      </p:pic>
      <p:sp>
        <p:nvSpPr>
          <p:cNvPr id="34" name="Text 22"/>
          <p:cNvSpPr/>
          <p:nvPr/>
        </p:nvSpPr>
        <p:spPr>
          <a:xfrm>
            <a:off x="7687818" y="5468074"/>
            <a:ext cx="596646" cy="566928"/>
          </a:xfrm>
          <a:prstGeom prst="rect">
            <a:avLst/>
          </a:prstGeom>
          <a:noFill/>
          <a:ln/>
        </p:spPr>
        <p:txBody>
          <a:bodyPr wrap="square" lIns="0" tIns="0" rIns="0" bIns="0" rtlCol="0" anchor="ctr"/>
          <a:lstStyle/>
          <a:p>
            <a:pPr indent="0" marL="0">
              <a:buNone/>
            </a:pPr>
            <a:r>
              <a:rPr lang="en-US" sz="1150" b="1" dirty="0">
                <a:solidFill>
                  <a:srgbClr val="0F172A"/>
                </a:solidFill>
                <a:latin typeface="Calibri" pitchFamily="34" charset="0"/>
                <a:ea typeface="Calibri" pitchFamily="34" charset="-122"/>
                <a:cs typeface="Calibri" pitchFamily="34" charset="-120"/>
              </a:rPr>
              <a:t>Alert · vet · fans</a:t>
            </a:r>
            <a:endParaRPr lang="en-US" sz="1150" dirty="0"/>
          </a:p>
        </p:txBody>
      </p:sp>
      <p:sp>
        <p:nvSpPr>
          <p:cNvPr id="35" name="Text 23"/>
          <p:cNvSpPr/>
          <p:nvPr/>
        </p:nvSpPr>
        <p:spPr>
          <a:xfrm>
            <a:off x="3246120" y="6153874"/>
            <a:ext cx="5074920" cy="457200"/>
          </a:xfrm>
          <a:prstGeom prst="rect">
            <a:avLst/>
          </a:prstGeom>
          <a:noFill/>
          <a:ln/>
        </p:spPr>
        <p:txBody>
          <a:bodyPr wrap="square" lIns="0" tIns="0" rIns="0" bIns="0" rtlCol="0" anchor="t"/>
          <a:lstStyle/>
          <a:p>
            <a:pPr indent="0" marL="0">
              <a:buNone/>
            </a:pPr>
            <a:r>
              <a:rPr lang="en-US" sz="1100" i="1" dirty="0">
                <a:solidFill>
                  <a:srgbClr val="7A8E7E"/>
                </a:solidFill>
                <a:latin typeface="Calibri" pitchFamily="34" charset="0"/>
                <a:ea typeface="Calibri" pitchFamily="34" charset="-122"/>
                <a:cs typeface="Calibri" pitchFamily="34" charset="-120"/>
              </a:rPr>
              <a:t>NH3 up to 10 ppm · CO2 up to 3 000 ppm · fans switch on by themselves. Demo mode today; hardware goes into two pilot farms in 2027.</a:t>
            </a:r>
            <a:endParaRPr lang="en-US" sz="1100" dirty="0"/>
          </a:p>
        </p:txBody>
      </p:sp>
      <p:sp>
        <p:nvSpPr>
          <p:cNvPr id="36" name="Text 24"/>
          <p:cNvSpPr/>
          <p:nvPr/>
        </p:nvSpPr>
        <p:spPr>
          <a:xfrm>
            <a:off x="11274552" y="6419088"/>
            <a:ext cx="457200" cy="274320"/>
          </a:xfrm>
          <a:prstGeom prst="rect">
            <a:avLst/>
          </a:prstGeom>
          <a:noFill/>
          <a:ln/>
        </p:spPr>
        <p:txBody>
          <a:bodyPr wrap="square" lIns="0" tIns="0" rIns="0" bIns="0" rtlCol="0" anchor="ctr"/>
          <a:lstStyle/>
          <a:p>
            <a:pPr algn="r" indent="0" marL="0">
              <a:buNone/>
            </a:pPr>
            <a:r>
              <a:rPr lang="en-US" sz="1000" dirty="0">
                <a:solidFill>
                  <a:srgbClr val="7A8E7E"/>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4"/>
        </a:solidFill>
      </p:bgPr>
    </p:bg>
    <p:spTree>
      <p:nvGrpSpPr>
        <p:cNvPr id="1" name=""/>
        <p:cNvGrpSpPr/>
        <p:nvPr/>
      </p:nvGrpSpPr>
      <p:grpSpPr>
        <a:xfrm>
          <a:off x="0" y="0"/>
          <a:ext cx="0" cy="0"/>
          <a:chOff x="0" y="0"/>
          <a:chExt cx="0" cy="0"/>
        </a:xfrm>
      </p:grpSpPr>
      <p:sp>
        <p:nvSpPr>
          <p:cNvPr id="2" name="Text 0"/>
          <p:cNvSpPr/>
          <p:nvPr/>
        </p:nvSpPr>
        <p:spPr>
          <a:xfrm>
            <a:off x="640080" y="411480"/>
            <a:ext cx="7315200" cy="292608"/>
          </a:xfrm>
          <a:prstGeom prst="rect">
            <a:avLst/>
          </a:prstGeom>
          <a:noFill/>
          <a:ln/>
        </p:spPr>
        <p:txBody>
          <a:bodyPr wrap="square" lIns="0" tIns="0" rIns="0" bIns="0" rtlCol="0" anchor="ctr"/>
          <a:lstStyle/>
          <a:p>
            <a:pPr indent="0" marL="0">
              <a:buNone/>
            </a:pPr>
            <a:r>
              <a:rPr lang="en-US" sz="1300" b="1" spc="200" kern="0" dirty="0">
                <a:solidFill>
                  <a:srgbClr val="15803D"/>
                </a:solidFill>
                <a:latin typeface="Calibri" pitchFamily="34" charset="0"/>
                <a:ea typeface="Calibri" pitchFamily="34" charset="-122"/>
                <a:cs typeface="Calibri" pitchFamily="34" charset="-120"/>
              </a:rPr>
              <a:t>NEW · FOR BANKS</a:t>
            </a:r>
            <a:endParaRPr lang="en-US" sz="1300" dirty="0"/>
          </a:p>
        </p:txBody>
      </p:sp>
      <p:sp>
        <p:nvSpPr>
          <p:cNvPr id="3" name="Text 1"/>
          <p:cNvSpPr/>
          <p:nvPr/>
        </p:nvSpPr>
        <p:spPr>
          <a:xfrm>
            <a:off x="640080" y="731520"/>
            <a:ext cx="10972800" cy="822960"/>
          </a:xfrm>
          <a:prstGeom prst="rect">
            <a:avLst/>
          </a:prstGeom>
          <a:noFill/>
          <a:ln/>
        </p:spPr>
        <p:txBody>
          <a:bodyPr wrap="square" lIns="0" tIns="0" rIns="0" bIns="0" rtlCol="0" anchor="t"/>
          <a:lstStyle/>
          <a:p>
            <a:pPr indent="0" marL="0">
              <a:buNone/>
            </a:pPr>
            <a:r>
              <a:rPr lang="en-US" sz="3400" b="1" dirty="0">
                <a:solidFill>
                  <a:srgbClr val="0F172A"/>
                </a:solidFill>
                <a:latin typeface="Calibri" pitchFamily="34" charset="0"/>
                <a:ea typeface="Calibri" pitchFamily="34" charset="-122"/>
                <a:cs typeface="Calibri" pitchFamily="34" charset="-120"/>
              </a:rPr>
              <a:t>Banks see how the flock is doing — and trust the loan</a:t>
            </a:r>
            <a:endParaRPr lang="en-US" sz="3400" dirty="0"/>
          </a:p>
        </p:txBody>
      </p:sp>
      <p:pic>
        <p:nvPicPr>
          <p:cNvPr id="4" name="Image 0" descr="AgroZen screen: bank_report">    </p:cNvPr>
          <p:cNvPicPr>
            <a:picLocks noChangeAspect="1"/>
          </p:cNvPicPr>
          <p:nvPr/>
        </p:nvPicPr>
        <p:blipFill>
          <a:blip r:embed="rId1"/>
          <a:stretch>
            <a:fillRect/>
          </a:stretch>
        </p:blipFill>
        <p:spPr>
          <a:xfrm>
            <a:off x="464908" y="1470748"/>
            <a:ext cx="2522483" cy="4922345"/>
          </a:xfrm>
          <a:prstGeom prst="rect">
            <a:avLst/>
          </a:prstGeom>
        </p:spPr>
      </p:pic>
      <p:pic>
        <p:nvPicPr>
          <p:cNvPr id="5" name="Image 1" descr="AgroZen for Banks dashboard">    </p:cNvPr>
          <p:cNvPicPr>
            <a:picLocks noChangeAspect="1"/>
          </p:cNvPicPr>
          <p:nvPr/>
        </p:nvPicPr>
        <p:blipFill>
          <a:blip r:embed="rId2"/>
          <a:stretch>
            <a:fillRect/>
          </a:stretch>
        </p:blipFill>
        <p:spPr>
          <a:xfrm>
            <a:off x="2960554" y="1497514"/>
            <a:ext cx="5554611" cy="4672658"/>
          </a:xfrm>
          <a:prstGeom prst="rect">
            <a:avLst/>
          </a:prstGeom>
        </p:spPr>
      </p:pic>
      <p:sp>
        <p:nvSpPr>
          <p:cNvPr id="6" name="Text 2"/>
          <p:cNvSpPr/>
          <p:nvPr/>
        </p:nvSpPr>
        <p:spPr>
          <a:xfrm>
            <a:off x="3108960" y="6131494"/>
            <a:ext cx="5257800" cy="274320"/>
          </a:xfrm>
          <a:prstGeom prst="rect">
            <a:avLst/>
          </a:prstGeom>
          <a:noFill/>
          <a:ln/>
        </p:spPr>
        <p:txBody>
          <a:bodyPr wrap="square" lIns="0" tIns="0" rIns="0" bIns="0" rtlCol="0" anchor="ctr"/>
          <a:lstStyle/>
          <a:p>
            <a:pPr indent="0" marL="0">
              <a:buNone/>
            </a:pPr>
            <a:r>
              <a:rPr lang="en-US" sz="1100" dirty="0">
                <a:solidFill>
                  <a:srgbClr val="52665A"/>
                </a:solidFill>
                <a:latin typeface="Calibri" pitchFamily="34" charset="0"/>
                <a:ea typeface="Calibri" pitchFamily="34" charset="-122"/>
                <a:cs typeface="Calibri" pitchFamily="34" charset="-120"/>
              </a:rPr>
              <a:t>Bank dashboard: 10 pilot farmers, survival against the norm, risk and a district disease alert</a:t>
            </a:r>
            <a:endParaRPr lang="en-US" sz="1100" dirty="0"/>
          </a:p>
        </p:txBody>
      </p:sp>
      <p:sp>
        <p:nvSpPr>
          <p:cNvPr id="7" name="Shape 3"/>
          <p:cNvSpPr/>
          <p:nvPr/>
        </p:nvSpPr>
        <p:spPr>
          <a:xfrm>
            <a:off x="8641080" y="1645920"/>
            <a:ext cx="2907792" cy="960120"/>
          </a:xfrm>
          <a:prstGeom prst="roundRect">
            <a:avLst>
              <a:gd name="adj" fmla="val 17143"/>
            </a:avLst>
          </a:prstGeom>
          <a:solidFill>
            <a:srgbClr val="E6F4EA"/>
          </a:solidFill>
          <a:ln/>
        </p:spPr>
      </p:sp>
      <p:sp>
        <p:nvSpPr>
          <p:cNvPr id="8" name="Shape 4"/>
          <p:cNvSpPr/>
          <p:nvPr/>
        </p:nvSpPr>
        <p:spPr>
          <a:xfrm>
            <a:off x="8778240" y="1783080"/>
            <a:ext cx="438912" cy="438912"/>
          </a:xfrm>
          <a:prstGeom prst="ellipse">
            <a:avLst/>
          </a:prstGeom>
          <a:solidFill>
            <a:srgbClr val="15803D"/>
          </a:solidFill>
          <a:ln/>
        </p:spPr>
      </p:sp>
      <p:pic>
        <p:nvPicPr>
          <p:cNvPr id="9" name="Image 2" descr="preencoded.png">    </p:cNvPr>
          <p:cNvPicPr>
            <a:picLocks noChangeAspect="1"/>
          </p:cNvPicPr>
          <p:nvPr/>
        </p:nvPicPr>
        <p:blipFill>
          <a:blip r:embed="rId3"/>
          <a:stretch>
            <a:fillRect/>
          </a:stretch>
        </p:blipFill>
        <p:spPr>
          <a:xfrm>
            <a:off x="8879190" y="1884030"/>
            <a:ext cx="237012" cy="237012"/>
          </a:xfrm>
          <a:prstGeom prst="rect">
            <a:avLst/>
          </a:prstGeom>
        </p:spPr>
      </p:pic>
      <p:sp>
        <p:nvSpPr>
          <p:cNvPr id="10" name="Text 5"/>
          <p:cNvSpPr/>
          <p:nvPr/>
        </p:nvSpPr>
        <p:spPr>
          <a:xfrm>
            <a:off x="9326880" y="1737360"/>
            <a:ext cx="2148840" cy="822960"/>
          </a:xfrm>
          <a:prstGeom prst="rect">
            <a:avLst/>
          </a:prstGeom>
          <a:noFill/>
          <a:ln/>
        </p:spPr>
        <p:txBody>
          <a:bodyPr wrap="square" lIns="0" tIns="0" rIns="0" bIns="0" rtlCol="0" anchor="t"/>
          <a:lstStyle/>
          <a:p>
            <a:pPr algn="l" indent="0" marL="0">
              <a:buNone/>
            </a:pPr>
            <a:r>
              <a:rPr lang="en-US" sz="1400" b="1" dirty="0">
                <a:solidFill>
                  <a:srgbClr val="0F172A"/>
                </a:solidFill>
                <a:latin typeface="Calibri" pitchFamily="34" charset="0"/>
                <a:ea typeface="Calibri" pitchFamily="34" charset="-122"/>
                <a:cs typeface="Calibri" pitchFamily="34" charset="-120"/>
              </a:rPr>
              <a:t>Farmer's consent</a:t>
            </a:r>
            <a:endParaRPr lang="en-US" sz="1400" dirty="0"/>
          </a:p>
          <a:p>
            <a:pPr algn="l" indent="0" marL="0">
              <a:buNone/>
            </a:pPr>
            <a:r>
              <a:rPr lang="en-US" sz="1100" dirty="0">
                <a:solidFill>
                  <a:srgbClr val="0F172A"/>
                </a:solidFill>
                <a:latin typeface="Calibri" pitchFamily="34" charset="0"/>
                <a:ea typeface="Calibri" pitchFamily="34" charset="-122"/>
                <a:cs typeface="Calibri" pitchFamily="34" charset="-120"/>
              </a:rPr>
              <a:t>Built from the diary, sent as a PDF only after the farmer agrees.</a:t>
            </a:r>
            <a:endParaRPr lang="en-US" sz="1400" dirty="0"/>
          </a:p>
        </p:txBody>
      </p:sp>
      <p:sp>
        <p:nvSpPr>
          <p:cNvPr id="11" name="Shape 6"/>
          <p:cNvSpPr/>
          <p:nvPr/>
        </p:nvSpPr>
        <p:spPr>
          <a:xfrm>
            <a:off x="8641080" y="2724912"/>
            <a:ext cx="2907792" cy="960120"/>
          </a:xfrm>
          <a:prstGeom prst="roundRect">
            <a:avLst>
              <a:gd name="adj" fmla="val 17143"/>
            </a:avLst>
          </a:prstGeom>
          <a:solidFill>
            <a:srgbClr val="FEF3C7"/>
          </a:solidFill>
          <a:ln/>
        </p:spPr>
      </p:sp>
      <p:sp>
        <p:nvSpPr>
          <p:cNvPr id="12" name="Shape 7"/>
          <p:cNvSpPr/>
          <p:nvPr/>
        </p:nvSpPr>
        <p:spPr>
          <a:xfrm>
            <a:off x="8778240" y="2862072"/>
            <a:ext cx="438912" cy="438912"/>
          </a:xfrm>
          <a:prstGeom prst="ellipse">
            <a:avLst/>
          </a:prstGeom>
          <a:solidFill>
            <a:srgbClr val="F59E0B"/>
          </a:solidFill>
          <a:ln/>
        </p:spPr>
      </p:sp>
      <p:pic>
        <p:nvPicPr>
          <p:cNvPr id="13" name="Image 3" descr="preencoded.png">    </p:cNvPr>
          <p:cNvPicPr>
            <a:picLocks noChangeAspect="1"/>
          </p:cNvPicPr>
          <p:nvPr/>
        </p:nvPicPr>
        <p:blipFill>
          <a:blip r:embed="rId4"/>
          <a:stretch>
            <a:fillRect/>
          </a:stretch>
        </p:blipFill>
        <p:spPr>
          <a:xfrm>
            <a:off x="8879190" y="2963022"/>
            <a:ext cx="237012" cy="237012"/>
          </a:xfrm>
          <a:prstGeom prst="rect">
            <a:avLst/>
          </a:prstGeom>
        </p:spPr>
      </p:pic>
      <p:sp>
        <p:nvSpPr>
          <p:cNvPr id="14" name="Text 8"/>
          <p:cNvSpPr/>
          <p:nvPr/>
        </p:nvSpPr>
        <p:spPr>
          <a:xfrm>
            <a:off x="9326880" y="2816352"/>
            <a:ext cx="2148840" cy="822960"/>
          </a:xfrm>
          <a:prstGeom prst="rect">
            <a:avLst/>
          </a:prstGeom>
          <a:noFill/>
          <a:ln/>
        </p:spPr>
        <p:txBody>
          <a:bodyPr wrap="square" lIns="0" tIns="0" rIns="0" bIns="0" rtlCol="0" anchor="t"/>
          <a:lstStyle/>
          <a:p>
            <a:pPr algn="l" indent="0" marL="0">
              <a:buNone/>
            </a:pPr>
            <a:r>
              <a:rPr lang="en-US" sz="1400" b="1" dirty="0">
                <a:solidFill>
                  <a:srgbClr val="0F172A"/>
                </a:solidFill>
                <a:latin typeface="Calibri" pitchFamily="34" charset="0"/>
                <a:ea typeface="Calibri" pitchFamily="34" charset="-122"/>
                <a:cs typeface="Calibri" pitchFamily="34" charset="-120"/>
              </a:rPr>
              <a:t>Score 0–100</a:t>
            </a:r>
            <a:endParaRPr lang="en-US" sz="1400" dirty="0"/>
          </a:p>
          <a:p>
            <a:pPr algn="l" indent="0" marL="0">
              <a:buNone/>
            </a:pPr>
            <a:r>
              <a:rPr lang="en-US" sz="1100" dirty="0">
                <a:solidFill>
                  <a:srgbClr val="0F172A"/>
                </a:solidFill>
                <a:latin typeface="Calibri" pitchFamily="34" charset="0"/>
                <a:ea typeface="Calibri" pitchFamily="34" charset="-122"/>
                <a:cs typeface="Calibri" pitchFamily="34" charset="-120"/>
              </a:rPr>
              <a:t>Survival, diary, weight, training: fixed rules, not AI.</a:t>
            </a:r>
            <a:endParaRPr lang="en-US" sz="1400" dirty="0"/>
          </a:p>
        </p:txBody>
      </p:sp>
      <p:sp>
        <p:nvSpPr>
          <p:cNvPr id="15" name="Shape 9"/>
          <p:cNvSpPr/>
          <p:nvPr/>
        </p:nvSpPr>
        <p:spPr>
          <a:xfrm>
            <a:off x="8641080" y="3803904"/>
            <a:ext cx="2907792" cy="960120"/>
          </a:xfrm>
          <a:prstGeom prst="roundRect">
            <a:avLst>
              <a:gd name="adj" fmla="val 17143"/>
            </a:avLst>
          </a:prstGeom>
          <a:solidFill>
            <a:srgbClr val="FEE2E2"/>
          </a:solidFill>
          <a:ln/>
        </p:spPr>
      </p:sp>
      <p:sp>
        <p:nvSpPr>
          <p:cNvPr id="16" name="Shape 10"/>
          <p:cNvSpPr/>
          <p:nvPr/>
        </p:nvSpPr>
        <p:spPr>
          <a:xfrm>
            <a:off x="8778240" y="3941064"/>
            <a:ext cx="438912" cy="438912"/>
          </a:xfrm>
          <a:prstGeom prst="ellipse">
            <a:avLst/>
          </a:prstGeom>
          <a:solidFill>
            <a:srgbClr val="DC2626"/>
          </a:solidFill>
          <a:ln/>
        </p:spPr>
      </p:sp>
      <p:pic>
        <p:nvPicPr>
          <p:cNvPr id="17" name="Image 4" descr="preencoded.png">    </p:cNvPr>
          <p:cNvPicPr>
            <a:picLocks noChangeAspect="1"/>
          </p:cNvPicPr>
          <p:nvPr/>
        </p:nvPicPr>
        <p:blipFill>
          <a:blip r:embed="rId5"/>
          <a:stretch>
            <a:fillRect/>
          </a:stretch>
        </p:blipFill>
        <p:spPr>
          <a:xfrm>
            <a:off x="8879190" y="4042014"/>
            <a:ext cx="237012" cy="237012"/>
          </a:xfrm>
          <a:prstGeom prst="rect">
            <a:avLst/>
          </a:prstGeom>
        </p:spPr>
      </p:pic>
      <p:sp>
        <p:nvSpPr>
          <p:cNvPr id="18" name="Text 11"/>
          <p:cNvSpPr/>
          <p:nvPr/>
        </p:nvSpPr>
        <p:spPr>
          <a:xfrm>
            <a:off x="9326880" y="3895344"/>
            <a:ext cx="2148840" cy="822960"/>
          </a:xfrm>
          <a:prstGeom prst="rect">
            <a:avLst/>
          </a:prstGeom>
          <a:noFill/>
          <a:ln/>
        </p:spPr>
        <p:txBody>
          <a:bodyPr wrap="square" lIns="0" tIns="0" rIns="0" bIns="0" rtlCol="0" anchor="t"/>
          <a:lstStyle/>
          <a:p>
            <a:pPr algn="l" indent="0" marL="0">
              <a:buNone/>
            </a:pPr>
            <a:r>
              <a:rPr lang="en-US" sz="1400" b="1" dirty="0">
                <a:solidFill>
                  <a:srgbClr val="0F172A"/>
                </a:solidFill>
                <a:latin typeface="Calibri" pitchFamily="34" charset="0"/>
                <a:ea typeface="Calibri" pitchFamily="34" charset="-122"/>
                <a:cs typeface="Calibri" pitchFamily="34" charset="-120"/>
              </a:rPr>
              <a:t>Disease alert</a:t>
            </a:r>
            <a:endParaRPr lang="en-US" sz="1400" dirty="0"/>
          </a:p>
          <a:p>
            <a:pPr algn="l" indent="0" marL="0">
              <a:buNone/>
            </a:pPr>
            <a:r>
              <a:rPr lang="en-US" sz="1100" dirty="0">
                <a:solidFill>
                  <a:srgbClr val="0F172A"/>
                </a:solidFill>
                <a:latin typeface="Calibri" pitchFamily="34" charset="0"/>
                <a:ea typeface="Calibri" pitchFamily="34" charset="-122"/>
                <a:cs typeface="Calibri" pitchFamily="34" charset="-120"/>
              </a:rPr>
              <a:t>One tap warns every farmer of the bank in a district.</a:t>
            </a:r>
            <a:endParaRPr lang="en-US" sz="1400" dirty="0"/>
          </a:p>
        </p:txBody>
      </p:sp>
      <p:sp>
        <p:nvSpPr>
          <p:cNvPr id="19" name="Shape 12"/>
          <p:cNvSpPr/>
          <p:nvPr/>
        </p:nvSpPr>
        <p:spPr>
          <a:xfrm>
            <a:off x="8641080" y="4983480"/>
            <a:ext cx="2907792" cy="1097280"/>
          </a:xfrm>
          <a:prstGeom prst="roundRect">
            <a:avLst>
              <a:gd name="adj" fmla="val 15000"/>
            </a:avLst>
          </a:prstGeom>
          <a:solidFill>
            <a:srgbClr val="15803D"/>
          </a:solidFill>
          <a:ln/>
        </p:spPr>
      </p:sp>
      <p:sp>
        <p:nvSpPr>
          <p:cNvPr id="20" name="Text 13"/>
          <p:cNvSpPr/>
          <p:nvPr/>
        </p:nvSpPr>
        <p:spPr>
          <a:xfrm>
            <a:off x="8805672" y="5029200"/>
            <a:ext cx="2606040" cy="100584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Free for farmers. </a:t>
            </a:r>
            <a:pPr indent="0" marL="0">
              <a:buNone/>
            </a:pPr>
            <a:r>
              <a:rPr lang="en-US" sz="1250" dirty="0">
                <a:solidFill>
                  <a:srgbClr val="FFFFFF"/>
                </a:solidFill>
                <a:latin typeface="Calibri" pitchFamily="34" charset="0"/>
                <a:ea typeface="Calibri" pitchFamily="34" charset="-122"/>
                <a:cs typeface="Calibri" pitchFamily="34" charset="-120"/>
              </a:rPr>
              <a:t>Banks and microfinance pay: a trained farmer is more likely to repay.</a:t>
            </a:r>
            <a:endParaRPr lang="en-US" sz="1250" dirty="0"/>
          </a:p>
        </p:txBody>
      </p:sp>
      <p:sp>
        <p:nvSpPr>
          <p:cNvPr id="21" name="Text 14"/>
          <p:cNvSpPr/>
          <p:nvPr/>
        </p:nvSpPr>
        <p:spPr>
          <a:xfrm>
            <a:off x="11274552" y="6419088"/>
            <a:ext cx="457200" cy="274320"/>
          </a:xfrm>
          <a:prstGeom prst="rect">
            <a:avLst/>
          </a:prstGeom>
          <a:noFill/>
          <a:ln/>
        </p:spPr>
        <p:txBody>
          <a:bodyPr wrap="square" lIns="0" tIns="0" rIns="0" bIns="0" rtlCol="0" anchor="ctr"/>
          <a:lstStyle/>
          <a:p>
            <a:pPr algn="r" indent="0" marL="0">
              <a:buNone/>
            </a:pPr>
            <a:r>
              <a:rPr lang="en-US" sz="1000" dirty="0">
                <a:solidFill>
                  <a:srgbClr val="7A8E7E"/>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4"/>
        </a:solidFill>
      </p:bgPr>
    </p:bg>
    <p:spTree>
      <p:nvGrpSpPr>
        <p:cNvPr id="1" name=""/>
        <p:cNvGrpSpPr/>
        <p:nvPr/>
      </p:nvGrpSpPr>
      <p:grpSpPr>
        <a:xfrm>
          <a:off x="0" y="0"/>
          <a:ext cx="0" cy="0"/>
          <a:chOff x="0" y="0"/>
          <a:chExt cx="0" cy="0"/>
        </a:xfrm>
      </p:grpSpPr>
      <p:sp>
        <p:nvSpPr>
          <p:cNvPr id="2" name="Text 0"/>
          <p:cNvSpPr/>
          <p:nvPr/>
        </p:nvSpPr>
        <p:spPr>
          <a:xfrm>
            <a:off x="640080" y="411480"/>
            <a:ext cx="7315200" cy="292608"/>
          </a:xfrm>
          <a:prstGeom prst="rect">
            <a:avLst/>
          </a:prstGeom>
          <a:noFill/>
          <a:ln/>
        </p:spPr>
        <p:txBody>
          <a:bodyPr wrap="square" lIns="0" tIns="0" rIns="0" bIns="0" rtlCol="0" anchor="ctr"/>
          <a:lstStyle/>
          <a:p>
            <a:pPr indent="0" marL="0">
              <a:buNone/>
            </a:pPr>
            <a:r>
              <a:rPr lang="en-US" sz="1300" b="1" spc="200" kern="0" dirty="0">
                <a:solidFill>
                  <a:srgbClr val="15803D"/>
                </a:solidFill>
                <a:latin typeface="Calibri" pitchFamily="34" charset="0"/>
                <a:ea typeface="Calibri" pitchFamily="34" charset="-122"/>
                <a:cs typeface="Calibri" pitchFamily="34" charset="-120"/>
              </a:rPr>
              <a:t>THE RESULT</a:t>
            </a:r>
            <a:endParaRPr lang="en-US" sz="1300" dirty="0"/>
          </a:p>
        </p:txBody>
      </p:sp>
      <p:sp>
        <p:nvSpPr>
          <p:cNvPr id="3" name="Text 1"/>
          <p:cNvSpPr/>
          <p:nvPr/>
        </p:nvSpPr>
        <p:spPr>
          <a:xfrm>
            <a:off x="640080" y="731520"/>
            <a:ext cx="10972800" cy="822960"/>
          </a:xfrm>
          <a:prstGeom prst="rect">
            <a:avLst/>
          </a:prstGeom>
          <a:noFill/>
          <a:ln/>
        </p:spPr>
        <p:txBody>
          <a:bodyPr wrap="square" lIns="0" tIns="0" rIns="0" bIns="0" rtlCol="0" anchor="t"/>
          <a:lstStyle/>
          <a:p>
            <a:pPr indent="0" marL="0">
              <a:buNone/>
            </a:pPr>
            <a:r>
              <a:rPr lang="en-US" sz="3400" b="1" dirty="0">
                <a:solidFill>
                  <a:srgbClr val="0F172A"/>
                </a:solidFill>
                <a:latin typeface="Calibri" pitchFamily="34" charset="0"/>
                <a:ea typeface="Calibri" pitchFamily="34" charset="-122"/>
                <a:cs typeface="Calibri" pitchFamily="34" charset="-120"/>
              </a:rPr>
              <a:t>Not a concept: the app already works</a:t>
            </a:r>
            <a:endParaRPr lang="en-US" sz="3400" dirty="0"/>
          </a:p>
        </p:txBody>
      </p:sp>
      <p:pic>
        <p:nvPicPr>
          <p:cNvPr id="4" name="Image 0" descr="/home/abraxis/Desktop/AgroZen/docs/studexpo/assets/sun_tile.png">    </p:cNvPr>
          <p:cNvPicPr>
            <a:picLocks noChangeAspect="1"/>
          </p:cNvPicPr>
          <p:nvPr/>
        </p:nvPicPr>
        <p:blipFill>
          <a:blip r:embed="rId1"/>
          <a:srcRect l="0" r="0" t="0" b="0"/>
          <a:stretch/>
        </p:blipFill>
        <p:spPr>
          <a:xfrm>
            <a:off x="640080" y="1645920"/>
            <a:ext cx="2651760" cy="1463040"/>
          </a:xfrm>
          <a:prstGeom prst="rect">
            <a:avLst/>
          </a:prstGeom>
        </p:spPr>
      </p:pic>
      <p:sp>
        <p:nvSpPr>
          <p:cNvPr id="5" name="Shape 2"/>
          <p:cNvSpPr/>
          <p:nvPr/>
        </p:nvSpPr>
        <p:spPr>
          <a:xfrm>
            <a:off x="822960" y="1828800"/>
            <a:ext cx="438912" cy="438912"/>
          </a:xfrm>
          <a:prstGeom prst="ellipse">
            <a:avLst/>
          </a:prstGeom>
          <a:solidFill>
            <a:srgbClr val="FFFFFF"/>
          </a:solidFill>
          <a:ln/>
        </p:spPr>
      </p:sp>
      <p:pic>
        <p:nvPicPr>
          <p:cNvPr id="6" name="Image 1" descr="preencoded.png">    </p:cNvPr>
          <p:cNvPicPr>
            <a:picLocks noChangeAspect="1"/>
          </p:cNvPicPr>
          <p:nvPr/>
        </p:nvPicPr>
        <p:blipFill>
          <a:blip r:embed="rId2"/>
          <a:stretch>
            <a:fillRect/>
          </a:stretch>
        </p:blipFill>
        <p:spPr>
          <a:xfrm>
            <a:off x="923910" y="1929750"/>
            <a:ext cx="237012" cy="237012"/>
          </a:xfrm>
          <a:prstGeom prst="rect">
            <a:avLst/>
          </a:prstGeom>
        </p:spPr>
      </p:pic>
      <p:sp>
        <p:nvSpPr>
          <p:cNvPr id="7" name="Text 3"/>
          <p:cNvSpPr/>
          <p:nvPr/>
        </p:nvSpPr>
        <p:spPr>
          <a:xfrm>
            <a:off x="822960" y="2331720"/>
            <a:ext cx="2331720" cy="731520"/>
          </a:xfrm>
          <a:prstGeom prst="rect">
            <a:avLst/>
          </a:prstGeom>
          <a:noFill/>
          <a:ln/>
        </p:spPr>
        <p:txBody>
          <a:bodyPr wrap="square" lIns="0" tIns="0" rIns="0" bIns="0" rtlCol="0" anchor="t"/>
          <a:lstStyle/>
          <a:p>
            <a:pPr algn="l" indent="0" marL="0">
              <a:buNone/>
            </a:pPr>
            <a:r>
              <a:rPr lang="en-US" sz="2600" b="1" dirty="0">
                <a:solidFill>
                  <a:srgbClr val="FFFFFF"/>
                </a:solidFill>
                <a:latin typeface="Calibri" pitchFamily="34" charset="0"/>
                <a:ea typeface="Calibri" pitchFamily="34" charset="-122"/>
                <a:cs typeface="Calibri" pitchFamily="34" charset="-120"/>
              </a:rPr>
              <a:t>42 days</a:t>
            </a:r>
            <a:endParaRPr lang="en-US" sz="2600" dirty="0"/>
          </a:p>
          <a:p>
            <a:pPr algn="l" indent="0" marL="0">
              <a:buNone/>
            </a:pPr>
            <a:r>
              <a:rPr lang="en-US" sz="1150" dirty="0">
                <a:solidFill>
                  <a:srgbClr val="FFF7ED"/>
                </a:solidFill>
                <a:latin typeface="Calibri" pitchFamily="34" charset="0"/>
                <a:ea typeface="Calibri" pitchFamily="34" charset="-122"/>
                <a:cs typeface="Calibri" pitchFamily="34" charset="-120"/>
              </a:rPr>
              <a:t>of norms, one plan for every day</a:t>
            </a:r>
            <a:endParaRPr lang="en-US" sz="2600" dirty="0"/>
          </a:p>
        </p:txBody>
      </p:sp>
      <p:sp>
        <p:nvSpPr>
          <p:cNvPr id="8" name="Shape 4"/>
          <p:cNvSpPr/>
          <p:nvPr/>
        </p:nvSpPr>
        <p:spPr>
          <a:xfrm>
            <a:off x="3429000" y="1645920"/>
            <a:ext cx="2651760" cy="1463040"/>
          </a:xfrm>
          <a:prstGeom prst="roundRect">
            <a:avLst>
              <a:gd name="adj" fmla="val 11250"/>
            </a:avLst>
          </a:prstGeom>
          <a:solidFill>
            <a:srgbClr val="DBEAFE"/>
          </a:solidFill>
          <a:ln/>
        </p:spPr>
      </p:sp>
      <p:sp>
        <p:nvSpPr>
          <p:cNvPr id="9" name="Shape 5"/>
          <p:cNvSpPr/>
          <p:nvPr/>
        </p:nvSpPr>
        <p:spPr>
          <a:xfrm>
            <a:off x="3611880" y="1828800"/>
            <a:ext cx="438912" cy="438912"/>
          </a:xfrm>
          <a:prstGeom prst="ellipse">
            <a:avLst/>
          </a:prstGeom>
          <a:solidFill>
            <a:srgbClr val="2563EB"/>
          </a:solidFill>
          <a:ln/>
        </p:spPr>
      </p:sp>
      <p:pic>
        <p:nvPicPr>
          <p:cNvPr id="10" name="Image 2" descr="preencoded.png">    </p:cNvPr>
          <p:cNvPicPr>
            <a:picLocks noChangeAspect="1"/>
          </p:cNvPicPr>
          <p:nvPr/>
        </p:nvPicPr>
        <p:blipFill>
          <a:blip r:embed="rId3"/>
          <a:stretch>
            <a:fillRect/>
          </a:stretch>
        </p:blipFill>
        <p:spPr>
          <a:xfrm>
            <a:off x="3712830" y="1929750"/>
            <a:ext cx="237012" cy="237012"/>
          </a:xfrm>
          <a:prstGeom prst="rect">
            <a:avLst/>
          </a:prstGeom>
        </p:spPr>
      </p:pic>
      <p:sp>
        <p:nvSpPr>
          <p:cNvPr id="11" name="Text 6"/>
          <p:cNvSpPr/>
          <p:nvPr/>
        </p:nvSpPr>
        <p:spPr>
          <a:xfrm>
            <a:off x="3611880" y="2331720"/>
            <a:ext cx="2331720" cy="731520"/>
          </a:xfrm>
          <a:prstGeom prst="rect">
            <a:avLst/>
          </a:prstGeom>
          <a:noFill/>
          <a:ln/>
        </p:spPr>
        <p:txBody>
          <a:bodyPr wrap="square" lIns="0" tIns="0" rIns="0" bIns="0" rtlCol="0" anchor="t"/>
          <a:lstStyle/>
          <a:p>
            <a:pPr algn="l" indent="0" marL="0">
              <a:buNone/>
            </a:pPr>
            <a:r>
              <a:rPr lang="en-US" sz="2600" b="1" dirty="0">
                <a:solidFill>
                  <a:srgbClr val="1D4ED8"/>
                </a:solidFill>
                <a:latin typeface="Calibri" pitchFamily="34" charset="0"/>
                <a:ea typeface="Calibri" pitchFamily="34" charset="-122"/>
                <a:cs typeface="Calibri" pitchFamily="34" charset="-120"/>
              </a:rPr>
              <a:t>5 lessons</a:t>
            </a:r>
            <a:endParaRPr lang="en-US" sz="2600" dirty="0"/>
          </a:p>
          <a:p>
            <a:pPr algn="l" indent="0" marL="0">
              <a:buNone/>
            </a:pPr>
            <a:r>
              <a:rPr lang="en-US" sz="1150" dirty="0">
                <a:solidFill>
                  <a:srgbClr val="0F172A"/>
                </a:solidFill>
                <a:latin typeface="Calibri" pitchFamily="34" charset="0"/>
                <a:ea typeface="Calibri" pitchFamily="34" charset="-122"/>
                <a:cs typeface="Calibri" pitchFamily="34" charset="-120"/>
              </a:rPr>
              <a:t>a course with tests and a certificate</a:t>
            </a:r>
            <a:endParaRPr lang="en-US" sz="2600" dirty="0"/>
          </a:p>
        </p:txBody>
      </p:sp>
      <p:sp>
        <p:nvSpPr>
          <p:cNvPr id="12" name="Shape 7"/>
          <p:cNvSpPr/>
          <p:nvPr/>
        </p:nvSpPr>
        <p:spPr>
          <a:xfrm>
            <a:off x="640080" y="3246120"/>
            <a:ext cx="2651760" cy="1463040"/>
          </a:xfrm>
          <a:prstGeom prst="roundRect">
            <a:avLst>
              <a:gd name="adj" fmla="val 11250"/>
            </a:avLst>
          </a:prstGeom>
          <a:solidFill>
            <a:srgbClr val="FEE2E2"/>
          </a:solidFill>
          <a:ln/>
        </p:spPr>
      </p:sp>
      <p:sp>
        <p:nvSpPr>
          <p:cNvPr id="13" name="Shape 8"/>
          <p:cNvSpPr/>
          <p:nvPr/>
        </p:nvSpPr>
        <p:spPr>
          <a:xfrm>
            <a:off x="822960" y="3429000"/>
            <a:ext cx="438912" cy="438912"/>
          </a:xfrm>
          <a:prstGeom prst="ellipse">
            <a:avLst/>
          </a:prstGeom>
          <a:solidFill>
            <a:srgbClr val="DC2626"/>
          </a:solidFill>
          <a:ln/>
        </p:spPr>
      </p:sp>
      <p:pic>
        <p:nvPicPr>
          <p:cNvPr id="14" name="Image 3" descr="preencoded.png">    </p:cNvPr>
          <p:cNvPicPr>
            <a:picLocks noChangeAspect="1"/>
          </p:cNvPicPr>
          <p:nvPr/>
        </p:nvPicPr>
        <p:blipFill>
          <a:blip r:embed="rId4"/>
          <a:stretch>
            <a:fillRect/>
          </a:stretch>
        </p:blipFill>
        <p:spPr>
          <a:xfrm>
            <a:off x="923910" y="3529950"/>
            <a:ext cx="237012" cy="237012"/>
          </a:xfrm>
          <a:prstGeom prst="rect">
            <a:avLst/>
          </a:prstGeom>
        </p:spPr>
      </p:pic>
      <p:sp>
        <p:nvSpPr>
          <p:cNvPr id="15" name="Text 9"/>
          <p:cNvSpPr/>
          <p:nvPr/>
        </p:nvSpPr>
        <p:spPr>
          <a:xfrm>
            <a:off x="822960" y="3931920"/>
            <a:ext cx="2331720" cy="731520"/>
          </a:xfrm>
          <a:prstGeom prst="rect">
            <a:avLst/>
          </a:prstGeom>
          <a:noFill/>
          <a:ln/>
        </p:spPr>
        <p:txBody>
          <a:bodyPr wrap="square" lIns="0" tIns="0" rIns="0" bIns="0" rtlCol="0" anchor="t"/>
          <a:lstStyle/>
          <a:p>
            <a:pPr algn="l" indent="0" marL="0">
              <a:buNone/>
            </a:pPr>
            <a:r>
              <a:rPr lang="en-US" sz="2600" b="1" dirty="0">
                <a:solidFill>
                  <a:srgbClr val="DC2626"/>
                </a:solidFill>
                <a:latin typeface="Calibri" pitchFamily="34" charset="0"/>
                <a:ea typeface="Calibri" pitchFamily="34" charset="-122"/>
                <a:cs typeface="Calibri" pitchFamily="34" charset="-120"/>
              </a:rPr>
              <a:t>13 regions</a:t>
            </a:r>
            <a:endParaRPr lang="en-US" sz="2600" dirty="0"/>
          </a:p>
          <a:p>
            <a:pPr algn="l" indent="0" marL="0">
              <a:buNone/>
            </a:pPr>
            <a:r>
              <a:rPr lang="en-US" sz="1150" dirty="0">
                <a:solidFill>
                  <a:srgbClr val="0F172A"/>
                </a:solidFill>
                <a:latin typeface="Calibri" pitchFamily="34" charset="0"/>
                <a:ea typeface="Calibri" pitchFamily="34" charset="-122"/>
                <a:cs typeface="Calibri" pitchFamily="34" charset="-120"/>
              </a:rPr>
              <a:t>vet contacts across Uzbekistan</a:t>
            </a:r>
            <a:endParaRPr lang="en-US" sz="2600" dirty="0"/>
          </a:p>
        </p:txBody>
      </p:sp>
      <p:sp>
        <p:nvSpPr>
          <p:cNvPr id="16" name="Shape 10"/>
          <p:cNvSpPr/>
          <p:nvPr/>
        </p:nvSpPr>
        <p:spPr>
          <a:xfrm>
            <a:off x="3429000" y="3246120"/>
            <a:ext cx="2651760" cy="1463040"/>
          </a:xfrm>
          <a:prstGeom prst="roundRect">
            <a:avLst>
              <a:gd name="adj" fmla="val 11250"/>
            </a:avLst>
          </a:prstGeom>
          <a:solidFill>
            <a:srgbClr val="E6F4EA"/>
          </a:solidFill>
          <a:ln/>
        </p:spPr>
      </p:sp>
      <p:sp>
        <p:nvSpPr>
          <p:cNvPr id="17" name="Shape 11"/>
          <p:cNvSpPr/>
          <p:nvPr/>
        </p:nvSpPr>
        <p:spPr>
          <a:xfrm>
            <a:off x="3611880" y="3429000"/>
            <a:ext cx="438912" cy="438912"/>
          </a:xfrm>
          <a:prstGeom prst="ellipse">
            <a:avLst/>
          </a:prstGeom>
          <a:solidFill>
            <a:srgbClr val="15803D"/>
          </a:solidFill>
          <a:ln/>
        </p:spPr>
      </p:sp>
      <p:pic>
        <p:nvPicPr>
          <p:cNvPr id="18" name="Image 4" descr="preencoded.png">    </p:cNvPr>
          <p:cNvPicPr>
            <a:picLocks noChangeAspect="1"/>
          </p:cNvPicPr>
          <p:nvPr/>
        </p:nvPicPr>
        <p:blipFill>
          <a:blip r:embed="rId5"/>
          <a:stretch>
            <a:fillRect/>
          </a:stretch>
        </p:blipFill>
        <p:spPr>
          <a:xfrm>
            <a:off x="3712830" y="3529950"/>
            <a:ext cx="237012" cy="237012"/>
          </a:xfrm>
          <a:prstGeom prst="rect">
            <a:avLst/>
          </a:prstGeom>
        </p:spPr>
      </p:pic>
      <p:sp>
        <p:nvSpPr>
          <p:cNvPr id="19" name="Text 12"/>
          <p:cNvSpPr/>
          <p:nvPr/>
        </p:nvSpPr>
        <p:spPr>
          <a:xfrm>
            <a:off x="3611880" y="3931920"/>
            <a:ext cx="2331720" cy="731520"/>
          </a:xfrm>
          <a:prstGeom prst="rect">
            <a:avLst/>
          </a:prstGeom>
          <a:noFill/>
          <a:ln/>
        </p:spPr>
        <p:txBody>
          <a:bodyPr wrap="square" lIns="0" tIns="0" rIns="0" bIns="0" rtlCol="0" anchor="t"/>
          <a:lstStyle/>
          <a:p>
            <a:pPr algn="l" indent="0" marL="0">
              <a:buNone/>
            </a:pPr>
            <a:r>
              <a:rPr lang="en-US" sz="2600" b="1" dirty="0">
                <a:solidFill>
                  <a:srgbClr val="15803D"/>
                </a:solidFill>
                <a:latin typeface="Calibri" pitchFamily="34" charset="0"/>
                <a:ea typeface="Calibri" pitchFamily="34" charset="-122"/>
                <a:cs typeface="Calibri" pitchFamily="34" charset="-120"/>
              </a:rPr>
              <a:t>260 tests</a:t>
            </a:r>
            <a:endParaRPr lang="en-US" sz="2600" dirty="0"/>
          </a:p>
          <a:p>
            <a:pPr algn="l" indent="0" marL="0">
              <a:buNone/>
            </a:pPr>
            <a:r>
              <a:rPr lang="en-US" sz="1150" dirty="0">
                <a:solidFill>
                  <a:srgbClr val="0F172A"/>
                </a:solidFill>
                <a:latin typeface="Calibri" pitchFamily="34" charset="0"/>
                <a:ea typeface="Calibri" pitchFamily="34" charset="-122"/>
                <a:cs typeface="Calibri" pitchFamily="34" charset="-120"/>
              </a:rPr>
              <a:t>check norms, alerts and scores</a:t>
            </a:r>
            <a:endParaRPr lang="en-US" sz="2600" dirty="0"/>
          </a:p>
        </p:txBody>
      </p:sp>
      <p:sp>
        <p:nvSpPr>
          <p:cNvPr id="20" name="Shape 13"/>
          <p:cNvSpPr/>
          <p:nvPr/>
        </p:nvSpPr>
        <p:spPr>
          <a:xfrm>
            <a:off x="640080" y="4956048"/>
            <a:ext cx="960120" cy="402336"/>
          </a:xfrm>
          <a:prstGeom prst="roundRect">
            <a:avLst>
              <a:gd name="adj" fmla="val 50000"/>
            </a:avLst>
          </a:prstGeom>
          <a:solidFill>
            <a:srgbClr val="FFFFFF"/>
          </a:solidFill>
          <a:ln w="12700">
            <a:solidFill>
              <a:srgbClr val="E2EBE4"/>
            </a:solidFill>
            <a:prstDash val="solid"/>
          </a:ln>
        </p:spPr>
      </p:sp>
      <p:pic>
        <p:nvPicPr>
          <p:cNvPr id="21" name="Image 5" descr="preencoded.png">    </p:cNvPr>
          <p:cNvPicPr>
            <a:picLocks noChangeAspect="1"/>
          </p:cNvPicPr>
          <p:nvPr/>
        </p:nvPicPr>
        <p:blipFill>
          <a:blip r:embed="rId6"/>
          <a:stretch>
            <a:fillRect/>
          </a:stretch>
        </p:blipFill>
        <p:spPr>
          <a:xfrm>
            <a:off x="749808" y="5038344"/>
            <a:ext cx="237744" cy="237744"/>
          </a:xfrm>
          <a:prstGeom prst="rect">
            <a:avLst/>
          </a:prstGeom>
        </p:spPr>
      </p:pic>
      <p:sp>
        <p:nvSpPr>
          <p:cNvPr id="22" name="Text 14"/>
          <p:cNvSpPr/>
          <p:nvPr/>
        </p:nvSpPr>
        <p:spPr>
          <a:xfrm>
            <a:off x="1024128" y="4956048"/>
            <a:ext cx="521208" cy="402336"/>
          </a:xfrm>
          <a:prstGeom prst="rect">
            <a:avLst/>
          </a:prstGeom>
          <a:noFill/>
          <a:ln/>
        </p:spPr>
        <p:txBody>
          <a:bodyPr wrap="square" lIns="0" tIns="0" rIns="0" bIns="0" rtlCol="0" anchor="ctr"/>
          <a:lstStyle/>
          <a:p>
            <a:pPr indent="0" marL="0">
              <a:buNone/>
            </a:pPr>
            <a:r>
              <a:rPr lang="en-US" sz="1150" b="1" dirty="0">
                <a:solidFill>
                  <a:srgbClr val="0F172A"/>
                </a:solidFill>
                <a:latin typeface="Calibri" pitchFamily="34" charset="0"/>
                <a:ea typeface="Calibri" pitchFamily="34" charset="-122"/>
                <a:cs typeface="Calibri" pitchFamily="34" charset="-120"/>
              </a:rPr>
              <a:t>Flutter</a:t>
            </a:r>
            <a:endParaRPr lang="en-US" sz="1150" dirty="0"/>
          </a:p>
        </p:txBody>
      </p:sp>
      <p:sp>
        <p:nvSpPr>
          <p:cNvPr id="23" name="Shape 15"/>
          <p:cNvSpPr/>
          <p:nvPr/>
        </p:nvSpPr>
        <p:spPr>
          <a:xfrm>
            <a:off x="1709928" y="4956048"/>
            <a:ext cx="1600200" cy="402336"/>
          </a:xfrm>
          <a:prstGeom prst="roundRect">
            <a:avLst>
              <a:gd name="adj" fmla="val 50000"/>
            </a:avLst>
          </a:prstGeom>
          <a:solidFill>
            <a:srgbClr val="FFFFFF"/>
          </a:solidFill>
          <a:ln w="12700">
            <a:solidFill>
              <a:srgbClr val="E2EBE4"/>
            </a:solidFill>
            <a:prstDash val="solid"/>
          </a:ln>
        </p:spPr>
      </p:sp>
      <p:pic>
        <p:nvPicPr>
          <p:cNvPr id="24" name="Image 6" descr="preencoded.png">    </p:cNvPr>
          <p:cNvPicPr>
            <a:picLocks noChangeAspect="1"/>
          </p:cNvPicPr>
          <p:nvPr/>
        </p:nvPicPr>
        <p:blipFill>
          <a:blip r:embed="rId7"/>
          <a:stretch>
            <a:fillRect/>
          </a:stretch>
        </p:blipFill>
        <p:spPr>
          <a:xfrm>
            <a:off x="1819656" y="5038344"/>
            <a:ext cx="237744" cy="237744"/>
          </a:xfrm>
          <a:prstGeom prst="rect">
            <a:avLst/>
          </a:prstGeom>
        </p:spPr>
      </p:pic>
      <p:sp>
        <p:nvSpPr>
          <p:cNvPr id="25" name="Text 16"/>
          <p:cNvSpPr/>
          <p:nvPr/>
        </p:nvSpPr>
        <p:spPr>
          <a:xfrm>
            <a:off x="2093976" y="4956048"/>
            <a:ext cx="1161288" cy="402336"/>
          </a:xfrm>
          <a:prstGeom prst="rect">
            <a:avLst/>
          </a:prstGeom>
          <a:noFill/>
          <a:ln/>
        </p:spPr>
        <p:txBody>
          <a:bodyPr wrap="square" lIns="0" tIns="0" rIns="0" bIns="0" rtlCol="0" anchor="ctr"/>
          <a:lstStyle/>
          <a:p>
            <a:pPr indent="0" marL="0">
              <a:buNone/>
            </a:pPr>
            <a:r>
              <a:rPr lang="en-US" sz="1150" b="1" dirty="0">
                <a:solidFill>
                  <a:srgbClr val="0F172A"/>
                </a:solidFill>
                <a:latin typeface="Calibri" pitchFamily="34" charset="0"/>
                <a:ea typeface="Calibri" pitchFamily="34" charset="-122"/>
                <a:cs typeface="Calibri" pitchFamily="34" charset="-120"/>
              </a:rPr>
              <a:t>Supabase + Gemini</a:t>
            </a:r>
            <a:endParaRPr lang="en-US" sz="1150" dirty="0"/>
          </a:p>
        </p:txBody>
      </p:sp>
      <p:sp>
        <p:nvSpPr>
          <p:cNvPr id="26" name="Shape 17"/>
          <p:cNvSpPr/>
          <p:nvPr/>
        </p:nvSpPr>
        <p:spPr>
          <a:xfrm>
            <a:off x="3419856" y="4956048"/>
            <a:ext cx="1280160" cy="402336"/>
          </a:xfrm>
          <a:prstGeom prst="roundRect">
            <a:avLst>
              <a:gd name="adj" fmla="val 50000"/>
            </a:avLst>
          </a:prstGeom>
          <a:solidFill>
            <a:srgbClr val="FFFFFF"/>
          </a:solidFill>
          <a:ln w="12700">
            <a:solidFill>
              <a:srgbClr val="E2EBE4"/>
            </a:solidFill>
            <a:prstDash val="solid"/>
          </a:ln>
        </p:spPr>
      </p:sp>
      <p:pic>
        <p:nvPicPr>
          <p:cNvPr id="27" name="Image 7" descr="preencoded.png">    </p:cNvPr>
          <p:cNvPicPr>
            <a:picLocks noChangeAspect="1"/>
          </p:cNvPicPr>
          <p:nvPr/>
        </p:nvPicPr>
        <p:blipFill>
          <a:blip r:embed="rId8"/>
          <a:stretch>
            <a:fillRect/>
          </a:stretch>
        </p:blipFill>
        <p:spPr>
          <a:xfrm>
            <a:off x="3529584" y="5038344"/>
            <a:ext cx="237744" cy="237744"/>
          </a:xfrm>
          <a:prstGeom prst="rect">
            <a:avLst/>
          </a:prstGeom>
        </p:spPr>
      </p:pic>
      <p:sp>
        <p:nvSpPr>
          <p:cNvPr id="28" name="Text 18"/>
          <p:cNvSpPr/>
          <p:nvPr/>
        </p:nvSpPr>
        <p:spPr>
          <a:xfrm>
            <a:off x="3803904" y="4956048"/>
            <a:ext cx="841248" cy="402336"/>
          </a:xfrm>
          <a:prstGeom prst="rect">
            <a:avLst/>
          </a:prstGeom>
          <a:noFill/>
          <a:ln/>
        </p:spPr>
        <p:txBody>
          <a:bodyPr wrap="square" lIns="0" tIns="0" rIns="0" bIns="0" rtlCol="0" anchor="ctr"/>
          <a:lstStyle/>
          <a:p>
            <a:pPr indent="0" marL="0">
              <a:buNone/>
            </a:pPr>
            <a:r>
              <a:rPr lang="en-US" sz="1150" b="1" dirty="0">
                <a:solidFill>
                  <a:srgbClr val="0F172A"/>
                </a:solidFill>
                <a:latin typeface="Calibri" pitchFamily="34" charset="0"/>
                <a:ea typeface="Calibri" pitchFamily="34" charset="-122"/>
                <a:cs typeface="Calibri" pitchFamily="34" charset="-120"/>
              </a:rPr>
              <a:t>Works offline</a:t>
            </a:r>
            <a:endParaRPr lang="en-US" sz="1150" dirty="0"/>
          </a:p>
        </p:txBody>
      </p:sp>
      <p:sp>
        <p:nvSpPr>
          <p:cNvPr id="29" name="Shape 19"/>
          <p:cNvSpPr/>
          <p:nvPr/>
        </p:nvSpPr>
        <p:spPr>
          <a:xfrm>
            <a:off x="4809744" y="4956048"/>
            <a:ext cx="1097280" cy="402336"/>
          </a:xfrm>
          <a:prstGeom prst="roundRect">
            <a:avLst>
              <a:gd name="adj" fmla="val 50000"/>
            </a:avLst>
          </a:prstGeom>
          <a:solidFill>
            <a:srgbClr val="FFFFFF"/>
          </a:solidFill>
          <a:ln w="12700">
            <a:solidFill>
              <a:srgbClr val="E2EBE4"/>
            </a:solidFill>
            <a:prstDash val="solid"/>
          </a:ln>
        </p:spPr>
      </p:sp>
      <p:pic>
        <p:nvPicPr>
          <p:cNvPr id="30" name="Image 8" descr="preencoded.png">    </p:cNvPr>
          <p:cNvPicPr>
            <a:picLocks noChangeAspect="1"/>
          </p:cNvPicPr>
          <p:nvPr/>
        </p:nvPicPr>
        <p:blipFill>
          <a:blip r:embed="rId9"/>
          <a:stretch>
            <a:fillRect/>
          </a:stretch>
        </p:blipFill>
        <p:spPr>
          <a:xfrm>
            <a:off x="4919472" y="5038344"/>
            <a:ext cx="237744" cy="237744"/>
          </a:xfrm>
          <a:prstGeom prst="rect">
            <a:avLst/>
          </a:prstGeom>
        </p:spPr>
      </p:pic>
      <p:sp>
        <p:nvSpPr>
          <p:cNvPr id="31" name="Text 20"/>
          <p:cNvSpPr/>
          <p:nvPr/>
        </p:nvSpPr>
        <p:spPr>
          <a:xfrm>
            <a:off x="5193792" y="4956048"/>
            <a:ext cx="658368" cy="402336"/>
          </a:xfrm>
          <a:prstGeom prst="rect">
            <a:avLst/>
          </a:prstGeom>
          <a:noFill/>
          <a:ln/>
        </p:spPr>
        <p:txBody>
          <a:bodyPr wrap="square" lIns="0" tIns="0" rIns="0" bIns="0" rtlCol="0" anchor="ctr"/>
          <a:lstStyle/>
          <a:p>
            <a:pPr indent="0" marL="0">
              <a:buNone/>
            </a:pPr>
            <a:r>
              <a:rPr lang="en-US" sz="1150" b="1" dirty="0">
                <a:solidFill>
                  <a:srgbClr val="0F172A"/>
                </a:solidFill>
                <a:latin typeface="Calibri" pitchFamily="34" charset="0"/>
                <a:ea typeface="Calibri" pitchFamily="34" charset="-122"/>
                <a:cs typeface="Calibri" pitchFamily="34" charset="-120"/>
              </a:rPr>
              <a:t>uz · ru · en</a:t>
            </a:r>
            <a:endParaRPr lang="en-US" sz="1150" dirty="0"/>
          </a:p>
        </p:txBody>
      </p:sp>
      <p:sp>
        <p:nvSpPr>
          <p:cNvPr id="32" name="Text 21"/>
          <p:cNvSpPr/>
          <p:nvPr/>
        </p:nvSpPr>
        <p:spPr>
          <a:xfrm>
            <a:off x="640080" y="5532120"/>
            <a:ext cx="5486400" cy="457200"/>
          </a:xfrm>
          <a:prstGeom prst="rect">
            <a:avLst/>
          </a:prstGeom>
          <a:noFill/>
          <a:ln/>
        </p:spPr>
        <p:txBody>
          <a:bodyPr wrap="square" lIns="0" tIns="0" rIns="0" bIns="0" rtlCol="0" anchor="ctr"/>
          <a:lstStyle/>
          <a:p>
            <a:pPr indent="0" marL="0">
              <a:buNone/>
            </a:pPr>
            <a:r>
              <a:rPr lang="en-US" sz="1200" dirty="0">
                <a:solidFill>
                  <a:srgbClr val="52665A"/>
                </a:solidFill>
                <a:latin typeface="Calibri" pitchFamily="34" charset="0"/>
                <a:ea typeface="Calibri" pitchFamily="34" charset="-122"/>
                <a:cs typeface="Calibri" pitchFamily="34" charset="-120"/>
              </a:rPr>
              <a:t>Alerts are counted by plain code against the norms — they never depend on an AI answer.</a:t>
            </a:r>
            <a:endParaRPr lang="en-US" sz="1200" dirty="0"/>
          </a:p>
        </p:txBody>
      </p:sp>
      <p:sp>
        <p:nvSpPr>
          <p:cNvPr id="33" name="Shape 22"/>
          <p:cNvSpPr/>
          <p:nvPr/>
        </p:nvSpPr>
        <p:spPr>
          <a:xfrm>
            <a:off x="6400800" y="1645920"/>
            <a:ext cx="5148072" cy="4617720"/>
          </a:xfrm>
          <a:prstGeom prst="roundRect">
            <a:avLst>
              <a:gd name="adj" fmla="val 3564"/>
            </a:avLst>
          </a:prstGeom>
          <a:solidFill>
            <a:srgbClr val="FFFFFF"/>
          </a:solidFill>
          <a:ln w="12700">
            <a:solidFill>
              <a:srgbClr val="E2EBE4"/>
            </a:solidFill>
            <a:prstDash val="solid"/>
          </a:ln>
        </p:spPr>
      </p:sp>
      <p:pic>
        <p:nvPicPr>
          <p:cNvPr id="34" name="Image 9" descr="/home/abraxis/Desktop/AgroZen/docs/studexpo/assets/logo.png">    </p:cNvPr>
          <p:cNvPicPr>
            <a:picLocks noChangeAspect="1"/>
          </p:cNvPicPr>
          <p:nvPr/>
        </p:nvPicPr>
        <p:blipFill>
          <a:blip r:embed="rId10"/>
          <a:stretch>
            <a:fillRect/>
          </a:stretch>
        </p:blipFill>
        <p:spPr>
          <a:xfrm>
            <a:off x="6601968" y="1810512"/>
            <a:ext cx="438912" cy="438912"/>
          </a:xfrm>
          <a:prstGeom prst="rect">
            <a:avLst/>
          </a:prstGeom>
        </p:spPr>
      </p:pic>
      <p:sp>
        <p:nvSpPr>
          <p:cNvPr id="35" name="Text 23"/>
          <p:cNvSpPr/>
          <p:nvPr/>
        </p:nvSpPr>
        <p:spPr>
          <a:xfrm>
            <a:off x="7150608" y="1801368"/>
            <a:ext cx="4206240" cy="502920"/>
          </a:xfrm>
          <a:prstGeom prst="rect">
            <a:avLst/>
          </a:prstGeom>
          <a:noFill/>
          <a:ln/>
        </p:spPr>
        <p:txBody>
          <a:bodyPr wrap="square" lIns="0" tIns="0" rIns="0" bIns="0" rtlCol="0" anchor="t"/>
          <a:lstStyle/>
          <a:p>
            <a:pPr algn="l" indent="0" marL="0">
              <a:buNone/>
            </a:pPr>
            <a:r>
              <a:rPr lang="en-US" sz="1400" b="1" dirty="0">
                <a:solidFill>
                  <a:srgbClr val="0F172A"/>
                </a:solidFill>
                <a:latin typeface="Calibri" pitchFamily="34" charset="0"/>
                <a:ea typeface="Calibri" pitchFamily="34" charset="-122"/>
                <a:cs typeface="Calibri" pitchFamily="34" charset="-120"/>
              </a:rPr>
              <a:t>AgroZen assistant</a:t>
            </a:r>
            <a:endParaRPr lang="en-US" sz="1400" dirty="0"/>
          </a:p>
          <a:p>
            <a:pPr algn="l" indent="0" marL="0">
              <a:buNone/>
            </a:pPr>
            <a:r>
              <a:rPr lang="en-US" sz="1100" dirty="0">
                <a:solidFill>
                  <a:srgbClr val="52665A"/>
                </a:solidFill>
                <a:latin typeface="Calibri" pitchFamily="34" charset="0"/>
                <a:ea typeface="Calibri" pitchFamily="34" charset="-122"/>
                <a:cs typeface="Calibri" pitchFamily="34" charset="-120"/>
              </a:rPr>
              <a:t>Answers only from a verified knowledge base</a:t>
            </a:r>
            <a:endParaRPr lang="en-US" sz="1400" dirty="0"/>
          </a:p>
        </p:txBody>
      </p:sp>
      <p:sp>
        <p:nvSpPr>
          <p:cNvPr id="36" name="Shape 24"/>
          <p:cNvSpPr/>
          <p:nvPr/>
        </p:nvSpPr>
        <p:spPr>
          <a:xfrm>
            <a:off x="6601968" y="2423160"/>
            <a:ext cx="4754880" cy="0"/>
          </a:xfrm>
          <a:prstGeom prst="line">
            <a:avLst/>
          </a:prstGeom>
          <a:noFill/>
          <a:ln w="12700">
            <a:solidFill>
              <a:srgbClr val="E2EBE4"/>
            </a:solidFill>
            <a:prstDash val="solid"/>
          </a:ln>
        </p:spPr>
      </p:sp>
      <p:sp>
        <p:nvSpPr>
          <p:cNvPr id="37" name="Shape 25"/>
          <p:cNvSpPr/>
          <p:nvPr/>
        </p:nvSpPr>
        <p:spPr>
          <a:xfrm>
            <a:off x="7818120" y="2606040"/>
            <a:ext cx="3520440" cy="749808"/>
          </a:xfrm>
          <a:prstGeom prst="roundRect">
            <a:avLst>
              <a:gd name="adj" fmla="val 24390"/>
            </a:avLst>
          </a:prstGeom>
          <a:solidFill>
            <a:srgbClr val="15803D"/>
          </a:solidFill>
          <a:ln/>
        </p:spPr>
      </p:sp>
      <p:sp>
        <p:nvSpPr>
          <p:cNvPr id="38" name="Text 26"/>
          <p:cNvSpPr/>
          <p:nvPr/>
        </p:nvSpPr>
        <p:spPr>
          <a:xfrm>
            <a:off x="7955280" y="2624328"/>
            <a:ext cx="3291840" cy="713232"/>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My chicks are crowding under the heater. What should I do?</a:t>
            </a:r>
            <a:endParaRPr lang="en-US" sz="1250" dirty="0"/>
          </a:p>
        </p:txBody>
      </p:sp>
      <p:sp>
        <p:nvSpPr>
          <p:cNvPr id="39" name="Text 27"/>
          <p:cNvSpPr/>
          <p:nvPr/>
        </p:nvSpPr>
        <p:spPr>
          <a:xfrm>
            <a:off x="7818120" y="3383280"/>
            <a:ext cx="3520440" cy="228600"/>
          </a:xfrm>
          <a:prstGeom prst="rect">
            <a:avLst/>
          </a:prstGeom>
          <a:noFill/>
          <a:ln/>
        </p:spPr>
        <p:txBody>
          <a:bodyPr wrap="square" lIns="0" tIns="0" rIns="0" bIns="0" rtlCol="0" anchor="ctr"/>
          <a:lstStyle/>
          <a:p>
            <a:pPr algn="r" indent="0" marL="0">
              <a:buNone/>
            </a:pPr>
            <a:r>
              <a:rPr lang="en-US" sz="1000" dirty="0">
                <a:solidFill>
                  <a:srgbClr val="7A8E7E"/>
                </a:solidFill>
                <a:latin typeface="Calibri" pitchFamily="34" charset="0"/>
                <a:ea typeface="Calibri" pitchFamily="34" charset="-122"/>
                <a:cs typeface="Calibri" pitchFamily="34" charset="-120"/>
              </a:rPr>
              <a:t>voice · text · photo</a:t>
            </a:r>
            <a:endParaRPr lang="en-US" sz="1000" dirty="0"/>
          </a:p>
        </p:txBody>
      </p:sp>
      <p:sp>
        <p:nvSpPr>
          <p:cNvPr id="40" name="Shape 28"/>
          <p:cNvSpPr/>
          <p:nvPr/>
        </p:nvSpPr>
        <p:spPr>
          <a:xfrm>
            <a:off x="6601968" y="3675888"/>
            <a:ext cx="4160520" cy="1261872"/>
          </a:xfrm>
          <a:prstGeom prst="roundRect">
            <a:avLst>
              <a:gd name="adj" fmla="val 14493"/>
            </a:avLst>
          </a:prstGeom>
          <a:solidFill>
            <a:srgbClr val="F1F5F2"/>
          </a:solidFill>
          <a:ln/>
        </p:spPr>
      </p:sp>
      <p:sp>
        <p:nvSpPr>
          <p:cNvPr id="41" name="Text 29"/>
          <p:cNvSpPr/>
          <p:nvPr/>
        </p:nvSpPr>
        <p:spPr>
          <a:xfrm>
            <a:off x="6739128" y="3721608"/>
            <a:ext cx="3931920" cy="1170432"/>
          </a:xfrm>
          <a:prstGeom prst="rect">
            <a:avLst/>
          </a:prstGeom>
          <a:noFill/>
          <a:ln/>
        </p:spPr>
        <p:txBody>
          <a:bodyPr wrap="square" lIns="0" tIns="0" rIns="0" bIns="0" rtlCol="0" anchor="ctr"/>
          <a:lstStyle/>
          <a:p>
            <a:pPr indent="0" marL="0">
              <a:buNone/>
            </a:pPr>
            <a:r>
              <a:rPr lang="en-US" sz="1250" dirty="0">
                <a:solidFill>
                  <a:srgbClr val="0F172A"/>
                </a:solidFill>
                <a:latin typeface="Calibri" pitchFamily="34" charset="0"/>
                <a:ea typeface="Calibri" pitchFamily="34" charset="-122"/>
                <a:cs typeface="Calibri" pitchFamily="34" charset="-120"/>
              </a:rPr>
              <a:t>That is a sign of cold. On day 3 the house should be 31.5°C — raise the heating and check that the chicks spread evenly.</a:t>
            </a:r>
            <a:endParaRPr lang="en-US" sz="1250" dirty="0"/>
          </a:p>
          <a:p>
            <a:pPr indent="0" marL="0">
              <a:buNone/>
            </a:pPr>
            <a:r>
              <a:rPr lang="en-US" sz="1000" dirty="0">
                <a:solidFill>
                  <a:srgbClr val="7A8E7E"/>
                </a:solidFill>
                <a:latin typeface="Calibri" pitchFamily="34" charset="0"/>
                <a:ea typeface="Calibri" pitchFamily="34" charset="-122"/>
                <a:cs typeface="Calibri" pitchFamily="34" charset="-120"/>
              </a:rPr>
              <a:t>Source: AgroZen knowledge base · Ross-308</a:t>
            </a:r>
            <a:endParaRPr lang="en-US" sz="1250" dirty="0"/>
          </a:p>
        </p:txBody>
      </p:sp>
      <p:sp>
        <p:nvSpPr>
          <p:cNvPr id="42" name="Shape 30"/>
          <p:cNvSpPr/>
          <p:nvPr/>
        </p:nvSpPr>
        <p:spPr>
          <a:xfrm>
            <a:off x="6601968" y="5074920"/>
            <a:ext cx="4754880" cy="1005840"/>
          </a:xfrm>
          <a:prstGeom prst="roundRect">
            <a:avLst>
              <a:gd name="adj" fmla="val 16364"/>
            </a:avLst>
          </a:prstGeom>
          <a:solidFill>
            <a:srgbClr val="FEE2E2"/>
          </a:solidFill>
          <a:ln/>
        </p:spPr>
      </p:sp>
      <p:sp>
        <p:nvSpPr>
          <p:cNvPr id="43" name="Shape 31"/>
          <p:cNvSpPr/>
          <p:nvPr/>
        </p:nvSpPr>
        <p:spPr>
          <a:xfrm>
            <a:off x="6748272" y="5303520"/>
            <a:ext cx="548640" cy="548640"/>
          </a:xfrm>
          <a:prstGeom prst="ellipse">
            <a:avLst/>
          </a:prstGeom>
          <a:solidFill>
            <a:srgbClr val="DC2626"/>
          </a:solidFill>
          <a:ln/>
        </p:spPr>
      </p:sp>
      <p:pic>
        <p:nvPicPr>
          <p:cNvPr id="44" name="Image 10" descr="preencoded.png">    </p:cNvPr>
          <p:cNvPicPr>
            <a:picLocks noChangeAspect="1"/>
          </p:cNvPicPr>
          <p:nvPr/>
        </p:nvPicPr>
        <p:blipFill>
          <a:blip r:embed="rId11"/>
          <a:stretch>
            <a:fillRect/>
          </a:stretch>
        </p:blipFill>
        <p:spPr>
          <a:xfrm>
            <a:off x="6874459" y="5429707"/>
            <a:ext cx="296266" cy="296266"/>
          </a:xfrm>
          <a:prstGeom prst="rect">
            <a:avLst/>
          </a:prstGeom>
        </p:spPr>
      </p:pic>
      <p:sp>
        <p:nvSpPr>
          <p:cNvPr id="45" name="Text 32"/>
          <p:cNvSpPr/>
          <p:nvPr/>
        </p:nvSpPr>
        <p:spPr>
          <a:xfrm>
            <a:off x="7424928" y="5175504"/>
            <a:ext cx="3840480" cy="822960"/>
          </a:xfrm>
          <a:prstGeom prst="rect">
            <a:avLst/>
          </a:prstGeom>
          <a:noFill/>
          <a:ln/>
        </p:spPr>
        <p:txBody>
          <a:bodyPr wrap="square" lIns="0" tIns="0" rIns="0" bIns="0" rtlCol="0" anchor="ctr"/>
          <a:lstStyle/>
          <a:p>
            <a:pPr algn="l" indent="0" marL="0">
              <a:buNone/>
            </a:pPr>
            <a:r>
              <a:rPr lang="en-US" sz="1350" b="1" dirty="0">
                <a:solidFill>
                  <a:srgbClr val="0F172A"/>
                </a:solidFill>
                <a:latin typeface="Calibri" pitchFamily="34" charset="0"/>
                <a:ea typeface="Calibri" pitchFamily="34" charset="-122"/>
                <a:cs typeface="Calibri" pitchFamily="34" charset="-120"/>
              </a:rPr>
              <a:t>Not in the base? "Call your district vet."</a:t>
            </a:r>
            <a:endParaRPr lang="en-US" sz="1350" dirty="0"/>
          </a:p>
          <a:p>
            <a:pPr algn="l" indent="0" marL="0">
              <a:buNone/>
            </a:pPr>
            <a:r>
              <a:rPr lang="en-US" sz="1150" dirty="0">
                <a:solidFill>
                  <a:srgbClr val="0F172A"/>
                </a:solidFill>
                <a:latin typeface="Calibri" pitchFamily="34" charset="0"/>
                <a:ea typeface="Calibri" pitchFamily="34" charset="-122"/>
                <a:cs typeface="Calibri" pitchFamily="34" charset="-120"/>
              </a:rPr>
              <a:t>No diagnoses, no medicines, no dosages — ever.</a:t>
            </a:r>
            <a:endParaRPr lang="en-US" sz="1350" dirty="0"/>
          </a:p>
        </p:txBody>
      </p:sp>
      <p:sp>
        <p:nvSpPr>
          <p:cNvPr id="46" name="Text 33"/>
          <p:cNvSpPr/>
          <p:nvPr/>
        </p:nvSpPr>
        <p:spPr>
          <a:xfrm>
            <a:off x="11274552" y="6419088"/>
            <a:ext cx="457200" cy="274320"/>
          </a:xfrm>
          <a:prstGeom prst="rect">
            <a:avLst/>
          </a:prstGeom>
          <a:noFill/>
          <a:ln/>
        </p:spPr>
        <p:txBody>
          <a:bodyPr wrap="square" lIns="0" tIns="0" rIns="0" bIns="0" rtlCol="0" anchor="ctr"/>
          <a:lstStyle/>
          <a:p>
            <a:pPr algn="r" indent="0" marL="0">
              <a:buNone/>
            </a:pPr>
            <a:r>
              <a:rPr lang="en-US" sz="1000" dirty="0">
                <a:solidFill>
                  <a:srgbClr val="7A8E7E"/>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52E16"/>
        </a:solidFill>
      </p:bgPr>
    </p:bg>
    <p:spTree>
      <p:nvGrpSpPr>
        <p:cNvPr id="1" name=""/>
        <p:cNvGrpSpPr/>
        <p:nvPr/>
      </p:nvGrpSpPr>
      <p:grpSpPr>
        <a:xfrm>
          <a:off x="0" y="0"/>
          <a:ext cx="0" cy="0"/>
          <a:chOff x="0" y="0"/>
          <a:chExt cx="0" cy="0"/>
        </a:xfrm>
      </p:grpSpPr>
      <p:sp>
        <p:nvSpPr>
          <p:cNvPr id="2" name="Shape 0"/>
          <p:cNvSpPr/>
          <p:nvPr/>
        </p:nvSpPr>
        <p:spPr>
          <a:xfrm>
            <a:off x="7498080" y="2926080"/>
            <a:ext cx="5943600" cy="5943600"/>
          </a:xfrm>
          <a:prstGeom prst="ellipse">
            <a:avLst/>
          </a:prstGeom>
          <a:solidFill>
            <a:srgbClr val="15803D">
              <a:alpha val="40000"/>
            </a:srgbClr>
          </a:solidFill>
          <a:ln/>
        </p:spPr>
      </p:sp>
      <p:sp>
        <p:nvSpPr>
          <p:cNvPr id="3" name="Text 1"/>
          <p:cNvSpPr/>
          <p:nvPr/>
        </p:nvSpPr>
        <p:spPr>
          <a:xfrm>
            <a:off x="640080" y="502920"/>
            <a:ext cx="7315200" cy="292608"/>
          </a:xfrm>
          <a:prstGeom prst="rect">
            <a:avLst/>
          </a:prstGeom>
          <a:noFill/>
          <a:ln/>
        </p:spPr>
        <p:txBody>
          <a:bodyPr wrap="square" lIns="0" tIns="0" rIns="0" bIns="0" rtlCol="0" anchor="ctr"/>
          <a:lstStyle/>
          <a:p>
            <a:pPr indent="0" marL="0">
              <a:buNone/>
            </a:pPr>
            <a:r>
              <a:rPr lang="en-US" sz="1300" b="1" spc="200" kern="0" dirty="0">
                <a:solidFill>
                  <a:srgbClr val="F59E0B"/>
                </a:solidFill>
                <a:latin typeface="Calibri" pitchFamily="34" charset="0"/>
                <a:ea typeface="Calibri" pitchFamily="34" charset="-122"/>
                <a:cs typeface="Calibri" pitchFamily="34" charset="-120"/>
              </a:rPr>
              <a:t>NEXT STEP</a:t>
            </a:r>
            <a:endParaRPr lang="en-US" sz="1300" dirty="0"/>
          </a:p>
        </p:txBody>
      </p:sp>
      <p:sp>
        <p:nvSpPr>
          <p:cNvPr id="4" name="Text 2"/>
          <p:cNvSpPr/>
          <p:nvPr/>
        </p:nvSpPr>
        <p:spPr>
          <a:xfrm>
            <a:off x="640080" y="822960"/>
            <a:ext cx="6949440" cy="82296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A pilot with 10 farmers and a bank in Namangan region</a:t>
            </a:r>
            <a:endParaRPr lang="en-US" sz="3200" dirty="0"/>
          </a:p>
        </p:txBody>
      </p:sp>
      <p:sp>
        <p:nvSpPr>
          <p:cNvPr id="5" name="Text 3"/>
          <p:cNvSpPr/>
          <p:nvPr/>
        </p:nvSpPr>
        <p:spPr>
          <a:xfrm>
            <a:off x="640080" y="2057400"/>
            <a:ext cx="2194560" cy="1051560"/>
          </a:xfrm>
          <a:prstGeom prst="rect">
            <a:avLst/>
          </a:prstGeom>
          <a:noFill/>
          <a:ln/>
        </p:spPr>
        <p:txBody>
          <a:bodyPr wrap="square" lIns="0" tIns="0" rIns="0" bIns="0" rtlCol="0" anchor="t"/>
          <a:lstStyle/>
          <a:p>
            <a:pPr indent="0" marL="0">
              <a:buNone/>
            </a:pPr>
            <a:r>
              <a:rPr lang="en-US" sz="3400" b="1" dirty="0">
                <a:solidFill>
                  <a:srgbClr val="F97316"/>
                </a:solidFill>
                <a:latin typeface="Calibri" pitchFamily="34" charset="0"/>
                <a:ea typeface="Calibri" pitchFamily="34" charset="-122"/>
                <a:cs typeface="Calibri" pitchFamily="34" charset="-120"/>
              </a:rPr>
              <a:t>92–95%</a:t>
            </a:r>
            <a:endParaRPr lang="en-US" sz="3400" dirty="0"/>
          </a:p>
          <a:p>
            <a:pPr indent="0" marL="0">
              <a:buNone/>
            </a:pPr>
            <a:r>
              <a:rPr lang="en-US" sz="1300" dirty="0">
                <a:solidFill>
                  <a:srgbClr val="DCFCE7"/>
                </a:solidFill>
                <a:latin typeface="Calibri" pitchFamily="34" charset="0"/>
                <a:ea typeface="Calibri" pitchFamily="34" charset="-122"/>
                <a:cs typeface="Calibri" pitchFamily="34" charset="-120"/>
              </a:rPr>
              <a:t>flock survival</a:t>
            </a:r>
            <a:endParaRPr lang="en-US" sz="3400" dirty="0"/>
          </a:p>
        </p:txBody>
      </p:sp>
      <p:sp>
        <p:nvSpPr>
          <p:cNvPr id="6" name="Text 4"/>
          <p:cNvSpPr/>
          <p:nvPr/>
        </p:nvSpPr>
        <p:spPr>
          <a:xfrm>
            <a:off x="2971800" y="2057400"/>
            <a:ext cx="2194560" cy="1051560"/>
          </a:xfrm>
          <a:prstGeom prst="rect">
            <a:avLst/>
          </a:prstGeom>
          <a:noFill/>
          <a:ln/>
        </p:spPr>
        <p:txBody>
          <a:bodyPr wrap="square" lIns="0" tIns="0" rIns="0" bIns="0" rtlCol="0" anchor="t"/>
          <a:lstStyle/>
          <a:p>
            <a:pPr indent="0" marL="0">
              <a:buNone/>
            </a:pPr>
            <a:r>
              <a:rPr lang="en-US" sz="3400" b="1" dirty="0">
                <a:solidFill>
                  <a:srgbClr val="F97316"/>
                </a:solidFill>
                <a:latin typeface="Calibri" pitchFamily="34" charset="0"/>
                <a:ea typeface="Calibri" pitchFamily="34" charset="-122"/>
                <a:cs typeface="Calibri" pitchFamily="34" charset="-120"/>
              </a:rPr>
              <a:t>80%+</a:t>
            </a:r>
            <a:endParaRPr lang="en-US" sz="3400" dirty="0"/>
          </a:p>
          <a:p>
            <a:pPr indent="0" marL="0">
              <a:buNone/>
            </a:pPr>
            <a:r>
              <a:rPr lang="en-US" sz="1300" dirty="0">
                <a:solidFill>
                  <a:srgbClr val="DCFCE7"/>
                </a:solidFill>
                <a:latin typeface="Calibri" pitchFamily="34" charset="0"/>
                <a:ea typeface="Calibri" pitchFamily="34" charset="-122"/>
                <a:cs typeface="Calibri" pitchFamily="34" charset="-120"/>
              </a:rPr>
              <a:t>days with diary entries</a:t>
            </a:r>
            <a:endParaRPr lang="en-US" sz="3400" dirty="0"/>
          </a:p>
        </p:txBody>
      </p:sp>
      <p:sp>
        <p:nvSpPr>
          <p:cNvPr id="7" name="Text 5"/>
          <p:cNvSpPr/>
          <p:nvPr/>
        </p:nvSpPr>
        <p:spPr>
          <a:xfrm>
            <a:off x="5303520" y="2057400"/>
            <a:ext cx="2194560" cy="1051560"/>
          </a:xfrm>
          <a:prstGeom prst="rect">
            <a:avLst/>
          </a:prstGeom>
          <a:noFill/>
          <a:ln/>
        </p:spPr>
        <p:txBody>
          <a:bodyPr wrap="square" lIns="0" tIns="0" rIns="0" bIns="0" rtlCol="0" anchor="t"/>
          <a:lstStyle/>
          <a:p>
            <a:pPr indent="0" marL="0">
              <a:buNone/>
            </a:pPr>
            <a:r>
              <a:rPr lang="en-US" sz="3400" b="1" dirty="0">
                <a:solidFill>
                  <a:srgbClr val="F97316"/>
                </a:solidFill>
                <a:latin typeface="Calibri" pitchFamily="34" charset="0"/>
                <a:ea typeface="Calibri" pitchFamily="34" charset="-122"/>
                <a:cs typeface="Calibri" pitchFamily="34" charset="-120"/>
              </a:rPr>
              <a:t>96%+</a:t>
            </a:r>
            <a:endParaRPr lang="en-US" sz="3400" dirty="0"/>
          </a:p>
          <a:p>
            <a:pPr indent="0" marL="0">
              <a:buNone/>
            </a:pPr>
            <a:r>
              <a:rPr lang="en-US" sz="1300" dirty="0">
                <a:solidFill>
                  <a:srgbClr val="DCFCE7"/>
                </a:solidFill>
                <a:latin typeface="Calibri" pitchFamily="34" charset="0"/>
                <a:ea typeface="Calibri" pitchFamily="34" charset="-122"/>
                <a:cs typeface="Calibri" pitchFamily="34" charset="-120"/>
              </a:rPr>
              <a:t>AI answers matching the norms</a:t>
            </a:r>
            <a:endParaRPr lang="en-US" sz="3400" dirty="0"/>
          </a:p>
        </p:txBody>
      </p:sp>
      <p:sp>
        <p:nvSpPr>
          <p:cNvPr id="8" name="Text 6"/>
          <p:cNvSpPr/>
          <p:nvPr/>
        </p:nvSpPr>
        <p:spPr>
          <a:xfrm>
            <a:off x="640080" y="3200400"/>
            <a:ext cx="6858000" cy="320040"/>
          </a:xfrm>
          <a:prstGeom prst="rect">
            <a:avLst/>
          </a:prstGeom>
          <a:noFill/>
          <a:ln/>
        </p:spPr>
        <p:txBody>
          <a:bodyPr wrap="square" lIns="0" tIns="0" rIns="0" bIns="0" rtlCol="0" anchor="ctr"/>
          <a:lstStyle/>
          <a:p>
            <a:pPr indent="0" marL="0">
              <a:buNone/>
            </a:pPr>
            <a:r>
              <a:rPr lang="en-US" sz="1250" i="1" dirty="0">
                <a:solidFill>
                  <a:srgbClr val="DCFCE7"/>
                </a:solidFill>
                <a:latin typeface="Calibri" pitchFamily="34" charset="0"/>
                <a:ea typeface="Calibri" pitchFamily="34" charset="-122"/>
                <a:cs typeface="Calibri" pitchFamily="34" charset="-120"/>
              </a:rPr>
              <a:t>Target figures per flock (42 days).</a:t>
            </a:r>
            <a:endParaRPr lang="en-US" sz="1250" dirty="0"/>
          </a:p>
        </p:txBody>
      </p:sp>
      <p:sp>
        <p:nvSpPr>
          <p:cNvPr id="9" name="Shape 7"/>
          <p:cNvSpPr/>
          <p:nvPr/>
        </p:nvSpPr>
        <p:spPr>
          <a:xfrm>
            <a:off x="640080" y="3794760"/>
            <a:ext cx="384048" cy="384048"/>
          </a:xfrm>
          <a:prstGeom prst="ellipse">
            <a:avLst/>
          </a:prstGeom>
          <a:solidFill>
            <a:srgbClr val="15803D"/>
          </a:solidFill>
          <a:ln/>
        </p:spPr>
      </p:sp>
      <p:pic>
        <p:nvPicPr>
          <p:cNvPr id="10" name="Image 0" descr="preencoded.png">    </p:cNvPr>
          <p:cNvPicPr>
            <a:picLocks noChangeAspect="1"/>
          </p:cNvPicPr>
          <p:nvPr/>
        </p:nvPicPr>
        <p:blipFill>
          <a:blip r:embed="rId1"/>
          <a:stretch>
            <a:fillRect/>
          </a:stretch>
        </p:blipFill>
        <p:spPr>
          <a:xfrm>
            <a:off x="728411" y="3883091"/>
            <a:ext cx="207386" cy="207386"/>
          </a:xfrm>
          <a:prstGeom prst="rect">
            <a:avLst/>
          </a:prstGeom>
        </p:spPr>
      </p:pic>
      <p:sp>
        <p:nvSpPr>
          <p:cNvPr id="11" name="Text 8"/>
          <p:cNvSpPr/>
          <p:nvPr/>
        </p:nvSpPr>
        <p:spPr>
          <a:xfrm>
            <a:off x="1161288" y="3794760"/>
            <a:ext cx="6035040" cy="384048"/>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Sensors and AI cameras in two pilot farms</a:t>
            </a:r>
            <a:endParaRPr lang="en-US" sz="1450" dirty="0"/>
          </a:p>
        </p:txBody>
      </p:sp>
      <p:sp>
        <p:nvSpPr>
          <p:cNvPr id="12" name="Shape 9"/>
          <p:cNvSpPr/>
          <p:nvPr/>
        </p:nvSpPr>
        <p:spPr>
          <a:xfrm>
            <a:off x="640080" y="4343400"/>
            <a:ext cx="384048" cy="384048"/>
          </a:xfrm>
          <a:prstGeom prst="ellipse">
            <a:avLst/>
          </a:prstGeom>
          <a:solidFill>
            <a:srgbClr val="15803D"/>
          </a:solidFill>
          <a:ln/>
        </p:spPr>
      </p:sp>
      <p:pic>
        <p:nvPicPr>
          <p:cNvPr id="13" name="Image 1" descr="preencoded.png">    </p:cNvPr>
          <p:cNvPicPr>
            <a:picLocks noChangeAspect="1"/>
          </p:cNvPicPr>
          <p:nvPr/>
        </p:nvPicPr>
        <p:blipFill>
          <a:blip r:embed="rId2"/>
          <a:stretch>
            <a:fillRect/>
          </a:stretch>
        </p:blipFill>
        <p:spPr>
          <a:xfrm>
            <a:off x="728411" y="4431731"/>
            <a:ext cx="207386" cy="207386"/>
          </a:xfrm>
          <a:prstGeom prst="rect">
            <a:avLst/>
          </a:prstGeom>
        </p:spPr>
      </p:pic>
      <p:sp>
        <p:nvSpPr>
          <p:cNvPr id="14" name="Text 10"/>
          <p:cNvSpPr/>
          <p:nvPr/>
        </p:nvSpPr>
        <p:spPr>
          <a:xfrm>
            <a:off x="1161288" y="4343400"/>
            <a:ext cx="6035040" cy="384048"/>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Bank dashboard with real pilot data</a:t>
            </a:r>
            <a:endParaRPr lang="en-US" sz="1450" dirty="0"/>
          </a:p>
        </p:txBody>
      </p:sp>
      <p:sp>
        <p:nvSpPr>
          <p:cNvPr id="15" name="Shape 11"/>
          <p:cNvSpPr/>
          <p:nvPr/>
        </p:nvSpPr>
        <p:spPr>
          <a:xfrm>
            <a:off x="640080" y="4892040"/>
            <a:ext cx="384048" cy="384048"/>
          </a:xfrm>
          <a:prstGeom prst="ellipse">
            <a:avLst/>
          </a:prstGeom>
          <a:solidFill>
            <a:srgbClr val="15803D"/>
          </a:solidFill>
          <a:ln/>
        </p:spPr>
      </p:sp>
      <p:pic>
        <p:nvPicPr>
          <p:cNvPr id="16" name="Image 2" descr="preencoded.png">    </p:cNvPr>
          <p:cNvPicPr>
            <a:picLocks noChangeAspect="1"/>
          </p:cNvPicPr>
          <p:nvPr/>
        </p:nvPicPr>
        <p:blipFill>
          <a:blip r:embed="rId3"/>
          <a:stretch>
            <a:fillRect/>
          </a:stretch>
        </p:blipFill>
        <p:spPr>
          <a:xfrm>
            <a:off x="728411" y="4980371"/>
            <a:ext cx="207386" cy="207386"/>
          </a:xfrm>
          <a:prstGeom prst="rect">
            <a:avLst/>
          </a:prstGeom>
        </p:spPr>
      </p:pic>
      <p:sp>
        <p:nvSpPr>
          <p:cNvPr id="17" name="Text 12"/>
          <p:cNvSpPr/>
          <p:nvPr/>
        </p:nvSpPr>
        <p:spPr>
          <a:xfrm>
            <a:off x="1161288" y="4892040"/>
            <a:ext cx="6035040" cy="384048"/>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Then laying hens, sheep and cattle, greenhouses</a:t>
            </a:r>
            <a:endParaRPr lang="en-US" sz="1450" dirty="0"/>
          </a:p>
        </p:txBody>
      </p:sp>
      <p:pic>
        <p:nvPicPr>
          <p:cNvPr id="18" name="Image 3" descr="/home/abraxis/Desktop/AgroZen/docs/studexpo/assets/logo.png">    </p:cNvPr>
          <p:cNvPicPr>
            <a:picLocks noChangeAspect="1"/>
          </p:cNvPicPr>
          <p:nvPr/>
        </p:nvPicPr>
        <p:blipFill>
          <a:blip r:embed="rId4"/>
          <a:stretch>
            <a:fillRect/>
          </a:stretch>
        </p:blipFill>
        <p:spPr>
          <a:xfrm>
            <a:off x="640080" y="5669280"/>
            <a:ext cx="640080" cy="640080"/>
          </a:xfrm>
          <a:prstGeom prst="rect">
            <a:avLst/>
          </a:prstGeom>
        </p:spPr>
      </p:pic>
      <p:sp>
        <p:nvSpPr>
          <p:cNvPr id="19" name="Text 13"/>
          <p:cNvSpPr/>
          <p:nvPr/>
        </p:nvSpPr>
        <p:spPr>
          <a:xfrm>
            <a:off x="1417320" y="5669280"/>
            <a:ext cx="5669280" cy="6400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Salimbek Zamalitdinov, project lead</a:t>
            </a:r>
            <a:endParaRPr lang="en-US" sz="1400" dirty="0"/>
          </a:p>
          <a:p>
            <a:pPr indent="0" marL="0">
              <a:buNone/>
            </a:pPr>
            <a:r>
              <a:rPr lang="en-US" sz="1250" dirty="0">
                <a:solidFill>
                  <a:srgbClr val="DCFCE7"/>
                </a:solidFill>
                <a:latin typeface="Calibri" pitchFamily="34" charset="0"/>
                <a:ea typeface="Calibri" pitchFamily="34" charset="-122"/>
                <a:cs typeface="Calibri" pitchFamily="34" charset="-120"/>
              </a:rPr>
              <a:t>+998 93 211 59 13 · salzamov@gmail.com</a:t>
            </a:r>
            <a:endParaRPr lang="en-US" sz="1400" dirty="0"/>
          </a:p>
        </p:txBody>
      </p:sp>
      <p:sp>
        <p:nvSpPr>
          <p:cNvPr id="20" name="Shape 14"/>
          <p:cNvSpPr/>
          <p:nvPr/>
        </p:nvSpPr>
        <p:spPr>
          <a:xfrm>
            <a:off x="8412480" y="731520"/>
            <a:ext cx="3136392" cy="4343400"/>
          </a:xfrm>
          <a:prstGeom prst="roundRect">
            <a:avLst>
              <a:gd name="adj" fmla="val 5248"/>
            </a:avLst>
          </a:prstGeom>
          <a:solidFill>
            <a:srgbClr val="FFFFFF"/>
          </a:solidFill>
          <a:ln/>
        </p:spPr>
      </p:sp>
      <p:pic>
        <p:nvPicPr>
          <p:cNvPr id="21" name="Image 4" descr="/home/abraxis/Desktop/AgroZen/docs/studexpo/assets/qr.png">    </p:cNvPr>
          <p:cNvPicPr>
            <a:picLocks noChangeAspect="1"/>
          </p:cNvPicPr>
          <p:nvPr/>
        </p:nvPicPr>
        <p:blipFill>
          <a:blip r:embed="rId5"/>
          <a:stretch>
            <a:fillRect/>
          </a:stretch>
        </p:blipFill>
        <p:spPr>
          <a:xfrm>
            <a:off x="8705088" y="1005840"/>
            <a:ext cx="2560320" cy="2560320"/>
          </a:xfrm>
          <a:prstGeom prst="rect">
            <a:avLst/>
          </a:prstGeom>
        </p:spPr>
      </p:pic>
      <p:sp>
        <p:nvSpPr>
          <p:cNvPr id="22" name="Text 15"/>
          <p:cNvSpPr/>
          <p:nvPr/>
        </p:nvSpPr>
        <p:spPr>
          <a:xfrm>
            <a:off x="8503920" y="3703320"/>
            <a:ext cx="2953512" cy="1188720"/>
          </a:xfrm>
          <a:prstGeom prst="rect">
            <a:avLst/>
          </a:prstGeom>
          <a:noFill/>
          <a:ln/>
        </p:spPr>
        <p:txBody>
          <a:bodyPr wrap="square" lIns="0" tIns="0" rIns="0" bIns="0" rtlCol="0" anchor="ctr"/>
          <a:lstStyle/>
          <a:p>
            <a:pPr algn="ctr" indent="0" marL="0">
              <a:buNone/>
            </a:pPr>
            <a:r>
              <a:rPr lang="en-US" sz="1700" b="1" dirty="0">
                <a:solidFill>
                  <a:srgbClr val="0F172A"/>
                </a:solidFill>
                <a:latin typeface="Calibri" pitchFamily="34" charset="0"/>
                <a:ea typeface="Calibri" pitchFamily="34" charset="-122"/>
                <a:cs typeface="Calibri" pitchFamily="34" charset="-120"/>
              </a:rPr>
              <a:t>Download and try it</a:t>
            </a:r>
            <a:endParaRPr lang="en-US" sz="1700" dirty="0"/>
          </a:p>
          <a:p>
            <a:pPr algn="ctr" indent="0" marL="0">
              <a:buNone/>
            </a:pPr>
            <a:r>
              <a:rPr lang="en-US" sz="1300" dirty="0">
                <a:solidFill>
                  <a:srgbClr val="52665A"/>
                </a:solidFill>
                <a:latin typeface="Calibri" pitchFamily="34" charset="0"/>
                <a:ea typeface="Calibri" pitchFamily="34" charset="-122"/>
                <a:cs typeface="Calibri" pitchFamily="34" charset="-120"/>
              </a:rPr>
              <a:t>Android app</a:t>
            </a:r>
            <a:endParaRPr lang="en-US" sz="1700" dirty="0"/>
          </a:p>
          <a:p>
            <a:pPr algn="ctr" indent="0" marL="0">
              <a:buNone/>
            </a:pPr>
            <a:r>
              <a:rPr lang="en-US" sz="1200" dirty="0">
                <a:solidFill>
                  <a:srgbClr val="15803D"/>
                </a:solidFill>
                <a:latin typeface="Calibri" pitchFamily="34" charset="0"/>
                <a:ea typeface="Calibri" pitchFamily="34" charset="-122"/>
                <a:cs typeface="Calibri" pitchFamily="34" charset="-120"/>
              </a:rPr>
              <a:t>zedrubilan.github.io/agrozen</a:t>
            </a:r>
            <a:endParaRPr lang="en-US" sz="1700" dirty="0"/>
          </a:p>
        </p:txBody>
      </p:sp>
      <p:pic>
        <p:nvPicPr>
          <p:cNvPr id="23" name="Image 5" descr="/home/abraxis/Desktop/AgroZen/docs/studexpo/assets/chick_green.png">    </p:cNvPr>
          <p:cNvPicPr>
            <a:picLocks noChangeAspect="1"/>
          </p:cNvPicPr>
          <p:nvPr/>
        </p:nvPicPr>
        <p:blipFill>
          <a:blip r:embed="rId6"/>
          <a:stretch>
            <a:fillRect/>
          </a:stretch>
        </p:blipFill>
        <p:spPr>
          <a:xfrm>
            <a:off x="8732520" y="5257800"/>
            <a:ext cx="731520" cy="731520"/>
          </a:xfrm>
          <a:prstGeom prst="rect">
            <a:avLst/>
          </a:prstGeom>
        </p:spPr>
      </p:pic>
      <p:pic>
        <p:nvPicPr>
          <p:cNvPr id="24" name="Image 6" descr="/home/abraxis/Desktop/AgroZen/docs/studexpo/assets/chick_amber.png">    </p:cNvPr>
          <p:cNvPicPr>
            <a:picLocks noChangeAspect="1"/>
          </p:cNvPicPr>
          <p:nvPr/>
        </p:nvPicPr>
        <p:blipFill>
          <a:blip r:embed="rId7"/>
          <a:stretch>
            <a:fillRect/>
          </a:stretch>
        </p:blipFill>
        <p:spPr>
          <a:xfrm>
            <a:off x="9646920" y="5257800"/>
            <a:ext cx="731520" cy="731520"/>
          </a:xfrm>
          <a:prstGeom prst="rect">
            <a:avLst/>
          </a:prstGeom>
        </p:spPr>
      </p:pic>
      <p:pic>
        <p:nvPicPr>
          <p:cNvPr id="25" name="Image 7" descr="/home/abraxis/Desktop/AgroZen/docs/studexpo/assets/chick_red.png">    </p:cNvPr>
          <p:cNvPicPr>
            <a:picLocks noChangeAspect="1"/>
          </p:cNvPicPr>
          <p:nvPr/>
        </p:nvPicPr>
        <p:blipFill>
          <a:blip r:embed="rId8"/>
          <a:stretch>
            <a:fillRect/>
          </a:stretch>
        </p:blipFill>
        <p:spPr>
          <a:xfrm>
            <a:off x="10561320" y="5257800"/>
            <a:ext cx="731520" cy="731520"/>
          </a:xfrm>
          <a:prstGeom prst="rect">
            <a:avLst/>
          </a:prstGeom>
        </p:spPr>
      </p:pic>
      <p:sp>
        <p:nvSpPr>
          <p:cNvPr id="26" name="Text 16"/>
          <p:cNvSpPr/>
          <p:nvPr/>
        </p:nvSpPr>
        <p:spPr>
          <a:xfrm>
            <a:off x="8412480" y="6035040"/>
            <a:ext cx="3136392" cy="54864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Thank you!</a:t>
            </a:r>
            <a:endParaRPr lang="en-US" sz="2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AgroZen — StudEXPO-2026</dc:title>
  <dc:subject>PptxGenJS Presentation</dc:subject>
  <dc:creator>Salimbek Zamalitdinov, Ulugbek Kodirov</dc:creator>
  <cp:lastModifiedBy>Salimbek Zamalitdinov, Ulugbek Kodirov</cp:lastModifiedBy>
  <cp:revision>1</cp:revision>
  <dcterms:created xsi:type="dcterms:W3CDTF">2026-10-22T15:24:55Z</dcterms:created>
  <dcterms:modified xsi:type="dcterms:W3CDTF">2026-10-22T15:24:55Z</dcterms:modified>
</cp:coreProperties>
</file>