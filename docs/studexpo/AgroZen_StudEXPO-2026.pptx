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AgroZen is a working Android app: an AI mentor that guides a beginner broiler farmer through the 42-day cycle. New this autumn: a smart-barn monitor for sensors and AI cameras, and reports for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2017: chicken loans for low-income families went wrong. From August 2026 the state again gives concessional poultry loans. A beginner without knowledge loses the flock in the first two weeks and keeps the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screens a farmer uses every day: today's targets, the 42-day plan, the AI assistant that answers by voice, the diary with alerts and the course that ends with a certificate for a concessional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open Smart barn and press 'Losses'. The camera colours every bird: green is active, amber moves little and needs watching, red has stopped moving — and the vet's number appears. Press 'Ammonia' to show the sensors: NH3 passes 10 ppm and the fans switch on. All checks are plain code against the Ross-308 norms.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farmer agrees, and the app turns the diary into a one-page PDF with a score out of 100. The bank's dashboard shows all its farmers: who is on track, who needs attention, and it can warn every farmer in a district about a disease. This is how AgroZen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is in the Android app today, in three languages and offline. 260 automated tests check the norms, the alerts and the bank score. The assistant answers only from the knowledge base; outside it, it sends the farmer to the district vet and never names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pilot with ten farmers and one bank in Namangan region, with sensors and cameras in two farms. Scan the QR code to install the app.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2E16"/>
        </a:solidFill>
      </p:bgPr>
    </p:bg>
    <p:spTree>
      <p:nvGrpSpPr>
        <p:cNvPr id="1" name=""/>
        <p:cNvGrpSpPr/>
        <p:nvPr/>
      </p:nvGrpSpPr>
      <p:grpSpPr>
        <a:xfrm>
          <a:off x="0" y="0"/>
          <a:ext cx="0" cy="0"/>
          <a:chOff x="0" y="0"/>
          <a:chExt cx="0" cy="0"/>
        </a:xfrm>
      </p:grpSpPr>
      <p:sp>
        <p:nvSpPr>
          <p:cNvPr id="2" name="Shape 0"/>
          <p:cNvSpPr/>
          <p:nvPr/>
        </p:nvSpPr>
        <p:spPr>
          <a:xfrm>
            <a:off x="6309360" y="-1188720"/>
            <a:ext cx="6949440" cy="6949440"/>
          </a:xfrm>
          <a:prstGeom prst="ellipse">
            <a:avLst/>
          </a:prstGeom>
          <a:solidFill>
            <a:srgbClr val="15803D">
              <a:alpha val="45000"/>
            </a:srgbClr>
          </a:solidFill>
          <a:ln/>
        </p:spPr>
      </p:sp>
      <p:pic>
        <p:nvPicPr>
          <p:cNvPr id="3" name="Image 0" descr="/home/abraxis/Desktop/AgroZen/docs/studexpo/assets/logo.png">    </p:cNvPr>
          <p:cNvPicPr>
            <a:picLocks noChangeAspect="1"/>
          </p:cNvPicPr>
          <p:nvPr/>
        </p:nvPicPr>
        <p:blipFill>
          <a:blip r:embed="rId1"/>
          <a:stretch>
            <a:fillRect/>
          </a:stretch>
        </p:blipFill>
        <p:spPr>
          <a:xfrm>
            <a:off x="640080" y="594360"/>
            <a:ext cx="777240" cy="777240"/>
          </a:xfrm>
          <a:prstGeom prst="rect">
            <a:avLst/>
          </a:prstGeom>
        </p:spPr>
      </p:pic>
      <p:sp>
        <p:nvSpPr>
          <p:cNvPr id="4" name="Text 1"/>
          <p:cNvSpPr/>
          <p:nvPr/>
        </p:nvSpPr>
        <p:spPr>
          <a:xfrm>
            <a:off x="1600200" y="594360"/>
            <a:ext cx="4754880" cy="777240"/>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STUDEXPO-2026</a:t>
            </a:r>
            <a:endParaRPr lang="en-US" sz="1500" dirty="0"/>
          </a:p>
          <a:p>
            <a:pPr indent="0" marL="0">
              <a:buNone/>
            </a:pPr>
            <a:r>
              <a:rPr lang="en-US" sz="1400" dirty="0">
                <a:solidFill>
                  <a:srgbClr val="DCFCE7"/>
                </a:solidFill>
                <a:latin typeface="Calibri" pitchFamily="34" charset="0"/>
                <a:ea typeface="Calibri" pitchFamily="34" charset="-122"/>
                <a:cs typeface="Calibri" pitchFamily="34" charset="-120"/>
              </a:rPr>
              <a:t>Mobile apps and artificial intelligence</a:t>
            </a:r>
            <a:endParaRPr lang="en-US" sz="1500" dirty="0"/>
          </a:p>
        </p:txBody>
      </p:sp>
      <p:sp>
        <p:nvSpPr>
          <p:cNvPr id="5" name="Text 2"/>
          <p:cNvSpPr/>
          <p:nvPr/>
        </p:nvSpPr>
        <p:spPr>
          <a:xfrm>
            <a:off x="640080" y="1691640"/>
            <a:ext cx="5760720" cy="1188720"/>
          </a:xfrm>
          <a:prstGeom prst="rect">
            <a:avLst/>
          </a:prstGeom>
          <a:noFill/>
          <a:ln/>
        </p:spPr>
        <p:txBody>
          <a:bodyPr wrap="square" lIns="0" tIns="0" rIns="0" bIns="0" rtlCol="0" anchor="ctr"/>
          <a:lstStyle/>
          <a:p>
            <a:pPr indent="0" marL="0">
              <a:buNone/>
            </a:pPr>
            <a:r>
              <a:rPr lang="en-US" sz="8000" b="1" dirty="0">
                <a:solidFill>
                  <a:srgbClr val="FFFFFF"/>
                </a:solidFill>
                <a:latin typeface="Calibri" pitchFamily="34" charset="0"/>
                <a:ea typeface="Calibri" pitchFamily="34" charset="-122"/>
                <a:cs typeface="Calibri" pitchFamily="34" charset="-120"/>
              </a:rPr>
              <a:t>AgroZen</a:t>
            </a:r>
            <a:endParaRPr lang="en-US" sz="8000" dirty="0"/>
          </a:p>
        </p:txBody>
      </p:sp>
      <p:sp>
        <p:nvSpPr>
          <p:cNvPr id="6" name="Text 3"/>
          <p:cNvSpPr/>
          <p:nvPr/>
        </p:nvSpPr>
        <p:spPr>
          <a:xfrm>
            <a:off x="640080" y="2926080"/>
            <a:ext cx="5486400" cy="914400"/>
          </a:xfrm>
          <a:prstGeom prst="rect">
            <a:avLst/>
          </a:prstGeom>
          <a:noFill/>
          <a:ln/>
        </p:spPr>
        <p:txBody>
          <a:bodyPr wrap="square" lIns="0" tIns="0" rIns="0" bIns="0" rtlCol="0" anchor="t"/>
          <a:lstStyle/>
          <a:p>
            <a:pPr indent="0" marL="0">
              <a:buNone/>
            </a:pPr>
            <a:r>
              <a:rPr lang="en-US" sz="2400" dirty="0">
                <a:solidFill>
                  <a:srgbClr val="DCFCE7"/>
                </a:solidFill>
                <a:latin typeface="Calibri" pitchFamily="34" charset="0"/>
                <a:ea typeface="Calibri" pitchFamily="34" charset="-122"/>
                <a:cs typeface="Calibri" pitchFamily="34" charset="-120"/>
              </a:rPr>
              <a:t>An AI mentor in your smartphone for beginner poultry farmers</a:t>
            </a:r>
            <a:endParaRPr lang="en-US" sz="2400" dirty="0"/>
          </a:p>
        </p:txBody>
      </p:sp>
      <p:sp>
        <p:nvSpPr>
          <p:cNvPr id="7" name="Shape 4"/>
          <p:cNvSpPr/>
          <p:nvPr/>
        </p:nvSpPr>
        <p:spPr>
          <a:xfrm>
            <a:off x="640080" y="4069080"/>
            <a:ext cx="2240280" cy="384048"/>
          </a:xfrm>
          <a:prstGeom prst="roundRect">
            <a:avLst>
              <a:gd name="adj" fmla="val 50000"/>
            </a:avLst>
          </a:prstGeom>
          <a:solidFill>
            <a:srgbClr val="15803D"/>
          </a:solidFill>
          <a:ln/>
        </p:spPr>
      </p:sp>
      <p:sp>
        <p:nvSpPr>
          <p:cNvPr id="8" name="Text 5"/>
          <p:cNvSpPr/>
          <p:nvPr/>
        </p:nvSpPr>
        <p:spPr>
          <a:xfrm>
            <a:off x="640080" y="4069080"/>
            <a:ext cx="22402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Working MVP · Android</a:t>
            </a:r>
            <a:endParaRPr lang="en-US" sz="1300" dirty="0"/>
          </a:p>
        </p:txBody>
      </p:sp>
      <p:sp>
        <p:nvSpPr>
          <p:cNvPr id="9" name="Shape 6"/>
          <p:cNvSpPr/>
          <p:nvPr/>
        </p:nvSpPr>
        <p:spPr>
          <a:xfrm>
            <a:off x="3017520" y="4069080"/>
            <a:ext cx="1280160" cy="384048"/>
          </a:xfrm>
          <a:prstGeom prst="roundRect">
            <a:avLst>
              <a:gd name="adj" fmla="val 50000"/>
            </a:avLst>
          </a:prstGeom>
          <a:solidFill>
            <a:srgbClr val="15803D"/>
          </a:solidFill>
          <a:ln/>
        </p:spPr>
      </p:sp>
      <p:sp>
        <p:nvSpPr>
          <p:cNvPr id="10" name="Text 7"/>
          <p:cNvSpPr/>
          <p:nvPr/>
        </p:nvSpPr>
        <p:spPr>
          <a:xfrm>
            <a:off x="3017520" y="4069080"/>
            <a:ext cx="12801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languages</a:t>
            </a:r>
            <a:endParaRPr lang="en-US" sz="1300" dirty="0"/>
          </a:p>
        </p:txBody>
      </p:sp>
      <p:sp>
        <p:nvSpPr>
          <p:cNvPr id="11" name="Shape 8"/>
          <p:cNvSpPr/>
          <p:nvPr/>
        </p:nvSpPr>
        <p:spPr>
          <a:xfrm>
            <a:off x="4434840" y="4069080"/>
            <a:ext cx="1463040" cy="384048"/>
          </a:xfrm>
          <a:prstGeom prst="roundRect">
            <a:avLst>
              <a:gd name="adj" fmla="val 50000"/>
            </a:avLst>
          </a:prstGeom>
          <a:solidFill>
            <a:srgbClr val="15803D"/>
          </a:solidFill>
          <a:ln/>
        </p:spPr>
      </p:sp>
      <p:sp>
        <p:nvSpPr>
          <p:cNvPr id="12" name="Text 9"/>
          <p:cNvSpPr/>
          <p:nvPr/>
        </p:nvSpPr>
        <p:spPr>
          <a:xfrm>
            <a:off x="4434840" y="4069080"/>
            <a:ext cx="146304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Works offline</a:t>
            </a:r>
            <a:endParaRPr lang="en-US" sz="1300" dirty="0"/>
          </a:p>
        </p:txBody>
      </p:sp>
      <p:sp>
        <p:nvSpPr>
          <p:cNvPr id="13" name="Shape 10"/>
          <p:cNvSpPr/>
          <p:nvPr/>
        </p:nvSpPr>
        <p:spPr>
          <a:xfrm>
            <a:off x="640080" y="4572000"/>
            <a:ext cx="1874520" cy="384048"/>
          </a:xfrm>
          <a:prstGeom prst="roundRect">
            <a:avLst>
              <a:gd name="adj" fmla="val 50000"/>
            </a:avLst>
          </a:prstGeom>
          <a:solidFill>
            <a:srgbClr val="15803D"/>
          </a:solidFill>
          <a:ln/>
        </p:spPr>
      </p:sp>
      <p:sp>
        <p:nvSpPr>
          <p:cNvPr id="14" name="Text 11"/>
          <p:cNvSpPr/>
          <p:nvPr/>
        </p:nvSpPr>
        <p:spPr>
          <a:xfrm>
            <a:off x="640080" y="4572000"/>
            <a:ext cx="18745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Smart barn sensors</a:t>
            </a:r>
            <a:endParaRPr lang="en-US" sz="1300" dirty="0"/>
          </a:p>
        </p:txBody>
      </p:sp>
      <p:sp>
        <p:nvSpPr>
          <p:cNvPr id="15" name="Shape 12"/>
          <p:cNvSpPr/>
          <p:nvPr/>
        </p:nvSpPr>
        <p:spPr>
          <a:xfrm>
            <a:off x="2651760" y="4572000"/>
            <a:ext cx="1783080" cy="384048"/>
          </a:xfrm>
          <a:prstGeom prst="roundRect">
            <a:avLst>
              <a:gd name="adj" fmla="val 50000"/>
            </a:avLst>
          </a:prstGeom>
          <a:solidFill>
            <a:srgbClr val="15803D"/>
          </a:solidFill>
          <a:ln/>
        </p:spPr>
      </p:sp>
      <p:sp>
        <p:nvSpPr>
          <p:cNvPr id="16" name="Text 13"/>
          <p:cNvSpPr/>
          <p:nvPr/>
        </p:nvSpPr>
        <p:spPr>
          <a:xfrm>
            <a:off x="2651760" y="4572000"/>
            <a:ext cx="17830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Reports for banks</a:t>
            </a:r>
            <a:endParaRPr lang="en-US" sz="1300" dirty="0"/>
          </a:p>
        </p:txBody>
      </p:sp>
      <p:sp>
        <p:nvSpPr>
          <p:cNvPr id="17" name="Text 14"/>
          <p:cNvSpPr/>
          <p:nvPr/>
        </p:nvSpPr>
        <p:spPr>
          <a:xfrm>
            <a:off x="640080" y="5715000"/>
            <a:ext cx="5486400" cy="6400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Salimbek Zamalitdinov · Ulugbek Kodirov</a:t>
            </a:r>
            <a:endParaRPr lang="en-US" sz="1500" dirty="0"/>
          </a:p>
          <a:p>
            <a:pPr indent="0" marL="0">
              <a:buNone/>
            </a:pPr>
            <a:r>
              <a:rPr lang="en-US" sz="1300" dirty="0">
                <a:solidFill>
                  <a:srgbClr val="DCFCE7"/>
                </a:solidFill>
                <a:latin typeface="Calibri" pitchFamily="34" charset="0"/>
                <a:ea typeface="Calibri" pitchFamily="34" charset="-122"/>
                <a:cs typeface="Calibri" pitchFamily="34" charset="-120"/>
              </a:rPr>
              <a:t>Namangan State Technical University</a:t>
            </a:r>
            <a:endParaRPr lang="en-US" sz="1500" dirty="0"/>
          </a:p>
        </p:txBody>
      </p:sp>
      <p:pic>
        <p:nvPicPr>
          <p:cNvPr id="18" name="Image 1" descr="AgroZen screen: monitor">    </p:cNvPr>
          <p:cNvPicPr>
            <a:picLocks noChangeAspect="1"/>
          </p:cNvPicPr>
          <p:nvPr/>
        </p:nvPicPr>
        <p:blipFill>
          <a:blip r:embed="rId2"/>
          <a:stretch>
            <a:fillRect/>
          </a:stretch>
        </p:blipFill>
        <p:spPr>
          <a:xfrm rot="21120000">
            <a:off x="6366291" y="1245651"/>
            <a:ext cx="2472033" cy="4823898"/>
          </a:xfrm>
          <a:prstGeom prst="rect">
            <a:avLst/>
          </a:prstGeom>
        </p:spPr>
      </p:pic>
      <p:pic>
        <p:nvPicPr>
          <p:cNvPr id="19" name="Image 2" descr="AgroZen screen: bank_report">    </p:cNvPr>
          <p:cNvPicPr>
            <a:picLocks noChangeAspect="1"/>
          </p:cNvPicPr>
          <p:nvPr/>
        </p:nvPicPr>
        <p:blipFill>
          <a:blip r:embed="rId3"/>
          <a:stretch>
            <a:fillRect/>
          </a:stretch>
        </p:blipFill>
        <p:spPr>
          <a:xfrm rot="480000">
            <a:off x="9658131" y="1245651"/>
            <a:ext cx="2472033" cy="4823898"/>
          </a:xfrm>
          <a:prstGeom prst="rect">
            <a:avLst/>
          </a:prstGeom>
        </p:spPr>
      </p:pic>
      <p:pic>
        <p:nvPicPr>
          <p:cNvPr id="20" name="Image 3" descr="AgroZen screen: today">    </p:cNvPr>
          <p:cNvPicPr>
            <a:picLocks noChangeAspect="1"/>
          </p:cNvPicPr>
          <p:nvPr/>
        </p:nvPicPr>
        <p:blipFill>
          <a:blip r:embed="rId4"/>
          <a:stretch>
            <a:fillRect/>
          </a:stretch>
        </p:blipFill>
        <p:spPr>
          <a:xfrm>
            <a:off x="7796048" y="663728"/>
            <a:ext cx="2951305" cy="57591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4"/>
        </a:solidFill>
      </p:bgPr>
    </p:bg>
    <p:spTree>
      <p:nvGrpSpPr>
        <p:cNvPr id="1" name=""/>
        <p:cNvGrpSpPr/>
        <p:nvPr/>
      </p:nvGrpSpPr>
      <p:grpSpPr>
        <a:xfrm>
          <a:off x="0" y="0"/>
          <a:ext cx="0" cy="0"/>
          <a:chOff x="0" y="0"/>
          <a:chExt cx="0" cy="0"/>
        </a:xfrm>
      </p:grpSpPr>
      <p:pic>
        <p:nvPicPr>
          <p:cNvPr id="2" name="Image 0" descr="/home/abraxis/Desktop/AgroZen/docs/studexpo/assets/problem_photo.jpg">    </p:cNvPr>
          <p:cNvPicPr>
            <a:picLocks noChangeAspect="1"/>
          </p:cNvPicPr>
          <p:nvPr/>
        </p:nvPicPr>
        <p:blipFill>
          <a:blip r:embed="rId1"/>
          <a:srcRect l="0" r="0" t="0" b="0"/>
          <a:stretch/>
        </p:blipFill>
        <p:spPr>
          <a:xfrm>
            <a:off x="0" y="0"/>
            <a:ext cx="4480560" cy="6858000"/>
          </a:xfrm>
          <a:prstGeom prst="rect">
            <a:avLst/>
          </a:prstGeom>
        </p:spPr>
      </p:pic>
      <p:sp>
        <p:nvSpPr>
          <p:cNvPr id="3" name="Shape 0"/>
          <p:cNvSpPr/>
          <p:nvPr/>
        </p:nvSpPr>
        <p:spPr>
          <a:xfrm>
            <a:off x="365760" y="3977640"/>
            <a:ext cx="3749040" cy="1143000"/>
          </a:xfrm>
          <a:prstGeom prst="roundRect">
            <a:avLst>
              <a:gd name="adj" fmla="val 14400"/>
            </a:avLst>
          </a:prstGeom>
          <a:solidFill>
            <a:srgbClr val="FFFFFF"/>
          </a:solidFill>
          <a:ln w="12700">
            <a:solidFill>
              <a:srgbClr val="E2EBE4"/>
            </a:solidFill>
            <a:prstDash val="solid"/>
          </a:ln>
        </p:spPr>
      </p:sp>
      <p:sp>
        <p:nvSpPr>
          <p:cNvPr id="4" name="Shape 1"/>
          <p:cNvSpPr/>
          <p:nvPr/>
        </p:nvSpPr>
        <p:spPr>
          <a:xfrm>
            <a:off x="548640" y="4133088"/>
            <a:ext cx="777240" cy="310896"/>
          </a:xfrm>
          <a:prstGeom prst="roundRect">
            <a:avLst>
              <a:gd name="adj" fmla="val 50000"/>
            </a:avLst>
          </a:prstGeom>
          <a:solidFill>
            <a:srgbClr val="FEE2E2"/>
          </a:solidFill>
          <a:ln/>
        </p:spPr>
      </p:sp>
      <p:sp>
        <p:nvSpPr>
          <p:cNvPr id="5" name="Text 2"/>
          <p:cNvSpPr/>
          <p:nvPr/>
        </p:nvSpPr>
        <p:spPr>
          <a:xfrm>
            <a:off x="548640" y="4133088"/>
            <a:ext cx="777240" cy="310896"/>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2017</a:t>
            </a:r>
            <a:endParaRPr lang="en-US" sz="1200" dirty="0"/>
          </a:p>
        </p:txBody>
      </p:sp>
      <p:sp>
        <p:nvSpPr>
          <p:cNvPr id="6" name="Text 3"/>
          <p:cNvSpPr/>
          <p:nvPr/>
        </p:nvSpPr>
        <p:spPr>
          <a:xfrm>
            <a:off x="548640" y="4498848"/>
            <a:ext cx="3429000" cy="54864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Families got loans to raise chickens. Reportedly, many couldn't repay, and banks cut such loans.</a:t>
            </a:r>
            <a:endParaRPr lang="en-US" sz="1200" dirty="0"/>
          </a:p>
        </p:txBody>
      </p:sp>
      <p:sp>
        <p:nvSpPr>
          <p:cNvPr id="7" name="Shape 4"/>
          <p:cNvSpPr/>
          <p:nvPr/>
        </p:nvSpPr>
        <p:spPr>
          <a:xfrm>
            <a:off x="365760" y="5257800"/>
            <a:ext cx="3749040" cy="1143000"/>
          </a:xfrm>
          <a:prstGeom prst="roundRect">
            <a:avLst>
              <a:gd name="adj" fmla="val 14400"/>
            </a:avLst>
          </a:prstGeom>
          <a:solidFill>
            <a:srgbClr val="FFFFFF"/>
          </a:solidFill>
          <a:ln w="12700">
            <a:solidFill>
              <a:srgbClr val="E2EBE4"/>
            </a:solidFill>
            <a:prstDash val="solid"/>
          </a:ln>
        </p:spPr>
      </p:sp>
      <p:sp>
        <p:nvSpPr>
          <p:cNvPr id="8" name="Shape 5"/>
          <p:cNvSpPr/>
          <p:nvPr/>
        </p:nvSpPr>
        <p:spPr>
          <a:xfrm>
            <a:off x="548640" y="5413248"/>
            <a:ext cx="1783080" cy="310896"/>
          </a:xfrm>
          <a:prstGeom prst="roundRect">
            <a:avLst>
              <a:gd name="adj" fmla="val 50000"/>
            </a:avLst>
          </a:prstGeom>
          <a:solidFill>
            <a:srgbClr val="E6F4EA"/>
          </a:solidFill>
          <a:ln/>
        </p:spPr>
      </p:sp>
      <p:sp>
        <p:nvSpPr>
          <p:cNvPr id="9" name="Text 6"/>
          <p:cNvSpPr/>
          <p:nvPr/>
        </p:nvSpPr>
        <p:spPr>
          <a:xfrm>
            <a:off x="548640" y="5413248"/>
            <a:ext cx="1783080" cy="310896"/>
          </a:xfrm>
          <a:prstGeom prst="rect">
            <a:avLst/>
          </a:prstGeom>
          <a:noFill/>
          <a:ln/>
        </p:spPr>
        <p:txBody>
          <a:bodyPr wrap="square" lIns="0" tIns="0" rIns="0" bIns="0" rtlCol="0" anchor="ctr"/>
          <a:lstStyle/>
          <a:p>
            <a:pPr algn="ctr" indent="0" marL="0">
              <a:buNone/>
            </a:pPr>
            <a:r>
              <a:rPr lang="en-US" sz="1200" b="1" dirty="0">
                <a:solidFill>
                  <a:srgbClr val="15803D"/>
                </a:solidFill>
                <a:latin typeface="Calibri" pitchFamily="34" charset="0"/>
                <a:ea typeface="Calibri" pitchFamily="34" charset="-122"/>
                <a:cs typeface="Calibri" pitchFamily="34" charset="-120"/>
              </a:rPr>
              <a:t>From 1 August 2026</a:t>
            </a:r>
            <a:endParaRPr lang="en-US" sz="1200" dirty="0"/>
          </a:p>
        </p:txBody>
      </p:sp>
      <p:sp>
        <p:nvSpPr>
          <p:cNvPr id="10" name="Text 7"/>
          <p:cNvSpPr/>
          <p:nvPr/>
        </p:nvSpPr>
        <p:spPr>
          <a:xfrm>
            <a:off x="548640" y="5779008"/>
            <a:ext cx="3429000" cy="54864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Concessional poultry loans are back: up to 10 years at 10% a year.</a:t>
            </a:r>
            <a:endParaRPr lang="en-US" sz="1200" dirty="0"/>
          </a:p>
        </p:txBody>
      </p:sp>
      <p:sp>
        <p:nvSpPr>
          <p:cNvPr id="11" name="Text 8"/>
          <p:cNvSpPr/>
          <p:nvPr/>
        </p:nvSpPr>
        <p:spPr>
          <a:xfrm>
            <a:off x="5074920" y="45720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PROBLEM</a:t>
            </a:r>
            <a:endParaRPr lang="en-US" sz="1300" dirty="0"/>
          </a:p>
        </p:txBody>
      </p:sp>
      <p:sp>
        <p:nvSpPr>
          <p:cNvPr id="12" name="Text 9"/>
          <p:cNvSpPr/>
          <p:nvPr/>
        </p:nvSpPr>
        <p:spPr>
          <a:xfrm>
            <a:off x="5074920" y="777240"/>
            <a:ext cx="658368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Loan taken, flock lost</a:t>
            </a:r>
            <a:endParaRPr lang="en-US" sz="3400" dirty="0"/>
          </a:p>
        </p:txBody>
      </p:sp>
      <p:sp>
        <p:nvSpPr>
          <p:cNvPr id="13" name="Shape 10"/>
          <p:cNvSpPr/>
          <p:nvPr/>
        </p:nvSpPr>
        <p:spPr>
          <a:xfrm>
            <a:off x="5074920" y="1691640"/>
            <a:ext cx="6492240" cy="896112"/>
          </a:xfrm>
          <a:prstGeom prst="roundRect">
            <a:avLst>
              <a:gd name="adj" fmla="val 18367"/>
            </a:avLst>
          </a:prstGeom>
          <a:solidFill>
            <a:srgbClr val="FEE2E2"/>
          </a:solidFill>
          <a:ln/>
        </p:spPr>
      </p:sp>
      <p:sp>
        <p:nvSpPr>
          <p:cNvPr id="14" name="Shape 11"/>
          <p:cNvSpPr/>
          <p:nvPr/>
        </p:nvSpPr>
        <p:spPr>
          <a:xfrm>
            <a:off x="5257800" y="1874520"/>
            <a:ext cx="530352" cy="530352"/>
          </a:xfrm>
          <a:prstGeom prst="ellipse">
            <a:avLst/>
          </a:prstGeom>
          <a:solidFill>
            <a:srgbClr val="DC2626"/>
          </a:solidFill>
          <a:ln/>
        </p:spPr>
      </p:sp>
      <p:pic>
        <p:nvPicPr>
          <p:cNvPr id="15" name="Image 1" descr="preencoded.png">    </p:cNvPr>
          <p:cNvPicPr>
            <a:picLocks noChangeAspect="1"/>
          </p:cNvPicPr>
          <p:nvPr/>
        </p:nvPicPr>
        <p:blipFill>
          <a:blip r:embed="rId2"/>
          <a:stretch>
            <a:fillRect/>
          </a:stretch>
        </p:blipFill>
        <p:spPr>
          <a:xfrm>
            <a:off x="5379781" y="1996501"/>
            <a:ext cx="286390" cy="286390"/>
          </a:xfrm>
          <a:prstGeom prst="rect">
            <a:avLst/>
          </a:prstGeom>
        </p:spPr>
      </p:pic>
      <p:sp>
        <p:nvSpPr>
          <p:cNvPr id="16" name="Text 12"/>
          <p:cNvSpPr/>
          <p:nvPr/>
        </p:nvSpPr>
        <p:spPr>
          <a:xfrm>
            <a:off x="5961888" y="1801368"/>
            <a:ext cx="5486400" cy="731520"/>
          </a:xfrm>
          <a:prstGeom prst="rect">
            <a:avLst/>
          </a:prstGeom>
          <a:noFill/>
          <a:ln/>
        </p:spPr>
        <p:txBody>
          <a:bodyPr wrap="square" lIns="0" tIns="0" rIns="0" bIns="0" rtlCol="0" anchor="ctr"/>
          <a:lstStyle/>
          <a:p>
            <a:pPr algn="l" indent="0" marL="0">
              <a:buNone/>
            </a:pPr>
            <a:r>
              <a:rPr lang="en-US" sz="1600" b="1" dirty="0">
                <a:solidFill>
                  <a:srgbClr val="0F172A"/>
                </a:solidFill>
                <a:latin typeface="Calibri" pitchFamily="34" charset="0"/>
                <a:ea typeface="Calibri" pitchFamily="34" charset="-122"/>
                <a:cs typeface="Calibri" pitchFamily="34" charset="-120"/>
              </a:rPr>
              <a:t>No knowledge</a:t>
            </a:r>
            <a:endParaRPr lang="en-US" sz="1600" dirty="0"/>
          </a:p>
          <a:p>
            <a:pPr algn="l" indent="0" marL="0">
              <a:buNone/>
            </a:pPr>
            <a:r>
              <a:rPr lang="en-US" sz="1250" dirty="0">
                <a:solidFill>
                  <a:srgbClr val="0F172A"/>
                </a:solidFill>
                <a:latin typeface="Calibri" pitchFamily="34" charset="0"/>
                <a:ea typeface="Calibri" pitchFamily="34" charset="-122"/>
                <a:cs typeface="Calibri" pitchFamily="34" charset="-120"/>
              </a:rPr>
              <a:t>A beginner doesn't know the norms for temperature, feeding and vaccination.</a:t>
            </a:r>
            <a:endParaRPr lang="en-US" sz="1600" dirty="0"/>
          </a:p>
        </p:txBody>
      </p:sp>
      <p:sp>
        <p:nvSpPr>
          <p:cNvPr id="17" name="Shape 13"/>
          <p:cNvSpPr/>
          <p:nvPr/>
        </p:nvSpPr>
        <p:spPr>
          <a:xfrm>
            <a:off x="5074920" y="2715768"/>
            <a:ext cx="6492240" cy="896112"/>
          </a:xfrm>
          <a:prstGeom prst="roundRect">
            <a:avLst>
              <a:gd name="adj" fmla="val 18367"/>
            </a:avLst>
          </a:prstGeom>
          <a:solidFill>
            <a:srgbClr val="FEF3C7"/>
          </a:solidFill>
          <a:ln/>
        </p:spPr>
      </p:sp>
      <p:sp>
        <p:nvSpPr>
          <p:cNvPr id="18" name="Shape 14"/>
          <p:cNvSpPr/>
          <p:nvPr/>
        </p:nvSpPr>
        <p:spPr>
          <a:xfrm>
            <a:off x="5257800" y="2898648"/>
            <a:ext cx="530352" cy="530352"/>
          </a:xfrm>
          <a:prstGeom prst="ellipse">
            <a:avLst/>
          </a:prstGeom>
          <a:solidFill>
            <a:srgbClr val="F59E0B"/>
          </a:solidFill>
          <a:ln/>
        </p:spPr>
      </p:sp>
      <p:pic>
        <p:nvPicPr>
          <p:cNvPr id="19" name="Image 2" descr="preencoded.png">    </p:cNvPr>
          <p:cNvPicPr>
            <a:picLocks noChangeAspect="1"/>
          </p:cNvPicPr>
          <p:nvPr/>
        </p:nvPicPr>
        <p:blipFill>
          <a:blip r:embed="rId3"/>
          <a:stretch>
            <a:fillRect/>
          </a:stretch>
        </p:blipFill>
        <p:spPr>
          <a:xfrm>
            <a:off x="5379781" y="3020629"/>
            <a:ext cx="286390" cy="286390"/>
          </a:xfrm>
          <a:prstGeom prst="rect">
            <a:avLst/>
          </a:prstGeom>
        </p:spPr>
      </p:pic>
      <p:sp>
        <p:nvSpPr>
          <p:cNvPr id="20" name="Text 15"/>
          <p:cNvSpPr/>
          <p:nvPr/>
        </p:nvSpPr>
        <p:spPr>
          <a:xfrm>
            <a:off x="5961888" y="2825496"/>
            <a:ext cx="5486400" cy="731520"/>
          </a:xfrm>
          <a:prstGeom prst="rect">
            <a:avLst/>
          </a:prstGeom>
          <a:noFill/>
          <a:ln/>
        </p:spPr>
        <p:txBody>
          <a:bodyPr wrap="square" lIns="0" tIns="0" rIns="0" bIns="0" rtlCol="0" anchor="ctr"/>
          <a:lstStyle/>
          <a:p>
            <a:pPr algn="l" indent="0" marL="0">
              <a:buNone/>
            </a:pPr>
            <a:r>
              <a:rPr lang="en-US" sz="1600" b="1" dirty="0">
                <a:solidFill>
                  <a:srgbClr val="0F172A"/>
                </a:solidFill>
                <a:latin typeface="Calibri" pitchFamily="34" charset="0"/>
                <a:ea typeface="Calibri" pitchFamily="34" charset="-122"/>
                <a:cs typeface="Calibri" pitchFamily="34" charset="-120"/>
              </a:rPr>
              <a:t>The first 14 days are the most dangerous</a:t>
            </a:r>
            <a:endParaRPr lang="en-US" sz="1600" dirty="0"/>
          </a:p>
          <a:p>
            <a:pPr algn="l" indent="0" marL="0">
              <a:buNone/>
            </a:pPr>
            <a:r>
              <a:rPr lang="en-US" sz="1250" dirty="0">
                <a:solidFill>
                  <a:srgbClr val="0F172A"/>
                </a:solidFill>
                <a:latin typeface="Calibri" pitchFamily="34" charset="0"/>
                <a:ea typeface="Calibri" pitchFamily="34" charset="-122"/>
                <a:cs typeface="Calibri" pitchFamily="34" charset="-120"/>
              </a:rPr>
              <a:t>One microclimate mistake leads to mass mortality — and nobody measures ammonia or CO2.</a:t>
            </a:r>
            <a:endParaRPr lang="en-US" sz="1600" dirty="0"/>
          </a:p>
        </p:txBody>
      </p:sp>
      <p:sp>
        <p:nvSpPr>
          <p:cNvPr id="21" name="Shape 16"/>
          <p:cNvSpPr/>
          <p:nvPr/>
        </p:nvSpPr>
        <p:spPr>
          <a:xfrm>
            <a:off x="5074920" y="3739896"/>
            <a:ext cx="6492240" cy="896112"/>
          </a:xfrm>
          <a:prstGeom prst="roundRect">
            <a:avLst>
              <a:gd name="adj" fmla="val 18367"/>
            </a:avLst>
          </a:prstGeom>
          <a:solidFill>
            <a:srgbClr val="DBEAFE"/>
          </a:solidFill>
          <a:ln/>
        </p:spPr>
      </p:sp>
      <p:sp>
        <p:nvSpPr>
          <p:cNvPr id="22" name="Shape 17"/>
          <p:cNvSpPr/>
          <p:nvPr/>
        </p:nvSpPr>
        <p:spPr>
          <a:xfrm>
            <a:off x="5257800" y="3922776"/>
            <a:ext cx="530352" cy="530352"/>
          </a:xfrm>
          <a:prstGeom prst="ellipse">
            <a:avLst/>
          </a:prstGeom>
          <a:solidFill>
            <a:srgbClr val="2563EB"/>
          </a:solidFill>
          <a:ln/>
        </p:spPr>
      </p:sp>
      <p:pic>
        <p:nvPicPr>
          <p:cNvPr id="23" name="Image 3" descr="preencoded.png">    </p:cNvPr>
          <p:cNvPicPr>
            <a:picLocks noChangeAspect="1"/>
          </p:cNvPicPr>
          <p:nvPr/>
        </p:nvPicPr>
        <p:blipFill>
          <a:blip r:embed="rId4"/>
          <a:stretch>
            <a:fillRect/>
          </a:stretch>
        </p:blipFill>
        <p:spPr>
          <a:xfrm>
            <a:off x="5379781" y="4044757"/>
            <a:ext cx="286390" cy="286390"/>
          </a:xfrm>
          <a:prstGeom prst="rect">
            <a:avLst/>
          </a:prstGeom>
        </p:spPr>
      </p:pic>
      <p:sp>
        <p:nvSpPr>
          <p:cNvPr id="24" name="Text 18"/>
          <p:cNvSpPr/>
          <p:nvPr/>
        </p:nvSpPr>
        <p:spPr>
          <a:xfrm>
            <a:off x="5961888" y="3849624"/>
            <a:ext cx="5486400" cy="731520"/>
          </a:xfrm>
          <a:prstGeom prst="rect">
            <a:avLst/>
          </a:prstGeom>
          <a:noFill/>
          <a:ln/>
        </p:spPr>
        <p:txBody>
          <a:bodyPr wrap="square" lIns="0" tIns="0" rIns="0" bIns="0" rtlCol="0" anchor="ctr"/>
          <a:lstStyle/>
          <a:p>
            <a:pPr algn="l" indent="0" marL="0">
              <a:buNone/>
            </a:pPr>
            <a:r>
              <a:rPr lang="en-US" sz="1600" b="1" dirty="0">
                <a:solidFill>
                  <a:srgbClr val="0F172A"/>
                </a:solidFill>
                <a:latin typeface="Calibri" pitchFamily="34" charset="0"/>
                <a:ea typeface="Calibri" pitchFamily="34" charset="-122"/>
                <a:cs typeface="Calibri" pitchFamily="34" charset="-120"/>
              </a:rPr>
              <a:t>The specialist is far away</a:t>
            </a:r>
            <a:endParaRPr lang="en-US" sz="1600" dirty="0"/>
          </a:p>
          <a:p>
            <a:pPr algn="l" indent="0" marL="0">
              <a:buNone/>
            </a:pPr>
            <a:r>
              <a:rPr lang="en-US" sz="1250" dirty="0">
                <a:solidFill>
                  <a:srgbClr val="0F172A"/>
                </a:solidFill>
                <a:latin typeface="Calibri" pitchFamily="34" charset="0"/>
                <a:ea typeface="Calibri" pitchFamily="34" charset="-122"/>
                <a:cs typeface="Calibri" pitchFamily="34" charset="-120"/>
              </a:rPr>
              <a:t>There is no vet nearby at the moment a question comes up.</a:t>
            </a:r>
            <a:endParaRPr lang="en-US" sz="1600" dirty="0"/>
          </a:p>
        </p:txBody>
      </p:sp>
      <p:pic>
        <p:nvPicPr>
          <p:cNvPr id="25" name="Image 4" descr="/home/abraxis/Desktop/AgroZen/docs/studexpo/assets/photo_card.png">    </p:cNvPr>
          <p:cNvPicPr>
            <a:picLocks noChangeAspect="1"/>
          </p:cNvPicPr>
          <p:nvPr/>
        </p:nvPicPr>
        <p:blipFill>
          <a:blip r:embed="rId5"/>
          <a:stretch>
            <a:fillRect/>
          </a:stretch>
        </p:blipFill>
        <p:spPr>
          <a:xfrm>
            <a:off x="5074920" y="4846320"/>
            <a:ext cx="6492240" cy="1731264"/>
          </a:xfrm>
          <a:prstGeom prst="rect">
            <a:avLst/>
          </a:prstGeom>
        </p:spPr>
      </p:pic>
      <p:sp>
        <p:nvSpPr>
          <p:cNvPr id="26" name="Text 19"/>
          <p:cNvSpPr/>
          <p:nvPr/>
        </p:nvSpPr>
        <p:spPr>
          <a:xfrm>
            <a:off x="5349240" y="4919472"/>
            <a:ext cx="4846320" cy="1600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birds are gone. The debt remains.</a:t>
            </a:r>
            <a:endParaRPr lang="en-US" sz="2000" dirty="0"/>
          </a:p>
          <a:p>
            <a:pPr indent="0" marL="0">
              <a:buNone/>
            </a:pPr>
            <a:r>
              <a:rPr lang="en-US" sz="1250" dirty="0">
                <a:solidFill>
                  <a:srgbClr val="DCFCE7"/>
                </a:solidFill>
                <a:latin typeface="Calibri" pitchFamily="34" charset="0"/>
                <a:ea typeface="Calibri" pitchFamily="34" charset="-122"/>
                <a:cs typeface="Calibri" pitchFamily="34" charset="-120"/>
              </a:rPr>
              <a:t>People lose money not because of laziness, but because of mistakes no one warned them about.</a:t>
            </a:r>
            <a:endParaRPr lang="en-US" sz="2000" dirty="0"/>
          </a:p>
        </p:txBody>
      </p:sp>
      <p:pic>
        <p:nvPicPr>
          <p:cNvPr id="27" name="Image 5" descr="/home/abraxis/Desktop/AgroZen/docs/studexpo/assets/chick_red.png">    </p:cNvPr>
          <p:cNvPicPr>
            <a:picLocks noChangeAspect="1"/>
          </p:cNvPicPr>
          <p:nvPr/>
        </p:nvPicPr>
        <p:blipFill>
          <a:blip r:embed="rId6"/>
          <a:stretch>
            <a:fillRect/>
          </a:stretch>
        </p:blipFill>
        <p:spPr>
          <a:xfrm>
            <a:off x="10469880" y="5120640"/>
            <a:ext cx="1005840" cy="1005840"/>
          </a:xfrm>
          <a:prstGeom prst="rect">
            <a:avLst/>
          </a:prstGeom>
        </p:spPr>
      </p:pic>
      <p:sp>
        <p:nvSpPr>
          <p:cNvPr id="28" name="Text 20"/>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SOLUTION</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AgroZen guides the farmer through all 42 days</a:t>
            </a:r>
            <a:endParaRPr lang="en-US" sz="3400" dirty="0"/>
          </a:p>
        </p:txBody>
      </p:sp>
      <p:pic>
        <p:nvPicPr>
          <p:cNvPr id="4" name="Image 0" descr="/home/abraxis/Desktop/AgroZen/docs/studexpo/assets/panel_dark.png">    </p:cNvPr>
          <p:cNvPicPr>
            <a:picLocks noChangeAspect="1"/>
          </p:cNvPicPr>
          <p:nvPr/>
        </p:nvPicPr>
        <p:blipFill>
          <a:blip r:embed="rId1"/>
          <a:stretch>
            <a:fillRect/>
          </a:stretch>
        </p:blipFill>
        <p:spPr>
          <a:xfrm>
            <a:off x="457200" y="1508760"/>
            <a:ext cx="11274552" cy="5167503"/>
          </a:xfrm>
          <a:prstGeom prst="rect">
            <a:avLst/>
          </a:prstGeom>
        </p:spPr>
      </p:pic>
      <p:pic>
        <p:nvPicPr>
          <p:cNvPr id="5" name="Image 1" descr="AgroZen screen: today">    </p:cNvPr>
          <p:cNvPicPr>
            <a:picLocks noChangeAspect="1"/>
          </p:cNvPicPr>
          <p:nvPr/>
        </p:nvPicPr>
        <p:blipFill>
          <a:blip r:embed="rId2"/>
          <a:stretch>
            <a:fillRect/>
          </a:stretch>
        </p:blipFill>
        <p:spPr>
          <a:xfrm>
            <a:off x="776014" y="1644694"/>
            <a:ext cx="1992761" cy="3888652"/>
          </a:xfrm>
          <a:prstGeom prst="rect">
            <a:avLst/>
          </a:prstGeom>
        </p:spPr>
      </p:pic>
      <p:sp>
        <p:nvSpPr>
          <p:cNvPr id="6" name="Shape 2"/>
          <p:cNvSpPr/>
          <p:nvPr/>
        </p:nvSpPr>
        <p:spPr>
          <a:xfrm>
            <a:off x="914400" y="5596128"/>
            <a:ext cx="402336" cy="402336"/>
          </a:xfrm>
          <a:prstGeom prst="ellipse">
            <a:avLst/>
          </a:prstGeom>
          <a:solidFill>
            <a:srgbClr val="F97316"/>
          </a:solidFill>
          <a:ln/>
        </p:spPr>
      </p:sp>
      <p:pic>
        <p:nvPicPr>
          <p:cNvPr id="7" name="Image 2" descr="preencoded.png">    </p:cNvPr>
          <p:cNvPicPr>
            <a:picLocks noChangeAspect="1"/>
          </p:cNvPicPr>
          <p:nvPr/>
        </p:nvPicPr>
        <p:blipFill>
          <a:blip r:embed="rId3"/>
          <a:stretch>
            <a:fillRect/>
          </a:stretch>
        </p:blipFill>
        <p:spPr>
          <a:xfrm>
            <a:off x="1006937" y="5688665"/>
            <a:ext cx="217261" cy="217261"/>
          </a:xfrm>
          <a:prstGeom prst="rect">
            <a:avLst/>
          </a:prstGeom>
        </p:spPr>
      </p:pic>
      <p:sp>
        <p:nvSpPr>
          <p:cNvPr id="8" name="Text 3"/>
          <p:cNvSpPr/>
          <p:nvPr/>
        </p:nvSpPr>
        <p:spPr>
          <a:xfrm>
            <a:off x="1389888" y="5532120"/>
            <a:ext cx="1612401" cy="685800"/>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Today</a:t>
            </a:r>
            <a:endParaRPr lang="en-US" sz="1400" dirty="0"/>
          </a:p>
          <a:p>
            <a:pPr algn="l" indent="0" marL="0">
              <a:buNone/>
            </a:pPr>
            <a:r>
              <a:rPr lang="en-US" sz="1050" dirty="0">
                <a:solidFill>
                  <a:srgbClr val="DCFCE7"/>
                </a:solidFill>
                <a:latin typeface="Calibri" pitchFamily="34" charset="0"/>
                <a:ea typeface="Calibri" pitchFamily="34" charset="-122"/>
                <a:cs typeface="Calibri" pitchFamily="34" charset="-120"/>
              </a:rPr>
              <a:t>Targets for temperature, feed and water</a:t>
            </a:r>
            <a:endParaRPr lang="en-US" sz="1400" dirty="0"/>
          </a:p>
        </p:txBody>
      </p:sp>
      <p:pic>
        <p:nvPicPr>
          <p:cNvPr id="9" name="Image 3" descr="AgroZen screen: plan">    </p:cNvPr>
          <p:cNvPicPr>
            <a:picLocks noChangeAspect="1"/>
          </p:cNvPicPr>
          <p:nvPr/>
        </p:nvPicPr>
        <p:blipFill>
          <a:blip r:embed="rId4"/>
          <a:stretch>
            <a:fillRect/>
          </a:stretch>
        </p:blipFill>
        <p:spPr>
          <a:xfrm>
            <a:off x="2937055" y="1644694"/>
            <a:ext cx="1992761" cy="3888652"/>
          </a:xfrm>
          <a:prstGeom prst="rect">
            <a:avLst/>
          </a:prstGeom>
        </p:spPr>
      </p:pic>
      <p:sp>
        <p:nvSpPr>
          <p:cNvPr id="10" name="Shape 4"/>
          <p:cNvSpPr/>
          <p:nvPr/>
        </p:nvSpPr>
        <p:spPr>
          <a:xfrm>
            <a:off x="3075441" y="5596128"/>
            <a:ext cx="402336" cy="402336"/>
          </a:xfrm>
          <a:prstGeom prst="ellipse">
            <a:avLst/>
          </a:prstGeom>
          <a:solidFill>
            <a:srgbClr val="15803D"/>
          </a:solidFill>
          <a:ln/>
        </p:spPr>
      </p:sp>
      <p:pic>
        <p:nvPicPr>
          <p:cNvPr id="11" name="Image 4" descr="preencoded.png">    </p:cNvPr>
          <p:cNvPicPr>
            <a:picLocks noChangeAspect="1"/>
          </p:cNvPicPr>
          <p:nvPr/>
        </p:nvPicPr>
        <p:blipFill>
          <a:blip r:embed="rId5"/>
          <a:stretch>
            <a:fillRect/>
          </a:stretch>
        </p:blipFill>
        <p:spPr>
          <a:xfrm>
            <a:off x="3167978" y="5688665"/>
            <a:ext cx="217261" cy="217261"/>
          </a:xfrm>
          <a:prstGeom prst="rect">
            <a:avLst/>
          </a:prstGeom>
        </p:spPr>
      </p:pic>
      <p:sp>
        <p:nvSpPr>
          <p:cNvPr id="12" name="Text 5"/>
          <p:cNvSpPr/>
          <p:nvPr/>
        </p:nvSpPr>
        <p:spPr>
          <a:xfrm>
            <a:off x="3550929" y="5532120"/>
            <a:ext cx="1612401" cy="685800"/>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42-day plan</a:t>
            </a:r>
            <a:endParaRPr lang="en-US" sz="1400" dirty="0"/>
          </a:p>
          <a:p>
            <a:pPr algn="l" indent="0" marL="0">
              <a:buNone/>
            </a:pPr>
            <a:r>
              <a:rPr lang="en-US" sz="1050" dirty="0">
                <a:solidFill>
                  <a:srgbClr val="DCFCE7"/>
                </a:solidFill>
                <a:latin typeface="Calibri" pitchFamily="34" charset="0"/>
                <a:ea typeface="Calibri" pitchFamily="34" charset="-122"/>
                <a:cs typeface="Calibri" pitchFamily="34" charset="-120"/>
              </a:rPr>
              <a:t>Ross-308 / Cobb-500 for every day</a:t>
            </a:r>
            <a:endParaRPr lang="en-US" sz="1400" dirty="0"/>
          </a:p>
        </p:txBody>
      </p:sp>
      <p:pic>
        <p:nvPicPr>
          <p:cNvPr id="13" name="Image 5" descr="AgroZen screen: assistant">    </p:cNvPr>
          <p:cNvPicPr>
            <a:picLocks noChangeAspect="1"/>
          </p:cNvPicPr>
          <p:nvPr/>
        </p:nvPicPr>
        <p:blipFill>
          <a:blip r:embed="rId6"/>
          <a:stretch>
            <a:fillRect/>
          </a:stretch>
        </p:blipFill>
        <p:spPr>
          <a:xfrm>
            <a:off x="5098095" y="1644694"/>
            <a:ext cx="1992761" cy="3888652"/>
          </a:xfrm>
          <a:prstGeom prst="rect">
            <a:avLst/>
          </a:prstGeom>
        </p:spPr>
      </p:pic>
      <p:sp>
        <p:nvSpPr>
          <p:cNvPr id="14" name="Shape 6"/>
          <p:cNvSpPr/>
          <p:nvPr/>
        </p:nvSpPr>
        <p:spPr>
          <a:xfrm>
            <a:off x="5236482" y="5596128"/>
            <a:ext cx="402336" cy="402336"/>
          </a:xfrm>
          <a:prstGeom prst="ellipse">
            <a:avLst/>
          </a:prstGeom>
          <a:solidFill>
            <a:srgbClr val="2563EB"/>
          </a:solidFill>
          <a:ln/>
        </p:spPr>
      </p:sp>
      <p:pic>
        <p:nvPicPr>
          <p:cNvPr id="15" name="Image 6" descr="preencoded.png">    </p:cNvPr>
          <p:cNvPicPr>
            <a:picLocks noChangeAspect="1"/>
          </p:cNvPicPr>
          <p:nvPr/>
        </p:nvPicPr>
        <p:blipFill>
          <a:blip r:embed="rId7"/>
          <a:stretch>
            <a:fillRect/>
          </a:stretch>
        </p:blipFill>
        <p:spPr>
          <a:xfrm>
            <a:off x="5329019" y="5688665"/>
            <a:ext cx="217261" cy="217261"/>
          </a:xfrm>
          <a:prstGeom prst="rect">
            <a:avLst/>
          </a:prstGeom>
        </p:spPr>
      </p:pic>
      <p:sp>
        <p:nvSpPr>
          <p:cNvPr id="16" name="Text 7"/>
          <p:cNvSpPr/>
          <p:nvPr/>
        </p:nvSpPr>
        <p:spPr>
          <a:xfrm>
            <a:off x="5711970" y="5532120"/>
            <a:ext cx="1612401" cy="685800"/>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AI assistant</a:t>
            </a:r>
            <a:endParaRPr lang="en-US" sz="1400" dirty="0"/>
          </a:p>
          <a:p>
            <a:pPr algn="l" indent="0" marL="0">
              <a:buNone/>
            </a:pPr>
            <a:r>
              <a:rPr lang="en-US" sz="1050" dirty="0">
                <a:solidFill>
                  <a:srgbClr val="DCFCE7"/>
                </a:solidFill>
                <a:latin typeface="Calibri" pitchFamily="34" charset="0"/>
                <a:ea typeface="Calibri" pitchFamily="34" charset="-122"/>
                <a:cs typeface="Calibri" pitchFamily="34" charset="-120"/>
              </a:rPr>
              <a:t>Voice, text or photo, in your language</a:t>
            </a:r>
            <a:endParaRPr lang="en-US" sz="1400" dirty="0"/>
          </a:p>
        </p:txBody>
      </p:sp>
      <p:pic>
        <p:nvPicPr>
          <p:cNvPr id="17" name="Image 7" descr="AgroZen screen: diary">    </p:cNvPr>
          <p:cNvPicPr>
            <a:picLocks noChangeAspect="1"/>
          </p:cNvPicPr>
          <p:nvPr/>
        </p:nvPicPr>
        <p:blipFill>
          <a:blip r:embed="rId8"/>
          <a:stretch>
            <a:fillRect/>
          </a:stretch>
        </p:blipFill>
        <p:spPr>
          <a:xfrm>
            <a:off x="7259136" y="1644694"/>
            <a:ext cx="1992761" cy="3888652"/>
          </a:xfrm>
          <a:prstGeom prst="rect">
            <a:avLst/>
          </a:prstGeom>
        </p:spPr>
      </p:pic>
      <p:sp>
        <p:nvSpPr>
          <p:cNvPr id="18" name="Shape 8"/>
          <p:cNvSpPr/>
          <p:nvPr/>
        </p:nvSpPr>
        <p:spPr>
          <a:xfrm>
            <a:off x="7397522" y="5596128"/>
            <a:ext cx="402336" cy="402336"/>
          </a:xfrm>
          <a:prstGeom prst="ellipse">
            <a:avLst/>
          </a:prstGeom>
          <a:solidFill>
            <a:srgbClr val="DC2626"/>
          </a:solidFill>
          <a:ln/>
        </p:spPr>
      </p:sp>
      <p:pic>
        <p:nvPicPr>
          <p:cNvPr id="19" name="Image 8" descr="preencoded.png">    </p:cNvPr>
          <p:cNvPicPr>
            <a:picLocks noChangeAspect="1"/>
          </p:cNvPicPr>
          <p:nvPr/>
        </p:nvPicPr>
        <p:blipFill>
          <a:blip r:embed="rId9"/>
          <a:stretch>
            <a:fillRect/>
          </a:stretch>
        </p:blipFill>
        <p:spPr>
          <a:xfrm>
            <a:off x="7490060" y="5688665"/>
            <a:ext cx="217261" cy="217261"/>
          </a:xfrm>
          <a:prstGeom prst="rect">
            <a:avLst/>
          </a:prstGeom>
        </p:spPr>
      </p:pic>
      <p:sp>
        <p:nvSpPr>
          <p:cNvPr id="20" name="Text 9"/>
          <p:cNvSpPr/>
          <p:nvPr/>
        </p:nvSpPr>
        <p:spPr>
          <a:xfrm>
            <a:off x="7873010" y="5532120"/>
            <a:ext cx="1612401" cy="685800"/>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Flock diary</a:t>
            </a:r>
            <a:endParaRPr lang="en-US" sz="1400" dirty="0"/>
          </a:p>
          <a:p>
            <a:pPr algn="l" indent="0" marL="0">
              <a:buNone/>
            </a:pPr>
            <a:r>
              <a:rPr lang="en-US" sz="1050" dirty="0">
                <a:solidFill>
                  <a:srgbClr val="DCFCE7"/>
                </a:solidFill>
                <a:latin typeface="Calibri" pitchFamily="34" charset="0"/>
                <a:ea typeface="Calibri" pitchFamily="34" charset="-122"/>
                <a:cs typeface="Calibri" pitchFamily="34" charset="-120"/>
              </a:rPr>
              <a:t>Losses above the norm: the vet's number</a:t>
            </a:r>
            <a:endParaRPr lang="en-US" sz="1400" dirty="0"/>
          </a:p>
        </p:txBody>
      </p:sp>
      <p:pic>
        <p:nvPicPr>
          <p:cNvPr id="21" name="Image 9" descr="AgroZen screen: learn">    </p:cNvPr>
          <p:cNvPicPr>
            <a:picLocks noChangeAspect="1"/>
          </p:cNvPicPr>
          <p:nvPr/>
        </p:nvPicPr>
        <p:blipFill>
          <a:blip r:embed="rId10"/>
          <a:stretch>
            <a:fillRect/>
          </a:stretch>
        </p:blipFill>
        <p:spPr>
          <a:xfrm>
            <a:off x="9420177" y="1644694"/>
            <a:ext cx="1992761" cy="3888652"/>
          </a:xfrm>
          <a:prstGeom prst="rect">
            <a:avLst/>
          </a:prstGeom>
        </p:spPr>
      </p:pic>
      <p:sp>
        <p:nvSpPr>
          <p:cNvPr id="22" name="Shape 10"/>
          <p:cNvSpPr/>
          <p:nvPr/>
        </p:nvSpPr>
        <p:spPr>
          <a:xfrm>
            <a:off x="9558563" y="5596128"/>
            <a:ext cx="402336" cy="402336"/>
          </a:xfrm>
          <a:prstGeom prst="ellipse">
            <a:avLst/>
          </a:prstGeom>
          <a:solidFill>
            <a:srgbClr val="F59E0B"/>
          </a:solidFill>
          <a:ln/>
        </p:spPr>
      </p:sp>
      <p:pic>
        <p:nvPicPr>
          <p:cNvPr id="23" name="Image 10" descr="preencoded.png">    </p:cNvPr>
          <p:cNvPicPr>
            <a:picLocks noChangeAspect="1"/>
          </p:cNvPicPr>
          <p:nvPr/>
        </p:nvPicPr>
        <p:blipFill>
          <a:blip r:embed="rId11"/>
          <a:stretch>
            <a:fillRect/>
          </a:stretch>
        </p:blipFill>
        <p:spPr>
          <a:xfrm>
            <a:off x="9651100" y="5688665"/>
            <a:ext cx="217261" cy="217261"/>
          </a:xfrm>
          <a:prstGeom prst="rect">
            <a:avLst/>
          </a:prstGeom>
        </p:spPr>
      </p:pic>
      <p:sp>
        <p:nvSpPr>
          <p:cNvPr id="24" name="Text 11"/>
          <p:cNvSpPr/>
          <p:nvPr/>
        </p:nvSpPr>
        <p:spPr>
          <a:xfrm>
            <a:off x="10034051" y="5532120"/>
            <a:ext cx="1612401" cy="685800"/>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Course</a:t>
            </a:r>
            <a:endParaRPr lang="en-US" sz="1400" dirty="0"/>
          </a:p>
          <a:p>
            <a:pPr algn="l" indent="0" marL="0">
              <a:buNone/>
            </a:pPr>
            <a:r>
              <a:rPr lang="en-US" sz="1050" dirty="0">
                <a:solidFill>
                  <a:srgbClr val="DCFCE7"/>
                </a:solidFill>
                <a:latin typeface="Calibri" pitchFamily="34" charset="0"/>
                <a:ea typeface="Calibri" pitchFamily="34" charset="-122"/>
                <a:cs typeface="Calibri" pitchFamily="34" charset="-120"/>
              </a:rPr>
              <a:t>5 lessons and a certificate for a loan</a:t>
            </a:r>
            <a:endParaRPr lang="en-US" sz="1400" dirty="0"/>
          </a:p>
        </p:txBody>
      </p:sp>
      <p:sp>
        <p:nvSpPr>
          <p:cNvPr id="25" name="Text 12"/>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NEW · SMART BARN PROTOTYPE</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The AI camera colours every bird by its health</a:t>
            </a:r>
            <a:endParaRPr lang="en-US" sz="3400" dirty="0"/>
          </a:p>
        </p:txBody>
      </p:sp>
      <p:pic>
        <p:nvPicPr>
          <p:cNvPr id="4" name="Image 0" descr="AgroZen screen: monitor_alarm">    </p:cNvPr>
          <p:cNvPicPr>
            <a:picLocks noChangeAspect="1"/>
          </p:cNvPicPr>
          <p:nvPr/>
        </p:nvPicPr>
        <p:blipFill>
          <a:blip r:embed="rId1"/>
          <a:stretch>
            <a:fillRect/>
          </a:stretch>
        </p:blipFill>
        <p:spPr>
          <a:xfrm>
            <a:off x="459652" y="1419772"/>
            <a:ext cx="2598157" cy="5070015"/>
          </a:xfrm>
          <a:prstGeom prst="rect">
            <a:avLst/>
          </a:prstGeom>
        </p:spPr>
      </p:pic>
      <p:pic>
        <p:nvPicPr>
          <p:cNvPr id="5" name="Image 1" descr="AI camera frame with green, amber and red boxes">    </p:cNvPr>
          <p:cNvPicPr>
            <a:picLocks noChangeAspect="1"/>
          </p:cNvPicPr>
          <p:nvPr/>
        </p:nvPicPr>
        <p:blipFill>
          <a:blip r:embed="rId2"/>
          <a:stretch>
            <a:fillRect/>
          </a:stretch>
        </p:blipFill>
        <p:spPr>
          <a:xfrm>
            <a:off x="2962605" y="1316685"/>
            <a:ext cx="5641950" cy="4160584"/>
          </a:xfrm>
          <a:prstGeom prst="rect">
            <a:avLst/>
          </a:prstGeom>
        </p:spPr>
      </p:pic>
      <p:sp>
        <p:nvSpPr>
          <p:cNvPr id="6" name="Shape 2"/>
          <p:cNvSpPr/>
          <p:nvPr/>
        </p:nvSpPr>
        <p:spPr>
          <a:xfrm>
            <a:off x="8641080" y="1600200"/>
            <a:ext cx="2907792" cy="822960"/>
          </a:xfrm>
          <a:prstGeom prst="roundRect">
            <a:avLst>
              <a:gd name="adj" fmla="val 20000"/>
            </a:avLst>
          </a:prstGeom>
          <a:solidFill>
            <a:srgbClr val="E6F4EA"/>
          </a:solidFill>
          <a:ln/>
        </p:spPr>
      </p:sp>
      <p:pic>
        <p:nvPicPr>
          <p:cNvPr id="7" name="Image 2" descr="/home/abraxis/Desktop/AgroZen/docs/studexpo/assets/chick_green.png">    </p:cNvPr>
          <p:cNvPicPr>
            <a:picLocks noChangeAspect="1"/>
          </p:cNvPicPr>
          <p:nvPr/>
        </p:nvPicPr>
        <p:blipFill>
          <a:blip r:embed="rId3"/>
          <a:stretch>
            <a:fillRect/>
          </a:stretch>
        </p:blipFill>
        <p:spPr>
          <a:xfrm>
            <a:off x="8732520" y="1664208"/>
            <a:ext cx="694944" cy="694944"/>
          </a:xfrm>
          <a:prstGeom prst="rect">
            <a:avLst/>
          </a:prstGeom>
        </p:spPr>
      </p:pic>
      <p:sp>
        <p:nvSpPr>
          <p:cNvPr id="8" name="Text 3"/>
          <p:cNvSpPr/>
          <p:nvPr/>
        </p:nvSpPr>
        <p:spPr>
          <a:xfrm>
            <a:off x="9509760" y="1691640"/>
            <a:ext cx="1965960" cy="640080"/>
          </a:xfrm>
          <a:prstGeom prst="rect">
            <a:avLst/>
          </a:prstGeom>
          <a:noFill/>
          <a:ln/>
        </p:spPr>
        <p:txBody>
          <a:bodyPr wrap="square" lIns="0" tIns="0" rIns="0" bIns="0" rtlCol="0" anchor="ctr"/>
          <a:lstStyle/>
          <a:p>
            <a:pPr algn="l" indent="0" marL="0">
              <a:buNone/>
            </a:pPr>
            <a:r>
              <a:rPr lang="en-US" sz="1500" b="1" dirty="0">
                <a:solidFill>
                  <a:srgbClr val="15803D"/>
                </a:solidFill>
                <a:latin typeface="Calibri" pitchFamily="34" charset="0"/>
                <a:ea typeface="Calibri" pitchFamily="34" charset="-122"/>
                <a:cs typeface="Calibri" pitchFamily="34" charset="-120"/>
              </a:rPr>
              <a:t>Active</a:t>
            </a:r>
            <a:endParaRPr lang="en-US" sz="1500" dirty="0"/>
          </a:p>
          <a:p>
            <a:pPr algn="l" indent="0" marL="0">
              <a:buNone/>
            </a:pPr>
            <a:r>
              <a:rPr lang="en-US" sz="1150" dirty="0">
                <a:solidFill>
                  <a:srgbClr val="0F172A"/>
                </a:solidFill>
                <a:latin typeface="Calibri" pitchFamily="34" charset="0"/>
                <a:ea typeface="Calibri" pitchFamily="34" charset="-122"/>
                <a:cs typeface="Calibri" pitchFamily="34" charset="-120"/>
              </a:rPr>
              <a:t>Moves, eats and drinks</a:t>
            </a:r>
            <a:endParaRPr lang="en-US" sz="1500" dirty="0"/>
          </a:p>
        </p:txBody>
      </p:sp>
      <p:sp>
        <p:nvSpPr>
          <p:cNvPr id="9" name="Shape 4"/>
          <p:cNvSpPr/>
          <p:nvPr/>
        </p:nvSpPr>
        <p:spPr>
          <a:xfrm>
            <a:off x="8641080" y="2532888"/>
            <a:ext cx="2907792" cy="822960"/>
          </a:xfrm>
          <a:prstGeom prst="roundRect">
            <a:avLst>
              <a:gd name="adj" fmla="val 20000"/>
            </a:avLst>
          </a:prstGeom>
          <a:solidFill>
            <a:srgbClr val="FEF3C7"/>
          </a:solidFill>
          <a:ln/>
        </p:spPr>
      </p:sp>
      <p:pic>
        <p:nvPicPr>
          <p:cNvPr id="10" name="Image 3" descr="/home/abraxis/Desktop/AgroZen/docs/studexpo/assets/chick_amber.png">    </p:cNvPr>
          <p:cNvPicPr>
            <a:picLocks noChangeAspect="1"/>
          </p:cNvPicPr>
          <p:nvPr/>
        </p:nvPicPr>
        <p:blipFill>
          <a:blip r:embed="rId4"/>
          <a:stretch>
            <a:fillRect/>
          </a:stretch>
        </p:blipFill>
        <p:spPr>
          <a:xfrm>
            <a:off x="8732520" y="2596896"/>
            <a:ext cx="694944" cy="694944"/>
          </a:xfrm>
          <a:prstGeom prst="rect">
            <a:avLst/>
          </a:prstGeom>
        </p:spPr>
      </p:pic>
      <p:sp>
        <p:nvSpPr>
          <p:cNvPr id="11" name="Text 5"/>
          <p:cNvSpPr/>
          <p:nvPr/>
        </p:nvSpPr>
        <p:spPr>
          <a:xfrm>
            <a:off x="9509760" y="2624328"/>
            <a:ext cx="1965960" cy="640080"/>
          </a:xfrm>
          <a:prstGeom prst="rect">
            <a:avLst/>
          </a:prstGeom>
          <a:noFill/>
          <a:ln/>
        </p:spPr>
        <p:txBody>
          <a:bodyPr wrap="square" lIns="0" tIns="0" rIns="0" bIns="0" rtlCol="0" anchor="ctr"/>
          <a:lstStyle/>
          <a:p>
            <a:pPr algn="l" indent="0" marL="0">
              <a:buNone/>
            </a:pPr>
            <a:r>
              <a:rPr lang="en-US" sz="1500" b="1" dirty="0">
                <a:solidFill>
                  <a:srgbClr val="B45309"/>
                </a:solidFill>
                <a:latin typeface="Calibri" pitchFamily="34" charset="0"/>
                <a:ea typeface="Calibri" pitchFamily="34" charset="-122"/>
                <a:cs typeface="Calibri" pitchFamily="34" charset="-120"/>
              </a:rPr>
              <a:t>Moving little</a:t>
            </a:r>
            <a:endParaRPr lang="en-US" sz="1500" dirty="0"/>
          </a:p>
          <a:p>
            <a:pPr algn="l" indent="0" marL="0">
              <a:buNone/>
            </a:pPr>
            <a:r>
              <a:rPr lang="en-US" sz="1150" dirty="0">
                <a:solidFill>
                  <a:srgbClr val="0F172A"/>
                </a:solidFill>
                <a:latin typeface="Calibri" pitchFamily="34" charset="0"/>
                <a:ea typeface="Calibri" pitchFamily="34" charset="-122"/>
                <a:cs typeface="Calibri" pitchFamily="34" charset="-120"/>
              </a:rPr>
              <a:t>An early sign: watch it</a:t>
            </a:r>
            <a:endParaRPr lang="en-US" sz="1500" dirty="0"/>
          </a:p>
        </p:txBody>
      </p:sp>
      <p:sp>
        <p:nvSpPr>
          <p:cNvPr id="12" name="Shape 6"/>
          <p:cNvSpPr/>
          <p:nvPr/>
        </p:nvSpPr>
        <p:spPr>
          <a:xfrm>
            <a:off x="8641080" y="3465576"/>
            <a:ext cx="2907792" cy="822960"/>
          </a:xfrm>
          <a:prstGeom prst="roundRect">
            <a:avLst>
              <a:gd name="adj" fmla="val 20000"/>
            </a:avLst>
          </a:prstGeom>
          <a:solidFill>
            <a:srgbClr val="FEE2E2"/>
          </a:solidFill>
          <a:ln/>
        </p:spPr>
      </p:sp>
      <p:pic>
        <p:nvPicPr>
          <p:cNvPr id="13" name="Image 4" descr="/home/abraxis/Desktop/AgroZen/docs/studexpo/assets/chick_red.png">    </p:cNvPr>
          <p:cNvPicPr>
            <a:picLocks noChangeAspect="1"/>
          </p:cNvPicPr>
          <p:nvPr/>
        </p:nvPicPr>
        <p:blipFill>
          <a:blip r:embed="rId5"/>
          <a:stretch>
            <a:fillRect/>
          </a:stretch>
        </p:blipFill>
        <p:spPr>
          <a:xfrm>
            <a:off x="8732520" y="3529584"/>
            <a:ext cx="694944" cy="694944"/>
          </a:xfrm>
          <a:prstGeom prst="rect">
            <a:avLst/>
          </a:prstGeom>
        </p:spPr>
      </p:pic>
      <p:sp>
        <p:nvSpPr>
          <p:cNvPr id="14" name="Text 7"/>
          <p:cNvSpPr/>
          <p:nvPr/>
        </p:nvSpPr>
        <p:spPr>
          <a:xfrm>
            <a:off x="9509760" y="3557016"/>
            <a:ext cx="1965960" cy="640080"/>
          </a:xfrm>
          <a:prstGeom prst="rect">
            <a:avLst/>
          </a:prstGeom>
          <a:noFill/>
          <a:ln/>
        </p:spPr>
        <p:txBody>
          <a:bodyPr wrap="square" lIns="0" tIns="0" rIns="0" bIns="0" rtlCol="0" anchor="ctr"/>
          <a:lstStyle/>
          <a:p>
            <a:pPr algn="l" indent="0" marL="0">
              <a:buNone/>
            </a:pPr>
            <a:r>
              <a:rPr lang="en-US" sz="1500" b="1" dirty="0">
                <a:solidFill>
                  <a:srgbClr val="DC2626"/>
                </a:solidFill>
                <a:latin typeface="Calibri" pitchFamily="34" charset="0"/>
                <a:ea typeface="Calibri" pitchFamily="34" charset="-122"/>
                <a:cs typeface="Calibri" pitchFamily="34" charset="-120"/>
              </a:rPr>
              <a:t>Not moving</a:t>
            </a:r>
            <a:endParaRPr lang="en-US" sz="1500" dirty="0"/>
          </a:p>
          <a:p>
            <a:pPr algn="l" indent="0" marL="0">
              <a:buNone/>
            </a:pPr>
            <a:r>
              <a:rPr lang="en-US" sz="1150" dirty="0">
                <a:solidFill>
                  <a:srgbClr val="0F172A"/>
                </a:solidFill>
                <a:latin typeface="Calibri" pitchFamily="34" charset="0"/>
                <a:ea typeface="Calibri" pitchFamily="34" charset="-122"/>
                <a:cs typeface="Calibri" pitchFamily="34" charset="-120"/>
              </a:rPr>
              <a:t>Remove it, call the vet</a:t>
            </a:r>
            <a:endParaRPr lang="en-US" sz="1500" dirty="0"/>
          </a:p>
        </p:txBody>
      </p:sp>
      <p:sp>
        <p:nvSpPr>
          <p:cNvPr id="15" name="Shape 8"/>
          <p:cNvSpPr/>
          <p:nvPr/>
        </p:nvSpPr>
        <p:spPr>
          <a:xfrm>
            <a:off x="8641080" y="4480560"/>
            <a:ext cx="2907792" cy="1783080"/>
          </a:xfrm>
          <a:prstGeom prst="roundRect">
            <a:avLst>
              <a:gd name="adj" fmla="val 9231"/>
            </a:avLst>
          </a:prstGeom>
          <a:solidFill>
            <a:srgbClr val="FFFFFF"/>
          </a:solidFill>
          <a:ln w="12700">
            <a:solidFill>
              <a:srgbClr val="E2EBE4"/>
            </a:solidFill>
            <a:prstDash val="solid"/>
          </a:ln>
        </p:spPr>
      </p:sp>
      <p:sp>
        <p:nvSpPr>
          <p:cNvPr id="16" name="Text 9"/>
          <p:cNvSpPr/>
          <p:nvPr/>
        </p:nvSpPr>
        <p:spPr>
          <a:xfrm>
            <a:off x="8796528" y="4553712"/>
            <a:ext cx="2651760" cy="27432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Flock at a glance</a:t>
            </a:r>
            <a:endParaRPr lang="en-US" sz="1250" dirty="0"/>
          </a:p>
        </p:txBody>
      </p:sp>
      <p:pic>
        <p:nvPicPr>
          <p:cNvPr id="17" name="Image 5" descr="/home/abraxis/Desktop/AgroZen/docs/studexpo/assets/chick_grid.png">    </p:cNvPr>
          <p:cNvPicPr>
            <a:picLocks noChangeAspect="1"/>
          </p:cNvPicPr>
          <p:nvPr/>
        </p:nvPicPr>
        <p:blipFill>
          <a:blip r:embed="rId6"/>
          <a:stretch>
            <a:fillRect/>
          </a:stretch>
        </p:blipFill>
        <p:spPr>
          <a:xfrm>
            <a:off x="8778240" y="4864608"/>
            <a:ext cx="2633472" cy="875072"/>
          </a:xfrm>
          <a:prstGeom prst="rect">
            <a:avLst/>
          </a:prstGeom>
        </p:spPr>
      </p:pic>
      <p:sp>
        <p:nvSpPr>
          <p:cNvPr id="18" name="Text 10"/>
          <p:cNvSpPr/>
          <p:nvPr/>
        </p:nvSpPr>
        <p:spPr>
          <a:xfrm>
            <a:off x="8796528" y="5806440"/>
            <a:ext cx="2651760" cy="320040"/>
          </a:xfrm>
          <a:prstGeom prst="rect">
            <a:avLst/>
          </a:prstGeom>
          <a:noFill/>
          <a:ln/>
        </p:spPr>
        <p:txBody>
          <a:bodyPr wrap="square" lIns="0" tIns="0" rIns="0" bIns="0" rtlCol="0" anchor="ctr"/>
          <a:lstStyle/>
          <a:p>
            <a:pPr indent="0" marL="0">
              <a:buNone/>
            </a:pPr>
            <a:r>
              <a:rPr lang="en-US" sz="1150" b="1" dirty="0">
                <a:solidFill>
                  <a:srgbClr val="15803D"/>
                </a:solidFill>
                <a:latin typeface="Calibri" pitchFamily="34" charset="0"/>
                <a:ea typeface="Calibri" pitchFamily="34" charset="-122"/>
                <a:cs typeface="Calibri" pitchFamily="34" charset="-120"/>
              </a:rPr>
              <a:t>63 </a:t>
            </a:r>
            <a:pPr indent="0" marL="0">
              <a:buNone/>
            </a:pPr>
            <a:r>
              <a:rPr lang="en-US" sz="1150" dirty="0">
                <a:solidFill>
                  <a:srgbClr val="52665A"/>
                </a:solidFill>
                <a:latin typeface="Calibri" pitchFamily="34" charset="0"/>
                <a:ea typeface="Calibri" pitchFamily="34" charset="-122"/>
                <a:cs typeface="Calibri" pitchFamily="34" charset="-120"/>
              </a:rPr>
              <a:t>active · </a:t>
            </a:r>
            <a:pPr indent="0" marL="0">
              <a:buNone/>
            </a:pPr>
            <a:r>
              <a:rPr lang="en-US" sz="1150" b="1" dirty="0">
                <a:solidFill>
                  <a:srgbClr val="B45309"/>
                </a:solidFill>
                <a:latin typeface="Calibri" pitchFamily="34" charset="0"/>
                <a:ea typeface="Calibri" pitchFamily="34" charset="-122"/>
                <a:cs typeface="Calibri" pitchFamily="34" charset="-120"/>
              </a:rPr>
              <a:t>5 </a:t>
            </a:r>
            <a:pPr indent="0" marL="0">
              <a:buNone/>
            </a:pPr>
            <a:r>
              <a:rPr lang="en-US" sz="1150" dirty="0">
                <a:solidFill>
                  <a:srgbClr val="52665A"/>
                </a:solidFill>
                <a:latin typeface="Calibri" pitchFamily="34" charset="0"/>
                <a:ea typeface="Calibri" pitchFamily="34" charset="-122"/>
                <a:cs typeface="Calibri" pitchFamily="34" charset="-120"/>
              </a:rPr>
              <a:t>watch · </a:t>
            </a:r>
            <a:pPr indent="0" marL="0">
              <a:buNone/>
            </a:pPr>
            <a:r>
              <a:rPr lang="en-US" sz="1150" b="1" dirty="0">
                <a:solidFill>
                  <a:srgbClr val="DC2626"/>
                </a:solidFill>
                <a:latin typeface="Calibri" pitchFamily="34" charset="0"/>
                <a:ea typeface="Calibri" pitchFamily="34" charset="-122"/>
                <a:cs typeface="Calibri" pitchFamily="34" charset="-120"/>
              </a:rPr>
              <a:t>2 </a:t>
            </a:r>
            <a:pPr indent="0" marL="0">
              <a:buNone/>
            </a:pPr>
            <a:r>
              <a:rPr lang="en-US" sz="1150" dirty="0">
                <a:solidFill>
                  <a:srgbClr val="52665A"/>
                </a:solidFill>
                <a:latin typeface="Calibri" pitchFamily="34" charset="0"/>
                <a:ea typeface="Calibri" pitchFamily="34" charset="-122"/>
                <a:cs typeface="Calibri" pitchFamily="34" charset="-120"/>
              </a:rPr>
              <a:t>not moving</a:t>
            </a:r>
            <a:endParaRPr lang="en-US" sz="1150" dirty="0"/>
          </a:p>
        </p:txBody>
      </p:sp>
      <p:sp>
        <p:nvSpPr>
          <p:cNvPr id="19" name="Shape 11"/>
          <p:cNvSpPr/>
          <p:nvPr/>
        </p:nvSpPr>
        <p:spPr>
          <a:xfrm>
            <a:off x="3246120" y="5468074"/>
            <a:ext cx="1145286" cy="566928"/>
          </a:xfrm>
          <a:prstGeom prst="roundRect">
            <a:avLst>
              <a:gd name="adj" fmla="val 29032"/>
            </a:avLst>
          </a:prstGeom>
          <a:solidFill>
            <a:srgbClr val="FFFFFF"/>
          </a:solidFill>
          <a:ln w="12700">
            <a:solidFill>
              <a:srgbClr val="E2EBE4"/>
            </a:solidFill>
            <a:prstDash val="solid"/>
          </a:ln>
        </p:spPr>
      </p:sp>
      <p:sp>
        <p:nvSpPr>
          <p:cNvPr id="20" name="Shape 12"/>
          <p:cNvSpPr/>
          <p:nvPr/>
        </p:nvSpPr>
        <p:spPr>
          <a:xfrm>
            <a:off x="3337560" y="5568658"/>
            <a:ext cx="365760" cy="365760"/>
          </a:xfrm>
          <a:prstGeom prst="ellipse">
            <a:avLst/>
          </a:prstGeom>
          <a:solidFill>
            <a:srgbClr val="15803D"/>
          </a:solidFill>
          <a:ln/>
        </p:spPr>
      </p:sp>
      <p:pic>
        <p:nvPicPr>
          <p:cNvPr id="21" name="Image 6" descr="preencoded.png">    </p:cNvPr>
          <p:cNvPicPr>
            <a:picLocks noChangeAspect="1"/>
          </p:cNvPicPr>
          <p:nvPr/>
        </p:nvPicPr>
        <p:blipFill>
          <a:blip r:embed="rId7"/>
          <a:stretch>
            <a:fillRect/>
          </a:stretch>
        </p:blipFill>
        <p:spPr>
          <a:xfrm>
            <a:off x="3421685" y="5652782"/>
            <a:ext cx="197510" cy="197510"/>
          </a:xfrm>
          <a:prstGeom prst="rect">
            <a:avLst/>
          </a:prstGeom>
        </p:spPr>
      </p:pic>
      <p:sp>
        <p:nvSpPr>
          <p:cNvPr id="22" name="Text 13"/>
          <p:cNvSpPr/>
          <p:nvPr/>
        </p:nvSpPr>
        <p:spPr>
          <a:xfrm>
            <a:off x="3758184" y="5468074"/>
            <a:ext cx="596646" cy="56692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ESP32 sensors</a:t>
            </a:r>
            <a:endParaRPr lang="en-US" sz="1150" dirty="0"/>
          </a:p>
        </p:txBody>
      </p:sp>
      <p:sp>
        <p:nvSpPr>
          <p:cNvPr id="23" name="Shape 14"/>
          <p:cNvSpPr/>
          <p:nvPr/>
        </p:nvSpPr>
        <p:spPr>
          <a:xfrm>
            <a:off x="4555998" y="5468074"/>
            <a:ext cx="1145286" cy="566928"/>
          </a:xfrm>
          <a:prstGeom prst="roundRect">
            <a:avLst>
              <a:gd name="adj" fmla="val 29032"/>
            </a:avLst>
          </a:prstGeom>
          <a:solidFill>
            <a:srgbClr val="FFFFFF"/>
          </a:solidFill>
          <a:ln w="12700">
            <a:solidFill>
              <a:srgbClr val="E2EBE4"/>
            </a:solidFill>
            <a:prstDash val="solid"/>
          </a:ln>
        </p:spPr>
      </p:sp>
      <p:sp>
        <p:nvSpPr>
          <p:cNvPr id="24" name="Shape 15"/>
          <p:cNvSpPr/>
          <p:nvPr/>
        </p:nvSpPr>
        <p:spPr>
          <a:xfrm>
            <a:off x="4647438" y="5568658"/>
            <a:ext cx="365760" cy="365760"/>
          </a:xfrm>
          <a:prstGeom prst="ellipse">
            <a:avLst/>
          </a:prstGeom>
          <a:solidFill>
            <a:srgbClr val="2563EB"/>
          </a:solidFill>
          <a:ln/>
        </p:spPr>
      </p:sp>
      <p:pic>
        <p:nvPicPr>
          <p:cNvPr id="25" name="Image 7" descr="preencoded.png">    </p:cNvPr>
          <p:cNvPicPr>
            <a:picLocks noChangeAspect="1"/>
          </p:cNvPicPr>
          <p:nvPr/>
        </p:nvPicPr>
        <p:blipFill>
          <a:blip r:embed="rId8"/>
          <a:stretch>
            <a:fillRect/>
          </a:stretch>
        </p:blipFill>
        <p:spPr>
          <a:xfrm>
            <a:off x="4731563" y="5652782"/>
            <a:ext cx="197510" cy="197510"/>
          </a:xfrm>
          <a:prstGeom prst="rect">
            <a:avLst/>
          </a:prstGeom>
        </p:spPr>
      </p:pic>
      <p:sp>
        <p:nvSpPr>
          <p:cNvPr id="26" name="Text 16"/>
          <p:cNvSpPr/>
          <p:nvPr/>
        </p:nvSpPr>
        <p:spPr>
          <a:xfrm>
            <a:off x="5068062" y="5468074"/>
            <a:ext cx="596646" cy="56692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Jetson edge AI</a:t>
            </a:r>
            <a:endParaRPr lang="en-US" sz="1150" dirty="0"/>
          </a:p>
        </p:txBody>
      </p:sp>
      <p:sp>
        <p:nvSpPr>
          <p:cNvPr id="27" name="Shape 17"/>
          <p:cNvSpPr/>
          <p:nvPr/>
        </p:nvSpPr>
        <p:spPr>
          <a:xfrm>
            <a:off x="5865876" y="5468074"/>
            <a:ext cx="1145286" cy="566928"/>
          </a:xfrm>
          <a:prstGeom prst="roundRect">
            <a:avLst>
              <a:gd name="adj" fmla="val 29032"/>
            </a:avLst>
          </a:prstGeom>
          <a:solidFill>
            <a:srgbClr val="FFFFFF"/>
          </a:solidFill>
          <a:ln w="12700">
            <a:solidFill>
              <a:srgbClr val="E2EBE4"/>
            </a:solidFill>
            <a:prstDash val="solid"/>
          </a:ln>
        </p:spPr>
      </p:sp>
      <p:sp>
        <p:nvSpPr>
          <p:cNvPr id="28" name="Shape 18"/>
          <p:cNvSpPr/>
          <p:nvPr/>
        </p:nvSpPr>
        <p:spPr>
          <a:xfrm>
            <a:off x="5957316" y="5568658"/>
            <a:ext cx="365760" cy="365760"/>
          </a:xfrm>
          <a:prstGeom prst="ellipse">
            <a:avLst/>
          </a:prstGeom>
          <a:solidFill>
            <a:srgbClr val="F59E0B"/>
          </a:solidFill>
          <a:ln/>
        </p:spPr>
      </p:sp>
      <p:pic>
        <p:nvPicPr>
          <p:cNvPr id="29" name="Image 8" descr="preencoded.png">    </p:cNvPr>
          <p:cNvPicPr>
            <a:picLocks noChangeAspect="1"/>
          </p:cNvPicPr>
          <p:nvPr/>
        </p:nvPicPr>
        <p:blipFill>
          <a:blip r:embed="rId9"/>
          <a:stretch>
            <a:fillRect/>
          </a:stretch>
        </p:blipFill>
        <p:spPr>
          <a:xfrm>
            <a:off x="6041441" y="5652782"/>
            <a:ext cx="197510" cy="197510"/>
          </a:xfrm>
          <a:prstGeom prst="rect">
            <a:avLst/>
          </a:prstGeom>
        </p:spPr>
      </p:pic>
      <p:sp>
        <p:nvSpPr>
          <p:cNvPr id="30" name="Text 19"/>
          <p:cNvSpPr/>
          <p:nvPr/>
        </p:nvSpPr>
        <p:spPr>
          <a:xfrm>
            <a:off x="6377940" y="5468074"/>
            <a:ext cx="596646" cy="56692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Ross-308 rules</a:t>
            </a:r>
            <a:endParaRPr lang="en-US" sz="1150" dirty="0"/>
          </a:p>
        </p:txBody>
      </p:sp>
      <p:sp>
        <p:nvSpPr>
          <p:cNvPr id="31" name="Shape 20"/>
          <p:cNvSpPr/>
          <p:nvPr/>
        </p:nvSpPr>
        <p:spPr>
          <a:xfrm>
            <a:off x="7175754" y="5468074"/>
            <a:ext cx="1145286" cy="566928"/>
          </a:xfrm>
          <a:prstGeom prst="roundRect">
            <a:avLst>
              <a:gd name="adj" fmla="val 29032"/>
            </a:avLst>
          </a:prstGeom>
          <a:solidFill>
            <a:srgbClr val="FFFFFF"/>
          </a:solidFill>
          <a:ln w="12700">
            <a:solidFill>
              <a:srgbClr val="E2EBE4"/>
            </a:solidFill>
            <a:prstDash val="solid"/>
          </a:ln>
        </p:spPr>
      </p:sp>
      <p:sp>
        <p:nvSpPr>
          <p:cNvPr id="32" name="Shape 21"/>
          <p:cNvSpPr/>
          <p:nvPr/>
        </p:nvSpPr>
        <p:spPr>
          <a:xfrm>
            <a:off x="7267194" y="5568658"/>
            <a:ext cx="365760" cy="365760"/>
          </a:xfrm>
          <a:prstGeom prst="ellipse">
            <a:avLst/>
          </a:prstGeom>
          <a:solidFill>
            <a:srgbClr val="DC2626"/>
          </a:solidFill>
          <a:ln/>
        </p:spPr>
      </p:sp>
      <p:pic>
        <p:nvPicPr>
          <p:cNvPr id="33" name="Image 9" descr="preencoded.png">    </p:cNvPr>
          <p:cNvPicPr>
            <a:picLocks noChangeAspect="1"/>
          </p:cNvPicPr>
          <p:nvPr/>
        </p:nvPicPr>
        <p:blipFill>
          <a:blip r:embed="rId10"/>
          <a:stretch>
            <a:fillRect/>
          </a:stretch>
        </p:blipFill>
        <p:spPr>
          <a:xfrm>
            <a:off x="7351319" y="5652782"/>
            <a:ext cx="197510" cy="197510"/>
          </a:xfrm>
          <a:prstGeom prst="rect">
            <a:avLst/>
          </a:prstGeom>
        </p:spPr>
      </p:pic>
      <p:sp>
        <p:nvSpPr>
          <p:cNvPr id="34" name="Text 22"/>
          <p:cNvSpPr/>
          <p:nvPr/>
        </p:nvSpPr>
        <p:spPr>
          <a:xfrm>
            <a:off x="7687818" y="5468074"/>
            <a:ext cx="596646" cy="56692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Alert · vet · fans</a:t>
            </a:r>
            <a:endParaRPr lang="en-US" sz="1150" dirty="0"/>
          </a:p>
        </p:txBody>
      </p:sp>
      <p:sp>
        <p:nvSpPr>
          <p:cNvPr id="35" name="Text 23"/>
          <p:cNvSpPr/>
          <p:nvPr/>
        </p:nvSpPr>
        <p:spPr>
          <a:xfrm>
            <a:off x="3246120" y="6153874"/>
            <a:ext cx="5074920" cy="457200"/>
          </a:xfrm>
          <a:prstGeom prst="rect">
            <a:avLst/>
          </a:prstGeom>
          <a:noFill/>
          <a:ln/>
        </p:spPr>
        <p:txBody>
          <a:bodyPr wrap="square" lIns="0" tIns="0" rIns="0" bIns="0" rtlCol="0" anchor="t"/>
          <a:lstStyle/>
          <a:p>
            <a:pPr indent="0" marL="0">
              <a:buNone/>
            </a:pPr>
            <a:r>
              <a:rPr lang="en-US" sz="1100" i="1" dirty="0">
                <a:solidFill>
                  <a:srgbClr val="7A8E7E"/>
                </a:solidFill>
                <a:latin typeface="Calibri" pitchFamily="34" charset="0"/>
                <a:ea typeface="Calibri" pitchFamily="34" charset="-122"/>
                <a:cs typeface="Calibri" pitchFamily="34" charset="-120"/>
              </a:rPr>
              <a:t>NH3 up to 10 ppm · CO2 up to 3 000 ppm · fans switch on by themselves. Demo mode today; hardware goes into two pilot farms in 2027.</a:t>
            </a:r>
            <a:endParaRPr lang="en-US" sz="1100" dirty="0"/>
          </a:p>
        </p:txBody>
      </p:sp>
      <p:sp>
        <p:nvSpPr>
          <p:cNvPr id="36" name="Text 24"/>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NEW · FOR BANKS</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Banks see how the flock is doing — and trust the loan</a:t>
            </a:r>
            <a:endParaRPr lang="en-US" sz="3400" dirty="0"/>
          </a:p>
        </p:txBody>
      </p:sp>
      <p:pic>
        <p:nvPicPr>
          <p:cNvPr id="4" name="Image 0" descr="AgroZen screen: bank_report">    </p:cNvPr>
          <p:cNvPicPr>
            <a:picLocks noChangeAspect="1"/>
          </p:cNvPicPr>
          <p:nvPr/>
        </p:nvPicPr>
        <p:blipFill>
          <a:blip r:embed="rId1"/>
          <a:stretch>
            <a:fillRect/>
          </a:stretch>
        </p:blipFill>
        <p:spPr>
          <a:xfrm>
            <a:off x="464908" y="1470748"/>
            <a:ext cx="2522483" cy="4922345"/>
          </a:xfrm>
          <a:prstGeom prst="rect">
            <a:avLst/>
          </a:prstGeom>
        </p:spPr>
      </p:pic>
      <p:pic>
        <p:nvPicPr>
          <p:cNvPr id="5" name="Image 1" descr="AgroZen for Banks dashboard">    </p:cNvPr>
          <p:cNvPicPr>
            <a:picLocks noChangeAspect="1"/>
          </p:cNvPicPr>
          <p:nvPr/>
        </p:nvPicPr>
        <p:blipFill>
          <a:blip r:embed="rId2"/>
          <a:stretch>
            <a:fillRect/>
          </a:stretch>
        </p:blipFill>
        <p:spPr>
          <a:xfrm>
            <a:off x="2960554" y="1497514"/>
            <a:ext cx="5554611" cy="4672658"/>
          </a:xfrm>
          <a:prstGeom prst="rect">
            <a:avLst/>
          </a:prstGeom>
        </p:spPr>
      </p:pic>
      <p:sp>
        <p:nvSpPr>
          <p:cNvPr id="6" name="Text 2"/>
          <p:cNvSpPr/>
          <p:nvPr/>
        </p:nvSpPr>
        <p:spPr>
          <a:xfrm>
            <a:off x="3108960" y="6131494"/>
            <a:ext cx="5257800" cy="274320"/>
          </a:xfrm>
          <a:prstGeom prst="rect">
            <a:avLst/>
          </a:prstGeom>
          <a:noFill/>
          <a:ln/>
        </p:spPr>
        <p:txBody>
          <a:bodyPr wrap="square" lIns="0" tIns="0" rIns="0" bIns="0" rtlCol="0" anchor="ctr"/>
          <a:lstStyle/>
          <a:p>
            <a:pPr indent="0" marL="0">
              <a:buNone/>
            </a:pPr>
            <a:r>
              <a:rPr lang="en-US" sz="1100" dirty="0">
                <a:solidFill>
                  <a:srgbClr val="52665A"/>
                </a:solidFill>
                <a:latin typeface="Calibri" pitchFamily="34" charset="0"/>
                <a:ea typeface="Calibri" pitchFamily="34" charset="-122"/>
                <a:cs typeface="Calibri" pitchFamily="34" charset="-120"/>
              </a:rPr>
              <a:t>Bank dashboard: 10 pilot farmers, survival against the norm, risk and a district disease alert</a:t>
            </a:r>
            <a:endParaRPr lang="en-US" sz="1100" dirty="0"/>
          </a:p>
        </p:txBody>
      </p:sp>
      <p:sp>
        <p:nvSpPr>
          <p:cNvPr id="7" name="Shape 3"/>
          <p:cNvSpPr/>
          <p:nvPr/>
        </p:nvSpPr>
        <p:spPr>
          <a:xfrm>
            <a:off x="8641080" y="1645920"/>
            <a:ext cx="2907792" cy="960120"/>
          </a:xfrm>
          <a:prstGeom prst="roundRect">
            <a:avLst>
              <a:gd name="adj" fmla="val 17143"/>
            </a:avLst>
          </a:prstGeom>
          <a:solidFill>
            <a:srgbClr val="E6F4EA"/>
          </a:solidFill>
          <a:ln/>
        </p:spPr>
      </p:sp>
      <p:sp>
        <p:nvSpPr>
          <p:cNvPr id="8" name="Shape 4"/>
          <p:cNvSpPr/>
          <p:nvPr/>
        </p:nvSpPr>
        <p:spPr>
          <a:xfrm>
            <a:off x="8778240" y="1783080"/>
            <a:ext cx="438912" cy="438912"/>
          </a:xfrm>
          <a:prstGeom prst="ellipse">
            <a:avLst/>
          </a:prstGeom>
          <a:solidFill>
            <a:srgbClr val="15803D"/>
          </a:solidFill>
          <a:ln/>
        </p:spPr>
      </p:sp>
      <p:pic>
        <p:nvPicPr>
          <p:cNvPr id="9" name="Image 2" descr="preencoded.png">    </p:cNvPr>
          <p:cNvPicPr>
            <a:picLocks noChangeAspect="1"/>
          </p:cNvPicPr>
          <p:nvPr/>
        </p:nvPicPr>
        <p:blipFill>
          <a:blip r:embed="rId3"/>
          <a:stretch>
            <a:fillRect/>
          </a:stretch>
        </p:blipFill>
        <p:spPr>
          <a:xfrm>
            <a:off x="8879190" y="1884030"/>
            <a:ext cx="237012" cy="237012"/>
          </a:xfrm>
          <a:prstGeom prst="rect">
            <a:avLst/>
          </a:prstGeom>
        </p:spPr>
      </p:pic>
      <p:sp>
        <p:nvSpPr>
          <p:cNvPr id="10" name="Text 5"/>
          <p:cNvSpPr/>
          <p:nvPr/>
        </p:nvSpPr>
        <p:spPr>
          <a:xfrm>
            <a:off x="9326880" y="1737360"/>
            <a:ext cx="2148840" cy="822960"/>
          </a:xfrm>
          <a:prstGeom prst="rect">
            <a:avLst/>
          </a:prstGeom>
          <a:noFill/>
          <a:ln/>
        </p:spPr>
        <p:txBody>
          <a:bodyPr wrap="square" lIns="0" tIns="0" rIns="0" bIns="0" rtlCol="0" anchor="t"/>
          <a:lstStyle/>
          <a:p>
            <a:pPr algn="l" indent="0" marL="0">
              <a:buNone/>
            </a:pPr>
            <a:r>
              <a:rPr lang="en-US" sz="1400" b="1" dirty="0">
                <a:solidFill>
                  <a:srgbClr val="0F172A"/>
                </a:solidFill>
                <a:latin typeface="Calibri" pitchFamily="34" charset="0"/>
                <a:ea typeface="Calibri" pitchFamily="34" charset="-122"/>
                <a:cs typeface="Calibri" pitchFamily="34" charset="-120"/>
              </a:rPr>
              <a:t>Farmer's consent</a:t>
            </a:r>
            <a:endParaRPr lang="en-US" sz="1400" dirty="0"/>
          </a:p>
          <a:p>
            <a:pPr algn="l" indent="0" marL="0">
              <a:buNone/>
            </a:pPr>
            <a:r>
              <a:rPr lang="en-US" sz="1100" dirty="0">
                <a:solidFill>
                  <a:srgbClr val="0F172A"/>
                </a:solidFill>
                <a:latin typeface="Calibri" pitchFamily="34" charset="0"/>
                <a:ea typeface="Calibri" pitchFamily="34" charset="-122"/>
                <a:cs typeface="Calibri" pitchFamily="34" charset="-120"/>
              </a:rPr>
              <a:t>Built from the diary, sent as a PDF only after the farmer agrees.</a:t>
            </a:r>
            <a:endParaRPr lang="en-US" sz="1400" dirty="0"/>
          </a:p>
        </p:txBody>
      </p:sp>
      <p:sp>
        <p:nvSpPr>
          <p:cNvPr id="11" name="Shape 6"/>
          <p:cNvSpPr/>
          <p:nvPr/>
        </p:nvSpPr>
        <p:spPr>
          <a:xfrm>
            <a:off x="8641080" y="2724912"/>
            <a:ext cx="2907792" cy="960120"/>
          </a:xfrm>
          <a:prstGeom prst="roundRect">
            <a:avLst>
              <a:gd name="adj" fmla="val 17143"/>
            </a:avLst>
          </a:prstGeom>
          <a:solidFill>
            <a:srgbClr val="FEF3C7"/>
          </a:solidFill>
          <a:ln/>
        </p:spPr>
      </p:sp>
      <p:sp>
        <p:nvSpPr>
          <p:cNvPr id="12" name="Shape 7"/>
          <p:cNvSpPr/>
          <p:nvPr/>
        </p:nvSpPr>
        <p:spPr>
          <a:xfrm>
            <a:off x="8778240" y="2862072"/>
            <a:ext cx="438912" cy="438912"/>
          </a:xfrm>
          <a:prstGeom prst="ellipse">
            <a:avLst/>
          </a:prstGeom>
          <a:solidFill>
            <a:srgbClr val="F59E0B"/>
          </a:solidFill>
          <a:ln/>
        </p:spPr>
      </p:sp>
      <p:pic>
        <p:nvPicPr>
          <p:cNvPr id="13" name="Image 3" descr="preencoded.png">    </p:cNvPr>
          <p:cNvPicPr>
            <a:picLocks noChangeAspect="1"/>
          </p:cNvPicPr>
          <p:nvPr/>
        </p:nvPicPr>
        <p:blipFill>
          <a:blip r:embed="rId4"/>
          <a:stretch>
            <a:fillRect/>
          </a:stretch>
        </p:blipFill>
        <p:spPr>
          <a:xfrm>
            <a:off x="8879190" y="2963022"/>
            <a:ext cx="237012" cy="237012"/>
          </a:xfrm>
          <a:prstGeom prst="rect">
            <a:avLst/>
          </a:prstGeom>
        </p:spPr>
      </p:pic>
      <p:sp>
        <p:nvSpPr>
          <p:cNvPr id="14" name="Text 8"/>
          <p:cNvSpPr/>
          <p:nvPr/>
        </p:nvSpPr>
        <p:spPr>
          <a:xfrm>
            <a:off x="9326880" y="2816352"/>
            <a:ext cx="2148840" cy="822960"/>
          </a:xfrm>
          <a:prstGeom prst="rect">
            <a:avLst/>
          </a:prstGeom>
          <a:noFill/>
          <a:ln/>
        </p:spPr>
        <p:txBody>
          <a:bodyPr wrap="square" lIns="0" tIns="0" rIns="0" bIns="0" rtlCol="0" anchor="t"/>
          <a:lstStyle/>
          <a:p>
            <a:pPr algn="l" indent="0" marL="0">
              <a:buNone/>
            </a:pPr>
            <a:r>
              <a:rPr lang="en-US" sz="1400" b="1" dirty="0">
                <a:solidFill>
                  <a:srgbClr val="0F172A"/>
                </a:solidFill>
                <a:latin typeface="Calibri" pitchFamily="34" charset="0"/>
                <a:ea typeface="Calibri" pitchFamily="34" charset="-122"/>
                <a:cs typeface="Calibri" pitchFamily="34" charset="-120"/>
              </a:rPr>
              <a:t>Score 0–100</a:t>
            </a:r>
            <a:endParaRPr lang="en-US" sz="1400" dirty="0"/>
          </a:p>
          <a:p>
            <a:pPr algn="l" indent="0" marL="0">
              <a:buNone/>
            </a:pPr>
            <a:r>
              <a:rPr lang="en-US" sz="1100" dirty="0">
                <a:solidFill>
                  <a:srgbClr val="0F172A"/>
                </a:solidFill>
                <a:latin typeface="Calibri" pitchFamily="34" charset="0"/>
                <a:ea typeface="Calibri" pitchFamily="34" charset="-122"/>
                <a:cs typeface="Calibri" pitchFamily="34" charset="-120"/>
              </a:rPr>
              <a:t>Survival, diary, weight, training: fixed rules, not AI.</a:t>
            </a:r>
            <a:endParaRPr lang="en-US" sz="1400" dirty="0"/>
          </a:p>
        </p:txBody>
      </p:sp>
      <p:sp>
        <p:nvSpPr>
          <p:cNvPr id="15" name="Shape 9"/>
          <p:cNvSpPr/>
          <p:nvPr/>
        </p:nvSpPr>
        <p:spPr>
          <a:xfrm>
            <a:off x="8641080" y="3803904"/>
            <a:ext cx="2907792" cy="960120"/>
          </a:xfrm>
          <a:prstGeom prst="roundRect">
            <a:avLst>
              <a:gd name="adj" fmla="val 17143"/>
            </a:avLst>
          </a:prstGeom>
          <a:solidFill>
            <a:srgbClr val="FEE2E2"/>
          </a:solidFill>
          <a:ln/>
        </p:spPr>
      </p:sp>
      <p:sp>
        <p:nvSpPr>
          <p:cNvPr id="16" name="Shape 10"/>
          <p:cNvSpPr/>
          <p:nvPr/>
        </p:nvSpPr>
        <p:spPr>
          <a:xfrm>
            <a:off x="8778240" y="3941064"/>
            <a:ext cx="438912" cy="438912"/>
          </a:xfrm>
          <a:prstGeom prst="ellipse">
            <a:avLst/>
          </a:prstGeom>
          <a:solidFill>
            <a:srgbClr val="DC2626"/>
          </a:solidFill>
          <a:ln/>
        </p:spPr>
      </p:sp>
      <p:pic>
        <p:nvPicPr>
          <p:cNvPr id="17" name="Image 4" descr="preencoded.png">    </p:cNvPr>
          <p:cNvPicPr>
            <a:picLocks noChangeAspect="1"/>
          </p:cNvPicPr>
          <p:nvPr/>
        </p:nvPicPr>
        <p:blipFill>
          <a:blip r:embed="rId5"/>
          <a:stretch>
            <a:fillRect/>
          </a:stretch>
        </p:blipFill>
        <p:spPr>
          <a:xfrm>
            <a:off x="8879190" y="4042014"/>
            <a:ext cx="237012" cy="237012"/>
          </a:xfrm>
          <a:prstGeom prst="rect">
            <a:avLst/>
          </a:prstGeom>
        </p:spPr>
      </p:pic>
      <p:sp>
        <p:nvSpPr>
          <p:cNvPr id="18" name="Text 11"/>
          <p:cNvSpPr/>
          <p:nvPr/>
        </p:nvSpPr>
        <p:spPr>
          <a:xfrm>
            <a:off x="9326880" y="3895344"/>
            <a:ext cx="2148840" cy="822960"/>
          </a:xfrm>
          <a:prstGeom prst="rect">
            <a:avLst/>
          </a:prstGeom>
          <a:noFill/>
          <a:ln/>
        </p:spPr>
        <p:txBody>
          <a:bodyPr wrap="square" lIns="0" tIns="0" rIns="0" bIns="0" rtlCol="0" anchor="t"/>
          <a:lstStyle/>
          <a:p>
            <a:pPr algn="l" indent="0" marL="0">
              <a:buNone/>
            </a:pPr>
            <a:r>
              <a:rPr lang="en-US" sz="1400" b="1" dirty="0">
                <a:solidFill>
                  <a:srgbClr val="0F172A"/>
                </a:solidFill>
                <a:latin typeface="Calibri" pitchFamily="34" charset="0"/>
                <a:ea typeface="Calibri" pitchFamily="34" charset="-122"/>
                <a:cs typeface="Calibri" pitchFamily="34" charset="-120"/>
              </a:rPr>
              <a:t>Disease alert</a:t>
            </a:r>
            <a:endParaRPr lang="en-US" sz="1400" dirty="0"/>
          </a:p>
          <a:p>
            <a:pPr algn="l" indent="0" marL="0">
              <a:buNone/>
            </a:pPr>
            <a:r>
              <a:rPr lang="en-US" sz="1100" dirty="0">
                <a:solidFill>
                  <a:srgbClr val="0F172A"/>
                </a:solidFill>
                <a:latin typeface="Calibri" pitchFamily="34" charset="0"/>
                <a:ea typeface="Calibri" pitchFamily="34" charset="-122"/>
                <a:cs typeface="Calibri" pitchFamily="34" charset="-120"/>
              </a:rPr>
              <a:t>One tap warns every farmer of the bank in a district.</a:t>
            </a:r>
            <a:endParaRPr lang="en-US" sz="1400" dirty="0"/>
          </a:p>
        </p:txBody>
      </p:sp>
      <p:sp>
        <p:nvSpPr>
          <p:cNvPr id="19" name="Shape 12"/>
          <p:cNvSpPr/>
          <p:nvPr/>
        </p:nvSpPr>
        <p:spPr>
          <a:xfrm>
            <a:off x="8641080" y="4983480"/>
            <a:ext cx="2907792" cy="1097280"/>
          </a:xfrm>
          <a:prstGeom prst="roundRect">
            <a:avLst>
              <a:gd name="adj" fmla="val 15000"/>
            </a:avLst>
          </a:prstGeom>
          <a:solidFill>
            <a:srgbClr val="15803D"/>
          </a:solidFill>
          <a:ln/>
        </p:spPr>
      </p:sp>
      <p:sp>
        <p:nvSpPr>
          <p:cNvPr id="20" name="Text 13"/>
          <p:cNvSpPr/>
          <p:nvPr/>
        </p:nvSpPr>
        <p:spPr>
          <a:xfrm>
            <a:off x="8805672" y="5029200"/>
            <a:ext cx="2606040" cy="10058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Free for farmers. </a:t>
            </a:r>
            <a:pPr indent="0" marL="0">
              <a:buNone/>
            </a:pPr>
            <a:r>
              <a:rPr lang="en-US" sz="1250" dirty="0">
                <a:solidFill>
                  <a:srgbClr val="FFFFFF"/>
                </a:solidFill>
                <a:latin typeface="Calibri" pitchFamily="34" charset="0"/>
                <a:ea typeface="Calibri" pitchFamily="34" charset="-122"/>
                <a:cs typeface="Calibri" pitchFamily="34" charset="-120"/>
              </a:rPr>
              <a:t>Banks and microfinance pay: a trained farmer is more likely to repay.</a:t>
            </a:r>
            <a:endParaRPr lang="en-US" sz="1250" dirty="0"/>
          </a:p>
        </p:txBody>
      </p:sp>
      <p:sp>
        <p:nvSpPr>
          <p:cNvPr id="21" name="Text 14"/>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RESULT</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Not a concept: the app already works</a:t>
            </a:r>
            <a:endParaRPr lang="en-US" sz="3400" dirty="0"/>
          </a:p>
        </p:txBody>
      </p:sp>
      <p:pic>
        <p:nvPicPr>
          <p:cNvPr id="4" name="Image 0" descr="/home/abraxis/Desktop/AgroZen/docs/studexpo/assets/sun_tile.png">    </p:cNvPr>
          <p:cNvPicPr>
            <a:picLocks noChangeAspect="1"/>
          </p:cNvPicPr>
          <p:nvPr/>
        </p:nvPicPr>
        <p:blipFill>
          <a:blip r:embed="rId1"/>
          <a:srcRect l="0" r="0" t="0" b="0"/>
          <a:stretch/>
        </p:blipFill>
        <p:spPr>
          <a:xfrm>
            <a:off x="640080" y="1645920"/>
            <a:ext cx="2651760" cy="1463040"/>
          </a:xfrm>
          <a:prstGeom prst="rect">
            <a:avLst/>
          </a:prstGeom>
        </p:spPr>
      </p:pic>
      <p:sp>
        <p:nvSpPr>
          <p:cNvPr id="5" name="Shape 2"/>
          <p:cNvSpPr/>
          <p:nvPr/>
        </p:nvSpPr>
        <p:spPr>
          <a:xfrm>
            <a:off x="822960" y="1828800"/>
            <a:ext cx="438912" cy="438912"/>
          </a:xfrm>
          <a:prstGeom prst="ellipse">
            <a:avLst/>
          </a:prstGeom>
          <a:solidFill>
            <a:srgbClr val="FFFFFF"/>
          </a:solidFill>
          <a:ln/>
        </p:spPr>
      </p:sp>
      <p:pic>
        <p:nvPicPr>
          <p:cNvPr id="6" name="Image 1" descr="preencoded.png">    </p:cNvPr>
          <p:cNvPicPr>
            <a:picLocks noChangeAspect="1"/>
          </p:cNvPicPr>
          <p:nvPr/>
        </p:nvPicPr>
        <p:blipFill>
          <a:blip r:embed="rId2"/>
          <a:stretch>
            <a:fillRect/>
          </a:stretch>
        </p:blipFill>
        <p:spPr>
          <a:xfrm>
            <a:off x="923910" y="1929750"/>
            <a:ext cx="237012" cy="237012"/>
          </a:xfrm>
          <a:prstGeom prst="rect">
            <a:avLst/>
          </a:prstGeom>
        </p:spPr>
      </p:pic>
      <p:sp>
        <p:nvSpPr>
          <p:cNvPr id="7" name="Text 3"/>
          <p:cNvSpPr/>
          <p:nvPr/>
        </p:nvSpPr>
        <p:spPr>
          <a:xfrm>
            <a:off x="822960" y="2331720"/>
            <a:ext cx="2331720" cy="731520"/>
          </a:xfrm>
          <a:prstGeom prst="rect">
            <a:avLst/>
          </a:prstGeom>
          <a:noFill/>
          <a:ln/>
        </p:spPr>
        <p:txBody>
          <a:bodyPr wrap="square" lIns="0" tIns="0" rIns="0" bIns="0" rtlCol="0" anchor="t"/>
          <a:lstStyle/>
          <a:p>
            <a:pPr algn="l" indent="0" marL="0">
              <a:buNone/>
            </a:pPr>
            <a:r>
              <a:rPr lang="en-US" sz="2600" b="1" dirty="0">
                <a:solidFill>
                  <a:srgbClr val="FFFFFF"/>
                </a:solidFill>
                <a:latin typeface="Calibri" pitchFamily="34" charset="0"/>
                <a:ea typeface="Calibri" pitchFamily="34" charset="-122"/>
                <a:cs typeface="Calibri" pitchFamily="34" charset="-120"/>
              </a:rPr>
              <a:t>42 days</a:t>
            </a:r>
            <a:endParaRPr lang="en-US" sz="2600" dirty="0"/>
          </a:p>
          <a:p>
            <a:pPr algn="l" indent="0" marL="0">
              <a:buNone/>
            </a:pPr>
            <a:r>
              <a:rPr lang="en-US" sz="1150" dirty="0">
                <a:solidFill>
                  <a:srgbClr val="FFF7ED"/>
                </a:solidFill>
                <a:latin typeface="Calibri" pitchFamily="34" charset="0"/>
                <a:ea typeface="Calibri" pitchFamily="34" charset="-122"/>
                <a:cs typeface="Calibri" pitchFamily="34" charset="-120"/>
              </a:rPr>
              <a:t>of norms, one plan for every day</a:t>
            </a:r>
            <a:endParaRPr lang="en-US" sz="2600" dirty="0"/>
          </a:p>
        </p:txBody>
      </p:sp>
      <p:sp>
        <p:nvSpPr>
          <p:cNvPr id="8" name="Shape 4"/>
          <p:cNvSpPr/>
          <p:nvPr/>
        </p:nvSpPr>
        <p:spPr>
          <a:xfrm>
            <a:off x="3429000" y="1645920"/>
            <a:ext cx="2651760" cy="1463040"/>
          </a:xfrm>
          <a:prstGeom prst="roundRect">
            <a:avLst>
              <a:gd name="adj" fmla="val 11250"/>
            </a:avLst>
          </a:prstGeom>
          <a:solidFill>
            <a:srgbClr val="DBEAFE"/>
          </a:solidFill>
          <a:ln/>
        </p:spPr>
      </p:sp>
      <p:sp>
        <p:nvSpPr>
          <p:cNvPr id="9" name="Shape 5"/>
          <p:cNvSpPr/>
          <p:nvPr/>
        </p:nvSpPr>
        <p:spPr>
          <a:xfrm>
            <a:off x="3611880" y="1828800"/>
            <a:ext cx="438912" cy="438912"/>
          </a:xfrm>
          <a:prstGeom prst="ellipse">
            <a:avLst/>
          </a:prstGeom>
          <a:solidFill>
            <a:srgbClr val="2563EB"/>
          </a:solidFill>
          <a:ln/>
        </p:spPr>
      </p:sp>
      <p:pic>
        <p:nvPicPr>
          <p:cNvPr id="10" name="Image 2" descr="preencoded.png">    </p:cNvPr>
          <p:cNvPicPr>
            <a:picLocks noChangeAspect="1"/>
          </p:cNvPicPr>
          <p:nvPr/>
        </p:nvPicPr>
        <p:blipFill>
          <a:blip r:embed="rId3"/>
          <a:stretch>
            <a:fillRect/>
          </a:stretch>
        </p:blipFill>
        <p:spPr>
          <a:xfrm>
            <a:off x="3712830" y="1929750"/>
            <a:ext cx="237012" cy="237012"/>
          </a:xfrm>
          <a:prstGeom prst="rect">
            <a:avLst/>
          </a:prstGeom>
        </p:spPr>
      </p:pic>
      <p:sp>
        <p:nvSpPr>
          <p:cNvPr id="11" name="Text 6"/>
          <p:cNvSpPr/>
          <p:nvPr/>
        </p:nvSpPr>
        <p:spPr>
          <a:xfrm>
            <a:off x="3611880" y="2331720"/>
            <a:ext cx="2331720" cy="731520"/>
          </a:xfrm>
          <a:prstGeom prst="rect">
            <a:avLst/>
          </a:prstGeom>
          <a:noFill/>
          <a:ln/>
        </p:spPr>
        <p:txBody>
          <a:bodyPr wrap="square" lIns="0" tIns="0" rIns="0" bIns="0" rtlCol="0" anchor="t"/>
          <a:lstStyle/>
          <a:p>
            <a:pPr algn="l" indent="0" marL="0">
              <a:buNone/>
            </a:pPr>
            <a:r>
              <a:rPr lang="en-US" sz="2600" b="1" dirty="0">
                <a:solidFill>
                  <a:srgbClr val="1D4ED8"/>
                </a:solidFill>
                <a:latin typeface="Calibri" pitchFamily="34" charset="0"/>
                <a:ea typeface="Calibri" pitchFamily="34" charset="-122"/>
                <a:cs typeface="Calibri" pitchFamily="34" charset="-120"/>
              </a:rPr>
              <a:t>5 lessons</a:t>
            </a:r>
            <a:endParaRPr lang="en-US" sz="2600" dirty="0"/>
          </a:p>
          <a:p>
            <a:pPr algn="l" indent="0" marL="0">
              <a:buNone/>
            </a:pPr>
            <a:r>
              <a:rPr lang="en-US" sz="1150" dirty="0">
                <a:solidFill>
                  <a:srgbClr val="0F172A"/>
                </a:solidFill>
                <a:latin typeface="Calibri" pitchFamily="34" charset="0"/>
                <a:ea typeface="Calibri" pitchFamily="34" charset="-122"/>
                <a:cs typeface="Calibri" pitchFamily="34" charset="-120"/>
              </a:rPr>
              <a:t>a course with tests and a certificate</a:t>
            </a:r>
            <a:endParaRPr lang="en-US" sz="2600" dirty="0"/>
          </a:p>
        </p:txBody>
      </p:sp>
      <p:sp>
        <p:nvSpPr>
          <p:cNvPr id="12" name="Shape 7"/>
          <p:cNvSpPr/>
          <p:nvPr/>
        </p:nvSpPr>
        <p:spPr>
          <a:xfrm>
            <a:off x="640080" y="3246120"/>
            <a:ext cx="2651760" cy="1463040"/>
          </a:xfrm>
          <a:prstGeom prst="roundRect">
            <a:avLst>
              <a:gd name="adj" fmla="val 11250"/>
            </a:avLst>
          </a:prstGeom>
          <a:solidFill>
            <a:srgbClr val="FEE2E2"/>
          </a:solidFill>
          <a:ln/>
        </p:spPr>
      </p:sp>
      <p:sp>
        <p:nvSpPr>
          <p:cNvPr id="13" name="Shape 8"/>
          <p:cNvSpPr/>
          <p:nvPr/>
        </p:nvSpPr>
        <p:spPr>
          <a:xfrm>
            <a:off x="822960" y="3429000"/>
            <a:ext cx="438912" cy="438912"/>
          </a:xfrm>
          <a:prstGeom prst="ellipse">
            <a:avLst/>
          </a:prstGeom>
          <a:solidFill>
            <a:srgbClr val="DC2626"/>
          </a:solidFill>
          <a:ln/>
        </p:spPr>
      </p:sp>
      <p:pic>
        <p:nvPicPr>
          <p:cNvPr id="14" name="Image 3" descr="preencoded.png">    </p:cNvPr>
          <p:cNvPicPr>
            <a:picLocks noChangeAspect="1"/>
          </p:cNvPicPr>
          <p:nvPr/>
        </p:nvPicPr>
        <p:blipFill>
          <a:blip r:embed="rId4"/>
          <a:stretch>
            <a:fillRect/>
          </a:stretch>
        </p:blipFill>
        <p:spPr>
          <a:xfrm>
            <a:off x="923910" y="3529950"/>
            <a:ext cx="237012" cy="237012"/>
          </a:xfrm>
          <a:prstGeom prst="rect">
            <a:avLst/>
          </a:prstGeom>
        </p:spPr>
      </p:pic>
      <p:sp>
        <p:nvSpPr>
          <p:cNvPr id="15" name="Text 9"/>
          <p:cNvSpPr/>
          <p:nvPr/>
        </p:nvSpPr>
        <p:spPr>
          <a:xfrm>
            <a:off x="822960" y="3931920"/>
            <a:ext cx="2331720" cy="731520"/>
          </a:xfrm>
          <a:prstGeom prst="rect">
            <a:avLst/>
          </a:prstGeom>
          <a:noFill/>
          <a:ln/>
        </p:spPr>
        <p:txBody>
          <a:bodyPr wrap="square" lIns="0" tIns="0" rIns="0" bIns="0" rtlCol="0" anchor="t"/>
          <a:lstStyle/>
          <a:p>
            <a:pPr algn="l" indent="0" marL="0">
              <a:buNone/>
            </a:pPr>
            <a:r>
              <a:rPr lang="en-US" sz="2600" b="1" dirty="0">
                <a:solidFill>
                  <a:srgbClr val="DC2626"/>
                </a:solidFill>
                <a:latin typeface="Calibri" pitchFamily="34" charset="0"/>
                <a:ea typeface="Calibri" pitchFamily="34" charset="-122"/>
                <a:cs typeface="Calibri" pitchFamily="34" charset="-120"/>
              </a:rPr>
              <a:t>13 regions</a:t>
            </a:r>
            <a:endParaRPr lang="en-US" sz="2600" dirty="0"/>
          </a:p>
          <a:p>
            <a:pPr algn="l" indent="0" marL="0">
              <a:buNone/>
            </a:pPr>
            <a:r>
              <a:rPr lang="en-US" sz="1150" dirty="0">
                <a:solidFill>
                  <a:srgbClr val="0F172A"/>
                </a:solidFill>
                <a:latin typeface="Calibri" pitchFamily="34" charset="0"/>
                <a:ea typeface="Calibri" pitchFamily="34" charset="-122"/>
                <a:cs typeface="Calibri" pitchFamily="34" charset="-120"/>
              </a:rPr>
              <a:t>vet contacts across Uzbekistan</a:t>
            </a:r>
            <a:endParaRPr lang="en-US" sz="2600" dirty="0"/>
          </a:p>
        </p:txBody>
      </p:sp>
      <p:sp>
        <p:nvSpPr>
          <p:cNvPr id="16" name="Shape 10"/>
          <p:cNvSpPr/>
          <p:nvPr/>
        </p:nvSpPr>
        <p:spPr>
          <a:xfrm>
            <a:off x="3429000" y="3246120"/>
            <a:ext cx="2651760" cy="1463040"/>
          </a:xfrm>
          <a:prstGeom prst="roundRect">
            <a:avLst>
              <a:gd name="adj" fmla="val 11250"/>
            </a:avLst>
          </a:prstGeom>
          <a:solidFill>
            <a:srgbClr val="E6F4EA"/>
          </a:solidFill>
          <a:ln/>
        </p:spPr>
      </p:sp>
      <p:sp>
        <p:nvSpPr>
          <p:cNvPr id="17" name="Shape 11"/>
          <p:cNvSpPr/>
          <p:nvPr/>
        </p:nvSpPr>
        <p:spPr>
          <a:xfrm>
            <a:off x="3611880" y="3429000"/>
            <a:ext cx="438912" cy="438912"/>
          </a:xfrm>
          <a:prstGeom prst="ellipse">
            <a:avLst/>
          </a:prstGeom>
          <a:solidFill>
            <a:srgbClr val="15803D"/>
          </a:solidFill>
          <a:ln/>
        </p:spPr>
      </p:sp>
      <p:pic>
        <p:nvPicPr>
          <p:cNvPr id="18" name="Image 4" descr="preencoded.png">    </p:cNvPr>
          <p:cNvPicPr>
            <a:picLocks noChangeAspect="1"/>
          </p:cNvPicPr>
          <p:nvPr/>
        </p:nvPicPr>
        <p:blipFill>
          <a:blip r:embed="rId5"/>
          <a:stretch>
            <a:fillRect/>
          </a:stretch>
        </p:blipFill>
        <p:spPr>
          <a:xfrm>
            <a:off x="3712830" y="3529950"/>
            <a:ext cx="237012" cy="237012"/>
          </a:xfrm>
          <a:prstGeom prst="rect">
            <a:avLst/>
          </a:prstGeom>
        </p:spPr>
      </p:pic>
      <p:sp>
        <p:nvSpPr>
          <p:cNvPr id="19" name="Text 12"/>
          <p:cNvSpPr/>
          <p:nvPr/>
        </p:nvSpPr>
        <p:spPr>
          <a:xfrm>
            <a:off x="3611880" y="3931920"/>
            <a:ext cx="2331720" cy="731520"/>
          </a:xfrm>
          <a:prstGeom prst="rect">
            <a:avLst/>
          </a:prstGeom>
          <a:noFill/>
          <a:ln/>
        </p:spPr>
        <p:txBody>
          <a:bodyPr wrap="square" lIns="0" tIns="0" rIns="0" bIns="0" rtlCol="0" anchor="t"/>
          <a:lstStyle/>
          <a:p>
            <a:pPr algn="l" indent="0" marL="0">
              <a:buNone/>
            </a:pPr>
            <a:r>
              <a:rPr lang="en-US" sz="2600" b="1" dirty="0">
                <a:solidFill>
                  <a:srgbClr val="15803D"/>
                </a:solidFill>
                <a:latin typeface="Calibri" pitchFamily="34" charset="0"/>
                <a:ea typeface="Calibri" pitchFamily="34" charset="-122"/>
                <a:cs typeface="Calibri" pitchFamily="34" charset="-120"/>
              </a:rPr>
              <a:t>260 tests</a:t>
            </a:r>
            <a:endParaRPr lang="en-US" sz="2600" dirty="0"/>
          </a:p>
          <a:p>
            <a:pPr algn="l" indent="0" marL="0">
              <a:buNone/>
            </a:pPr>
            <a:r>
              <a:rPr lang="en-US" sz="1150" dirty="0">
                <a:solidFill>
                  <a:srgbClr val="0F172A"/>
                </a:solidFill>
                <a:latin typeface="Calibri" pitchFamily="34" charset="0"/>
                <a:ea typeface="Calibri" pitchFamily="34" charset="-122"/>
                <a:cs typeface="Calibri" pitchFamily="34" charset="-120"/>
              </a:rPr>
              <a:t>check norms, alerts and scores</a:t>
            </a:r>
            <a:endParaRPr lang="en-US" sz="2600" dirty="0"/>
          </a:p>
        </p:txBody>
      </p:sp>
      <p:sp>
        <p:nvSpPr>
          <p:cNvPr id="20" name="Shape 13"/>
          <p:cNvSpPr/>
          <p:nvPr/>
        </p:nvSpPr>
        <p:spPr>
          <a:xfrm>
            <a:off x="640080" y="4956048"/>
            <a:ext cx="960120" cy="402336"/>
          </a:xfrm>
          <a:prstGeom prst="roundRect">
            <a:avLst>
              <a:gd name="adj" fmla="val 50000"/>
            </a:avLst>
          </a:prstGeom>
          <a:solidFill>
            <a:srgbClr val="FFFFFF"/>
          </a:solidFill>
          <a:ln w="12700">
            <a:solidFill>
              <a:srgbClr val="E2EBE4"/>
            </a:solidFill>
            <a:prstDash val="solid"/>
          </a:ln>
        </p:spPr>
      </p:sp>
      <p:pic>
        <p:nvPicPr>
          <p:cNvPr id="21" name="Image 5" descr="preencoded.png">    </p:cNvPr>
          <p:cNvPicPr>
            <a:picLocks noChangeAspect="1"/>
          </p:cNvPicPr>
          <p:nvPr/>
        </p:nvPicPr>
        <p:blipFill>
          <a:blip r:embed="rId6"/>
          <a:stretch>
            <a:fillRect/>
          </a:stretch>
        </p:blipFill>
        <p:spPr>
          <a:xfrm>
            <a:off x="749808" y="5038344"/>
            <a:ext cx="237744" cy="237744"/>
          </a:xfrm>
          <a:prstGeom prst="rect">
            <a:avLst/>
          </a:prstGeom>
        </p:spPr>
      </p:pic>
      <p:sp>
        <p:nvSpPr>
          <p:cNvPr id="22" name="Text 14"/>
          <p:cNvSpPr/>
          <p:nvPr/>
        </p:nvSpPr>
        <p:spPr>
          <a:xfrm>
            <a:off x="1024128" y="4956048"/>
            <a:ext cx="521208" cy="402336"/>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Flutter</a:t>
            </a:r>
            <a:endParaRPr lang="en-US" sz="1150" dirty="0"/>
          </a:p>
        </p:txBody>
      </p:sp>
      <p:sp>
        <p:nvSpPr>
          <p:cNvPr id="23" name="Shape 15"/>
          <p:cNvSpPr/>
          <p:nvPr/>
        </p:nvSpPr>
        <p:spPr>
          <a:xfrm>
            <a:off x="1709928" y="4956048"/>
            <a:ext cx="1600200" cy="402336"/>
          </a:xfrm>
          <a:prstGeom prst="roundRect">
            <a:avLst>
              <a:gd name="adj" fmla="val 50000"/>
            </a:avLst>
          </a:prstGeom>
          <a:solidFill>
            <a:srgbClr val="FFFFFF"/>
          </a:solidFill>
          <a:ln w="12700">
            <a:solidFill>
              <a:srgbClr val="E2EBE4"/>
            </a:solidFill>
            <a:prstDash val="solid"/>
          </a:ln>
        </p:spPr>
      </p:sp>
      <p:pic>
        <p:nvPicPr>
          <p:cNvPr id="24" name="Image 6" descr="preencoded.png">    </p:cNvPr>
          <p:cNvPicPr>
            <a:picLocks noChangeAspect="1"/>
          </p:cNvPicPr>
          <p:nvPr/>
        </p:nvPicPr>
        <p:blipFill>
          <a:blip r:embed="rId7"/>
          <a:stretch>
            <a:fillRect/>
          </a:stretch>
        </p:blipFill>
        <p:spPr>
          <a:xfrm>
            <a:off x="1819656" y="5038344"/>
            <a:ext cx="237744" cy="237744"/>
          </a:xfrm>
          <a:prstGeom prst="rect">
            <a:avLst/>
          </a:prstGeom>
        </p:spPr>
      </p:pic>
      <p:sp>
        <p:nvSpPr>
          <p:cNvPr id="25" name="Text 16"/>
          <p:cNvSpPr/>
          <p:nvPr/>
        </p:nvSpPr>
        <p:spPr>
          <a:xfrm>
            <a:off x="2093976" y="4956048"/>
            <a:ext cx="1161288" cy="402336"/>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Supabase + Gemini</a:t>
            </a:r>
            <a:endParaRPr lang="en-US" sz="1150" dirty="0"/>
          </a:p>
        </p:txBody>
      </p:sp>
      <p:sp>
        <p:nvSpPr>
          <p:cNvPr id="26" name="Shape 17"/>
          <p:cNvSpPr/>
          <p:nvPr/>
        </p:nvSpPr>
        <p:spPr>
          <a:xfrm>
            <a:off x="3419856" y="4956048"/>
            <a:ext cx="1280160" cy="402336"/>
          </a:xfrm>
          <a:prstGeom prst="roundRect">
            <a:avLst>
              <a:gd name="adj" fmla="val 50000"/>
            </a:avLst>
          </a:prstGeom>
          <a:solidFill>
            <a:srgbClr val="FFFFFF"/>
          </a:solidFill>
          <a:ln w="12700">
            <a:solidFill>
              <a:srgbClr val="E2EBE4"/>
            </a:solidFill>
            <a:prstDash val="solid"/>
          </a:ln>
        </p:spPr>
      </p:sp>
      <p:pic>
        <p:nvPicPr>
          <p:cNvPr id="27" name="Image 7" descr="preencoded.png">    </p:cNvPr>
          <p:cNvPicPr>
            <a:picLocks noChangeAspect="1"/>
          </p:cNvPicPr>
          <p:nvPr/>
        </p:nvPicPr>
        <p:blipFill>
          <a:blip r:embed="rId8"/>
          <a:stretch>
            <a:fillRect/>
          </a:stretch>
        </p:blipFill>
        <p:spPr>
          <a:xfrm>
            <a:off x="3529584" y="5038344"/>
            <a:ext cx="237744" cy="237744"/>
          </a:xfrm>
          <a:prstGeom prst="rect">
            <a:avLst/>
          </a:prstGeom>
        </p:spPr>
      </p:pic>
      <p:sp>
        <p:nvSpPr>
          <p:cNvPr id="28" name="Text 18"/>
          <p:cNvSpPr/>
          <p:nvPr/>
        </p:nvSpPr>
        <p:spPr>
          <a:xfrm>
            <a:off x="3803904" y="4956048"/>
            <a:ext cx="841248" cy="402336"/>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Works offline</a:t>
            </a:r>
            <a:endParaRPr lang="en-US" sz="1150" dirty="0"/>
          </a:p>
        </p:txBody>
      </p:sp>
      <p:sp>
        <p:nvSpPr>
          <p:cNvPr id="29" name="Shape 19"/>
          <p:cNvSpPr/>
          <p:nvPr/>
        </p:nvSpPr>
        <p:spPr>
          <a:xfrm>
            <a:off x="4809744" y="4956048"/>
            <a:ext cx="1097280" cy="402336"/>
          </a:xfrm>
          <a:prstGeom prst="roundRect">
            <a:avLst>
              <a:gd name="adj" fmla="val 50000"/>
            </a:avLst>
          </a:prstGeom>
          <a:solidFill>
            <a:srgbClr val="FFFFFF"/>
          </a:solidFill>
          <a:ln w="12700">
            <a:solidFill>
              <a:srgbClr val="E2EBE4"/>
            </a:solidFill>
            <a:prstDash val="solid"/>
          </a:ln>
        </p:spPr>
      </p:sp>
      <p:pic>
        <p:nvPicPr>
          <p:cNvPr id="30" name="Image 8" descr="preencoded.png">    </p:cNvPr>
          <p:cNvPicPr>
            <a:picLocks noChangeAspect="1"/>
          </p:cNvPicPr>
          <p:nvPr/>
        </p:nvPicPr>
        <p:blipFill>
          <a:blip r:embed="rId9"/>
          <a:stretch>
            <a:fillRect/>
          </a:stretch>
        </p:blipFill>
        <p:spPr>
          <a:xfrm>
            <a:off x="4919472" y="5038344"/>
            <a:ext cx="237744" cy="237744"/>
          </a:xfrm>
          <a:prstGeom prst="rect">
            <a:avLst/>
          </a:prstGeom>
        </p:spPr>
      </p:pic>
      <p:sp>
        <p:nvSpPr>
          <p:cNvPr id="31" name="Text 20"/>
          <p:cNvSpPr/>
          <p:nvPr/>
        </p:nvSpPr>
        <p:spPr>
          <a:xfrm>
            <a:off x="5193792" y="4956048"/>
            <a:ext cx="658368" cy="402336"/>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uz · ru · en</a:t>
            </a:r>
            <a:endParaRPr lang="en-US" sz="1150" dirty="0"/>
          </a:p>
        </p:txBody>
      </p:sp>
      <p:sp>
        <p:nvSpPr>
          <p:cNvPr id="32" name="Text 21"/>
          <p:cNvSpPr/>
          <p:nvPr/>
        </p:nvSpPr>
        <p:spPr>
          <a:xfrm>
            <a:off x="640080" y="5532120"/>
            <a:ext cx="5486400" cy="457200"/>
          </a:xfrm>
          <a:prstGeom prst="rect">
            <a:avLst/>
          </a:prstGeom>
          <a:noFill/>
          <a:ln/>
        </p:spPr>
        <p:txBody>
          <a:bodyPr wrap="square" lIns="0" tIns="0" rIns="0" bIns="0" rtlCol="0" anchor="ctr"/>
          <a:lstStyle/>
          <a:p>
            <a:pPr indent="0" marL="0">
              <a:buNone/>
            </a:pPr>
            <a:r>
              <a:rPr lang="en-US" sz="1200" dirty="0">
                <a:solidFill>
                  <a:srgbClr val="52665A"/>
                </a:solidFill>
                <a:latin typeface="Calibri" pitchFamily="34" charset="0"/>
                <a:ea typeface="Calibri" pitchFamily="34" charset="-122"/>
                <a:cs typeface="Calibri" pitchFamily="34" charset="-120"/>
              </a:rPr>
              <a:t>Alerts are counted by plain code against the norms — they never depend on an AI answer.</a:t>
            </a:r>
            <a:endParaRPr lang="en-US" sz="1200" dirty="0"/>
          </a:p>
        </p:txBody>
      </p:sp>
      <p:sp>
        <p:nvSpPr>
          <p:cNvPr id="33" name="Shape 22"/>
          <p:cNvSpPr/>
          <p:nvPr/>
        </p:nvSpPr>
        <p:spPr>
          <a:xfrm>
            <a:off x="6400800" y="1645920"/>
            <a:ext cx="5148072" cy="4617720"/>
          </a:xfrm>
          <a:prstGeom prst="roundRect">
            <a:avLst>
              <a:gd name="adj" fmla="val 3564"/>
            </a:avLst>
          </a:prstGeom>
          <a:solidFill>
            <a:srgbClr val="FFFFFF"/>
          </a:solidFill>
          <a:ln w="12700">
            <a:solidFill>
              <a:srgbClr val="E2EBE4"/>
            </a:solidFill>
            <a:prstDash val="solid"/>
          </a:ln>
        </p:spPr>
      </p:sp>
      <p:pic>
        <p:nvPicPr>
          <p:cNvPr id="34" name="Image 9" descr="/home/abraxis/Desktop/AgroZen/docs/studexpo/assets/logo.png">    </p:cNvPr>
          <p:cNvPicPr>
            <a:picLocks noChangeAspect="1"/>
          </p:cNvPicPr>
          <p:nvPr/>
        </p:nvPicPr>
        <p:blipFill>
          <a:blip r:embed="rId10"/>
          <a:stretch>
            <a:fillRect/>
          </a:stretch>
        </p:blipFill>
        <p:spPr>
          <a:xfrm>
            <a:off x="6601968" y="1810512"/>
            <a:ext cx="438912" cy="438912"/>
          </a:xfrm>
          <a:prstGeom prst="rect">
            <a:avLst/>
          </a:prstGeom>
        </p:spPr>
      </p:pic>
      <p:sp>
        <p:nvSpPr>
          <p:cNvPr id="35" name="Text 23"/>
          <p:cNvSpPr/>
          <p:nvPr/>
        </p:nvSpPr>
        <p:spPr>
          <a:xfrm>
            <a:off x="7150608" y="1801368"/>
            <a:ext cx="4206240" cy="502920"/>
          </a:xfrm>
          <a:prstGeom prst="rect">
            <a:avLst/>
          </a:prstGeom>
          <a:noFill/>
          <a:ln/>
        </p:spPr>
        <p:txBody>
          <a:bodyPr wrap="square" lIns="0" tIns="0" rIns="0" bIns="0" rtlCol="0" anchor="t"/>
          <a:lstStyle/>
          <a:p>
            <a:pPr algn="l" indent="0" marL="0">
              <a:buNone/>
            </a:pPr>
            <a:r>
              <a:rPr lang="en-US" sz="1400" b="1" dirty="0">
                <a:solidFill>
                  <a:srgbClr val="0F172A"/>
                </a:solidFill>
                <a:latin typeface="Calibri" pitchFamily="34" charset="0"/>
                <a:ea typeface="Calibri" pitchFamily="34" charset="-122"/>
                <a:cs typeface="Calibri" pitchFamily="34" charset="-120"/>
              </a:rPr>
              <a:t>AgroZen assistant</a:t>
            </a:r>
            <a:endParaRPr lang="en-US" sz="1400" dirty="0"/>
          </a:p>
          <a:p>
            <a:pPr algn="l" indent="0" marL="0">
              <a:buNone/>
            </a:pPr>
            <a:r>
              <a:rPr lang="en-US" sz="1100" dirty="0">
                <a:solidFill>
                  <a:srgbClr val="52665A"/>
                </a:solidFill>
                <a:latin typeface="Calibri" pitchFamily="34" charset="0"/>
                <a:ea typeface="Calibri" pitchFamily="34" charset="-122"/>
                <a:cs typeface="Calibri" pitchFamily="34" charset="-120"/>
              </a:rPr>
              <a:t>Answers only from a verified knowledge base</a:t>
            </a:r>
            <a:endParaRPr lang="en-US" sz="1400" dirty="0"/>
          </a:p>
        </p:txBody>
      </p:sp>
      <p:sp>
        <p:nvSpPr>
          <p:cNvPr id="36" name="Shape 24"/>
          <p:cNvSpPr/>
          <p:nvPr/>
        </p:nvSpPr>
        <p:spPr>
          <a:xfrm>
            <a:off x="6601968" y="2423160"/>
            <a:ext cx="4754880" cy="0"/>
          </a:xfrm>
          <a:prstGeom prst="line">
            <a:avLst/>
          </a:prstGeom>
          <a:noFill/>
          <a:ln w="12700">
            <a:solidFill>
              <a:srgbClr val="E2EBE4"/>
            </a:solidFill>
            <a:prstDash val="solid"/>
          </a:ln>
        </p:spPr>
      </p:sp>
      <p:sp>
        <p:nvSpPr>
          <p:cNvPr id="37" name="Shape 25"/>
          <p:cNvSpPr/>
          <p:nvPr/>
        </p:nvSpPr>
        <p:spPr>
          <a:xfrm>
            <a:off x="7818120" y="2606040"/>
            <a:ext cx="3520440" cy="749808"/>
          </a:xfrm>
          <a:prstGeom prst="roundRect">
            <a:avLst>
              <a:gd name="adj" fmla="val 24390"/>
            </a:avLst>
          </a:prstGeom>
          <a:solidFill>
            <a:srgbClr val="15803D"/>
          </a:solidFill>
          <a:ln/>
        </p:spPr>
      </p:sp>
      <p:sp>
        <p:nvSpPr>
          <p:cNvPr id="38" name="Text 26"/>
          <p:cNvSpPr/>
          <p:nvPr/>
        </p:nvSpPr>
        <p:spPr>
          <a:xfrm>
            <a:off x="7955280" y="2624328"/>
            <a:ext cx="3291840" cy="713232"/>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My chicks are crowding under the heater. What should I do?</a:t>
            </a:r>
            <a:endParaRPr lang="en-US" sz="1250" dirty="0"/>
          </a:p>
        </p:txBody>
      </p:sp>
      <p:sp>
        <p:nvSpPr>
          <p:cNvPr id="39" name="Text 27"/>
          <p:cNvSpPr/>
          <p:nvPr/>
        </p:nvSpPr>
        <p:spPr>
          <a:xfrm>
            <a:off x="7818120" y="3383280"/>
            <a:ext cx="3520440" cy="22860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voice · text · photo</a:t>
            </a:r>
            <a:endParaRPr lang="en-US" sz="1000" dirty="0"/>
          </a:p>
        </p:txBody>
      </p:sp>
      <p:sp>
        <p:nvSpPr>
          <p:cNvPr id="40" name="Shape 28"/>
          <p:cNvSpPr/>
          <p:nvPr/>
        </p:nvSpPr>
        <p:spPr>
          <a:xfrm>
            <a:off x="6601968" y="3675888"/>
            <a:ext cx="4160520" cy="1261872"/>
          </a:xfrm>
          <a:prstGeom prst="roundRect">
            <a:avLst>
              <a:gd name="adj" fmla="val 14493"/>
            </a:avLst>
          </a:prstGeom>
          <a:solidFill>
            <a:srgbClr val="F1F5F2"/>
          </a:solidFill>
          <a:ln/>
        </p:spPr>
      </p:sp>
      <p:sp>
        <p:nvSpPr>
          <p:cNvPr id="41" name="Text 29"/>
          <p:cNvSpPr/>
          <p:nvPr/>
        </p:nvSpPr>
        <p:spPr>
          <a:xfrm>
            <a:off x="6739128" y="3721608"/>
            <a:ext cx="3931920" cy="1170432"/>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That is a sign of cold. On day 3 the house should be 31.5°C — raise the heating and check that the chicks spread evenly.</a:t>
            </a:r>
            <a:endParaRPr lang="en-US" sz="1250" dirty="0"/>
          </a:p>
          <a:p>
            <a:pPr indent="0" marL="0">
              <a:buNone/>
            </a:pPr>
            <a:r>
              <a:rPr lang="en-US" sz="1000" dirty="0">
                <a:solidFill>
                  <a:srgbClr val="7A8E7E"/>
                </a:solidFill>
                <a:latin typeface="Calibri" pitchFamily="34" charset="0"/>
                <a:ea typeface="Calibri" pitchFamily="34" charset="-122"/>
                <a:cs typeface="Calibri" pitchFamily="34" charset="-120"/>
              </a:rPr>
              <a:t>Source: AgroZen knowledge base · Ross-308</a:t>
            </a:r>
            <a:endParaRPr lang="en-US" sz="1250" dirty="0"/>
          </a:p>
        </p:txBody>
      </p:sp>
      <p:sp>
        <p:nvSpPr>
          <p:cNvPr id="42" name="Shape 30"/>
          <p:cNvSpPr/>
          <p:nvPr/>
        </p:nvSpPr>
        <p:spPr>
          <a:xfrm>
            <a:off x="6601968" y="5074920"/>
            <a:ext cx="4754880" cy="1005840"/>
          </a:xfrm>
          <a:prstGeom prst="roundRect">
            <a:avLst>
              <a:gd name="adj" fmla="val 16364"/>
            </a:avLst>
          </a:prstGeom>
          <a:solidFill>
            <a:srgbClr val="FEE2E2"/>
          </a:solidFill>
          <a:ln/>
        </p:spPr>
      </p:sp>
      <p:sp>
        <p:nvSpPr>
          <p:cNvPr id="43" name="Shape 31"/>
          <p:cNvSpPr/>
          <p:nvPr/>
        </p:nvSpPr>
        <p:spPr>
          <a:xfrm>
            <a:off x="6748272" y="5303520"/>
            <a:ext cx="548640" cy="548640"/>
          </a:xfrm>
          <a:prstGeom prst="ellipse">
            <a:avLst/>
          </a:prstGeom>
          <a:solidFill>
            <a:srgbClr val="DC2626"/>
          </a:solidFill>
          <a:ln/>
        </p:spPr>
      </p:sp>
      <p:pic>
        <p:nvPicPr>
          <p:cNvPr id="44" name="Image 10" descr="preencoded.png">    </p:cNvPr>
          <p:cNvPicPr>
            <a:picLocks noChangeAspect="1"/>
          </p:cNvPicPr>
          <p:nvPr/>
        </p:nvPicPr>
        <p:blipFill>
          <a:blip r:embed="rId11"/>
          <a:stretch>
            <a:fillRect/>
          </a:stretch>
        </p:blipFill>
        <p:spPr>
          <a:xfrm>
            <a:off x="6874459" y="5429707"/>
            <a:ext cx="296266" cy="296266"/>
          </a:xfrm>
          <a:prstGeom prst="rect">
            <a:avLst/>
          </a:prstGeom>
        </p:spPr>
      </p:pic>
      <p:sp>
        <p:nvSpPr>
          <p:cNvPr id="45" name="Text 32"/>
          <p:cNvSpPr/>
          <p:nvPr/>
        </p:nvSpPr>
        <p:spPr>
          <a:xfrm>
            <a:off x="7424928" y="5175504"/>
            <a:ext cx="3840480" cy="822960"/>
          </a:xfrm>
          <a:prstGeom prst="rect">
            <a:avLst/>
          </a:prstGeom>
          <a:noFill/>
          <a:ln/>
        </p:spPr>
        <p:txBody>
          <a:bodyPr wrap="square" lIns="0" tIns="0" rIns="0" bIns="0" rtlCol="0" anchor="ctr"/>
          <a:lstStyle/>
          <a:p>
            <a:pPr algn="l" indent="0" marL="0">
              <a:buNone/>
            </a:pPr>
            <a:r>
              <a:rPr lang="en-US" sz="1350" b="1" dirty="0">
                <a:solidFill>
                  <a:srgbClr val="0F172A"/>
                </a:solidFill>
                <a:latin typeface="Calibri" pitchFamily="34" charset="0"/>
                <a:ea typeface="Calibri" pitchFamily="34" charset="-122"/>
                <a:cs typeface="Calibri" pitchFamily="34" charset="-120"/>
              </a:rPr>
              <a:t>Not in the base? "Call your district vet."</a:t>
            </a:r>
            <a:endParaRPr lang="en-US" sz="1350" dirty="0"/>
          </a:p>
          <a:p>
            <a:pPr algn="l" indent="0" marL="0">
              <a:buNone/>
            </a:pPr>
            <a:r>
              <a:rPr lang="en-US" sz="1150" dirty="0">
                <a:solidFill>
                  <a:srgbClr val="0F172A"/>
                </a:solidFill>
                <a:latin typeface="Calibri" pitchFamily="34" charset="0"/>
                <a:ea typeface="Calibri" pitchFamily="34" charset="-122"/>
                <a:cs typeface="Calibri" pitchFamily="34" charset="-120"/>
              </a:rPr>
              <a:t>No diagnoses, no medicines, no dosages — ever.</a:t>
            </a:r>
            <a:endParaRPr lang="en-US" sz="1350" dirty="0"/>
          </a:p>
        </p:txBody>
      </p:sp>
      <p:sp>
        <p:nvSpPr>
          <p:cNvPr id="46" name="Text 33"/>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2E16"/>
        </a:solidFill>
      </p:bgPr>
    </p:bg>
    <p:spTree>
      <p:nvGrpSpPr>
        <p:cNvPr id="1" name=""/>
        <p:cNvGrpSpPr/>
        <p:nvPr/>
      </p:nvGrpSpPr>
      <p:grpSpPr>
        <a:xfrm>
          <a:off x="0" y="0"/>
          <a:ext cx="0" cy="0"/>
          <a:chOff x="0" y="0"/>
          <a:chExt cx="0" cy="0"/>
        </a:xfrm>
      </p:grpSpPr>
      <p:sp>
        <p:nvSpPr>
          <p:cNvPr id="2" name="Shape 0"/>
          <p:cNvSpPr/>
          <p:nvPr/>
        </p:nvSpPr>
        <p:spPr>
          <a:xfrm>
            <a:off x="7498080" y="2926080"/>
            <a:ext cx="5943600" cy="5943600"/>
          </a:xfrm>
          <a:prstGeom prst="ellipse">
            <a:avLst/>
          </a:prstGeom>
          <a:solidFill>
            <a:srgbClr val="15803D">
              <a:alpha val="40000"/>
            </a:srgbClr>
          </a:solidFill>
          <a:ln/>
        </p:spPr>
      </p:sp>
      <p:sp>
        <p:nvSpPr>
          <p:cNvPr id="3" name="Text 1"/>
          <p:cNvSpPr/>
          <p:nvPr/>
        </p:nvSpPr>
        <p:spPr>
          <a:xfrm>
            <a:off x="640080" y="502920"/>
            <a:ext cx="7315200" cy="292608"/>
          </a:xfrm>
          <a:prstGeom prst="rect">
            <a:avLst/>
          </a:prstGeom>
          <a:noFill/>
          <a:ln/>
        </p:spPr>
        <p:txBody>
          <a:bodyPr wrap="square" lIns="0" tIns="0" rIns="0" bIns="0" rtlCol="0" anchor="ctr"/>
          <a:lstStyle/>
          <a:p>
            <a:pPr indent="0" marL="0">
              <a:buNone/>
            </a:pPr>
            <a:r>
              <a:rPr lang="en-US" sz="1300" b="1" spc="200" kern="0" dirty="0">
                <a:solidFill>
                  <a:srgbClr val="F59E0B"/>
                </a:solidFill>
                <a:latin typeface="Calibri" pitchFamily="34" charset="0"/>
                <a:ea typeface="Calibri" pitchFamily="34" charset="-122"/>
                <a:cs typeface="Calibri" pitchFamily="34" charset="-120"/>
              </a:rPr>
              <a:t>NEXT STEP</a:t>
            </a:r>
            <a:endParaRPr lang="en-US" sz="1300" dirty="0"/>
          </a:p>
        </p:txBody>
      </p:sp>
      <p:sp>
        <p:nvSpPr>
          <p:cNvPr id="4" name="Text 2"/>
          <p:cNvSpPr/>
          <p:nvPr/>
        </p:nvSpPr>
        <p:spPr>
          <a:xfrm>
            <a:off x="640080" y="822960"/>
            <a:ext cx="694944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A pilot with 10 farmers and a bank in Namangan region</a:t>
            </a:r>
            <a:endParaRPr lang="en-US" sz="3200" dirty="0"/>
          </a:p>
        </p:txBody>
      </p:sp>
      <p:sp>
        <p:nvSpPr>
          <p:cNvPr id="5" name="Text 3"/>
          <p:cNvSpPr/>
          <p:nvPr/>
        </p:nvSpPr>
        <p:spPr>
          <a:xfrm>
            <a:off x="64008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92–95%</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flock survival</a:t>
            </a:r>
            <a:endParaRPr lang="en-US" sz="3400" dirty="0"/>
          </a:p>
        </p:txBody>
      </p:sp>
      <p:sp>
        <p:nvSpPr>
          <p:cNvPr id="6" name="Text 4"/>
          <p:cNvSpPr/>
          <p:nvPr/>
        </p:nvSpPr>
        <p:spPr>
          <a:xfrm>
            <a:off x="297180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80%+</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days with diary entries</a:t>
            </a:r>
            <a:endParaRPr lang="en-US" sz="3400" dirty="0"/>
          </a:p>
        </p:txBody>
      </p:sp>
      <p:sp>
        <p:nvSpPr>
          <p:cNvPr id="7" name="Text 5"/>
          <p:cNvSpPr/>
          <p:nvPr/>
        </p:nvSpPr>
        <p:spPr>
          <a:xfrm>
            <a:off x="530352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96%+</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AI answers matching the norms</a:t>
            </a:r>
            <a:endParaRPr lang="en-US" sz="3400" dirty="0"/>
          </a:p>
        </p:txBody>
      </p:sp>
      <p:sp>
        <p:nvSpPr>
          <p:cNvPr id="8" name="Text 6"/>
          <p:cNvSpPr/>
          <p:nvPr/>
        </p:nvSpPr>
        <p:spPr>
          <a:xfrm>
            <a:off x="640080" y="3200400"/>
            <a:ext cx="6858000" cy="320040"/>
          </a:xfrm>
          <a:prstGeom prst="rect">
            <a:avLst/>
          </a:prstGeom>
          <a:noFill/>
          <a:ln/>
        </p:spPr>
        <p:txBody>
          <a:bodyPr wrap="square" lIns="0" tIns="0" rIns="0" bIns="0" rtlCol="0" anchor="ctr"/>
          <a:lstStyle/>
          <a:p>
            <a:pPr indent="0" marL="0">
              <a:buNone/>
            </a:pPr>
            <a:r>
              <a:rPr lang="en-US" sz="1250" i="1" dirty="0">
                <a:solidFill>
                  <a:srgbClr val="DCFCE7"/>
                </a:solidFill>
                <a:latin typeface="Calibri" pitchFamily="34" charset="0"/>
                <a:ea typeface="Calibri" pitchFamily="34" charset="-122"/>
                <a:cs typeface="Calibri" pitchFamily="34" charset="-120"/>
              </a:rPr>
              <a:t>Target figures per flock (42 days).</a:t>
            </a:r>
            <a:endParaRPr lang="en-US" sz="1250" dirty="0"/>
          </a:p>
        </p:txBody>
      </p:sp>
      <p:sp>
        <p:nvSpPr>
          <p:cNvPr id="9" name="Shape 7"/>
          <p:cNvSpPr/>
          <p:nvPr/>
        </p:nvSpPr>
        <p:spPr>
          <a:xfrm>
            <a:off x="640080" y="3794760"/>
            <a:ext cx="384048" cy="384048"/>
          </a:xfrm>
          <a:prstGeom prst="ellipse">
            <a:avLst/>
          </a:prstGeom>
          <a:solidFill>
            <a:srgbClr val="15803D"/>
          </a:solidFill>
          <a:ln/>
        </p:spPr>
      </p:sp>
      <p:pic>
        <p:nvPicPr>
          <p:cNvPr id="10" name="Image 0" descr="preencoded.png">    </p:cNvPr>
          <p:cNvPicPr>
            <a:picLocks noChangeAspect="1"/>
          </p:cNvPicPr>
          <p:nvPr/>
        </p:nvPicPr>
        <p:blipFill>
          <a:blip r:embed="rId1"/>
          <a:stretch>
            <a:fillRect/>
          </a:stretch>
        </p:blipFill>
        <p:spPr>
          <a:xfrm>
            <a:off x="728411" y="3883091"/>
            <a:ext cx="207386" cy="207386"/>
          </a:xfrm>
          <a:prstGeom prst="rect">
            <a:avLst/>
          </a:prstGeom>
        </p:spPr>
      </p:pic>
      <p:sp>
        <p:nvSpPr>
          <p:cNvPr id="11" name="Text 8"/>
          <p:cNvSpPr/>
          <p:nvPr/>
        </p:nvSpPr>
        <p:spPr>
          <a:xfrm>
            <a:off x="1161288" y="379476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Sensors and AI cameras in two pilot farms</a:t>
            </a:r>
            <a:endParaRPr lang="en-US" sz="1450" dirty="0"/>
          </a:p>
        </p:txBody>
      </p:sp>
      <p:sp>
        <p:nvSpPr>
          <p:cNvPr id="12" name="Shape 9"/>
          <p:cNvSpPr/>
          <p:nvPr/>
        </p:nvSpPr>
        <p:spPr>
          <a:xfrm>
            <a:off x="640080" y="4343400"/>
            <a:ext cx="384048" cy="384048"/>
          </a:xfrm>
          <a:prstGeom prst="ellipse">
            <a:avLst/>
          </a:prstGeom>
          <a:solidFill>
            <a:srgbClr val="15803D"/>
          </a:solidFill>
          <a:ln/>
        </p:spPr>
      </p:sp>
      <p:pic>
        <p:nvPicPr>
          <p:cNvPr id="13" name="Image 1" descr="preencoded.png">    </p:cNvPr>
          <p:cNvPicPr>
            <a:picLocks noChangeAspect="1"/>
          </p:cNvPicPr>
          <p:nvPr/>
        </p:nvPicPr>
        <p:blipFill>
          <a:blip r:embed="rId2"/>
          <a:stretch>
            <a:fillRect/>
          </a:stretch>
        </p:blipFill>
        <p:spPr>
          <a:xfrm>
            <a:off x="728411" y="4431731"/>
            <a:ext cx="207386" cy="207386"/>
          </a:xfrm>
          <a:prstGeom prst="rect">
            <a:avLst/>
          </a:prstGeom>
        </p:spPr>
      </p:pic>
      <p:sp>
        <p:nvSpPr>
          <p:cNvPr id="14" name="Text 10"/>
          <p:cNvSpPr/>
          <p:nvPr/>
        </p:nvSpPr>
        <p:spPr>
          <a:xfrm>
            <a:off x="1161288" y="434340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Bank dashboard with real pilot data</a:t>
            </a:r>
            <a:endParaRPr lang="en-US" sz="1450" dirty="0"/>
          </a:p>
        </p:txBody>
      </p:sp>
      <p:sp>
        <p:nvSpPr>
          <p:cNvPr id="15" name="Shape 11"/>
          <p:cNvSpPr/>
          <p:nvPr/>
        </p:nvSpPr>
        <p:spPr>
          <a:xfrm>
            <a:off x="640080" y="4892040"/>
            <a:ext cx="384048" cy="384048"/>
          </a:xfrm>
          <a:prstGeom prst="ellipse">
            <a:avLst/>
          </a:prstGeom>
          <a:solidFill>
            <a:srgbClr val="15803D"/>
          </a:solidFill>
          <a:ln/>
        </p:spPr>
      </p:sp>
      <p:pic>
        <p:nvPicPr>
          <p:cNvPr id="16" name="Image 2" descr="preencoded.png">    </p:cNvPr>
          <p:cNvPicPr>
            <a:picLocks noChangeAspect="1"/>
          </p:cNvPicPr>
          <p:nvPr/>
        </p:nvPicPr>
        <p:blipFill>
          <a:blip r:embed="rId3"/>
          <a:stretch>
            <a:fillRect/>
          </a:stretch>
        </p:blipFill>
        <p:spPr>
          <a:xfrm>
            <a:off x="728411" y="4980371"/>
            <a:ext cx="207386" cy="207386"/>
          </a:xfrm>
          <a:prstGeom prst="rect">
            <a:avLst/>
          </a:prstGeom>
        </p:spPr>
      </p:pic>
      <p:sp>
        <p:nvSpPr>
          <p:cNvPr id="17" name="Text 12"/>
          <p:cNvSpPr/>
          <p:nvPr/>
        </p:nvSpPr>
        <p:spPr>
          <a:xfrm>
            <a:off x="1161288" y="489204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Then laying hens, sheep and cattle, greenhouses</a:t>
            </a:r>
            <a:endParaRPr lang="en-US" sz="1450" dirty="0"/>
          </a:p>
        </p:txBody>
      </p:sp>
      <p:pic>
        <p:nvPicPr>
          <p:cNvPr id="18" name="Image 3" descr="/home/abraxis/Desktop/AgroZen/docs/studexpo/assets/logo.png">    </p:cNvPr>
          <p:cNvPicPr>
            <a:picLocks noChangeAspect="1"/>
          </p:cNvPicPr>
          <p:nvPr/>
        </p:nvPicPr>
        <p:blipFill>
          <a:blip r:embed="rId4"/>
          <a:stretch>
            <a:fillRect/>
          </a:stretch>
        </p:blipFill>
        <p:spPr>
          <a:xfrm>
            <a:off x="640080" y="5669280"/>
            <a:ext cx="640080" cy="640080"/>
          </a:xfrm>
          <a:prstGeom prst="rect">
            <a:avLst/>
          </a:prstGeom>
        </p:spPr>
      </p:pic>
      <p:sp>
        <p:nvSpPr>
          <p:cNvPr id="19" name="Text 13"/>
          <p:cNvSpPr/>
          <p:nvPr/>
        </p:nvSpPr>
        <p:spPr>
          <a:xfrm>
            <a:off x="1417320" y="5669280"/>
            <a:ext cx="566928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Salimbek Zamalitdinov, project lead</a:t>
            </a:r>
            <a:endParaRPr lang="en-US" sz="1400" dirty="0"/>
          </a:p>
          <a:p>
            <a:pPr indent="0" marL="0">
              <a:buNone/>
            </a:pPr>
            <a:r>
              <a:rPr lang="en-US" sz="1250" dirty="0">
                <a:solidFill>
                  <a:srgbClr val="DCFCE7"/>
                </a:solidFill>
                <a:latin typeface="Calibri" pitchFamily="34" charset="0"/>
                <a:ea typeface="Calibri" pitchFamily="34" charset="-122"/>
                <a:cs typeface="Calibri" pitchFamily="34" charset="-120"/>
              </a:rPr>
              <a:t>+998 93 211 59 13 · salzamov@gmail.com</a:t>
            </a:r>
            <a:endParaRPr lang="en-US" sz="1400" dirty="0"/>
          </a:p>
        </p:txBody>
      </p:sp>
      <p:sp>
        <p:nvSpPr>
          <p:cNvPr id="20" name="Shape 14"/>
          <p:cNvSpPr/>
          <p:nvPr/>
        </p:nvSpPr>
        <p:spPr>
          <a:xfrm>
            <a:off x="8412480" y="731520"/>
            <a:ext cx="3136392" cy="4343400"/>
          </a:xfrm>
          <a:prstGeom prst="roundRect">
            <a:avLst>
              <a:gd name="adj" fmla="val 5248"/>
            </a:avLst>
          </a:prstGeom>
          <a:solidFill>
            <a:srgbClr val="FFFFFF"/>
          </a:solidFill>
          <a:ln/>
        </p:spPr>
      </p:sp>
      <p:pic>
        <p:nvPicPr>
          <p:cNvPr id="21" name="Image 4" descr="/home/abraxis/Desktop/AgroZen/docs/studexpo/assets/qr.png">    </p:cNvPr>
          <p:cNvPicPr>
            <a:picLocks noChangeAspect="1"/>
          </p:cNvPicPr>
          <p:nvPr/>
        </p:nvPicPr>
        <p:blipFill>
          <a:blip r:embed="rId5"/>
          <a:stretch>
            <a:fillRect/>
          </a:stretch>
        </p:blipFill>
        <p:spPr>
          <a:xfrm>
            <a:off x="8705088" y="1005840"/>
            <a:ext cx="2560320" cy="2560320"/>
          </a:xfrm>
          <a:prstGeom prst="rect">
            <a:avLst/>
          </a:prstGeom>
        </p:spPr>
      </p:pic>
      <p:sp>
        <p:nvSpPr>
          <p:cNvPr id="22" name="Text 15"/>
          <p:cNvSpPr/>
          <p:nvPr/>
        </p:nvSpPr>
        <p:spPr>
          <a:xfrm>
            <a:off x="8503920" y="3703320"/>
            <a:ext cx="2953512" cy="1188720"/>
          </a:xfrm>
          <a:prstGeom prst="rect">
            <a:avLst/>
          </a:prstGeom>
          <a:noFill/>
          <a:ln/>
        </p:spPr>
        <p:txBody>
          <a:bodyPr wrap="square" lIns="0" tIns="0" rIns="0" bIns="0" rtlCol="0" anchor="ctr"/>
          <a:lstStyle/>
          <a:p>
            <a:pPr algn="ctr" indent="0" marL="0">
              <a:buNone/>
            </a:pPr>
            <a:r>
              <a:rPr lang="en-US" sz="1700" b="1" dirty="0">
                <a:solidFill>
                  <a:srgbClr val="0F172A"/>
                </a:solidFill>
                <a:latin typeface="Calibri" pitchFamily="34" charset="0"/>
                <a:ea typeface="Calibri" pitchFamily="34" charset="-122"/>
                <a:cs typeface="Calibri" pitchFamily="34" charset="-120"/>
              </a:rPr>
              <a:t>Download and try it</a:t>
            </a:r>
            <a:endParaRPr lang="en-US" sz="1700" dirty="0"/>
          </a:p>
          <a:p>
            <a:pPr algn="ctr" indent="0" marL="0">
              <a:buNone/>
            </a:pPr>
            <a:r>
              <a:rPr lang="en-US" sz="1300" dirty="0">
                <a:solidFill>
                  <a:srgbClr val="52665A"/>
                </a:solidFill>
                <a:latin typeface="Calibri" pitchFamily="34" charset="0"/>
                <a:ea typeface="Calibri" pitchFamily="34" charset="-122"/>
                <a:cs typeface="Calibri" pitchFamily="34" charset="-120"/>
              </a:rPr>
              <a:t>Android app</a:t>
            </a:r>
            <a:endParaRPr lang="en-US" sz="1700" dirty="0"/>
          </a:p>
          <a:p>
            <a:pPr algn="ctr" indent="0" marL="0">
              <a:buNone/>
            </a:pPr>
            <a:r>
              <a:rPr lang="en-US" sz="1200" dirty="0">
                <a:solidFill>
                  <a:srgbClr val="15803D"/>
                </a:solidFill>
                <a:latin typeface="Calibri" pitchFamily="34" charset="0"/>
                <a:ea typeface="Calibri" pitchFamily="34" charset="-122"/>
                <a:cs typeface="Calibri" pitchFamily="34" charset="-120"/>
              </a:rPr>
              <a:t>github.com/ZedRubilan/agrozen</a:t>
            </a:r>
            <a:endParaRPr lang="en-US" sz="1700" dirty="0"/>
          </a:p>
        </p:txBody>
      </p:sp>
      <p:pic>
        <p:nvPicPr>
          <p:cNvPr id="23" name="Image 5" descr="/home/abraxis/Desktop/AgroZen/docs/studexpo/assets/chick_green.png">    </p:cNvPr>
          <p:cNvPicPr>
            <a:picLocks noChangeAspect="1"/>
          </p:cNvPicPr>
          <p:nvPr/>
        </p:nvPicPr>
        <p:blipFill>
          <a:blip r:embed="rId6"/>
          <a:stretch>
            <a:fillRect/>
          </a:stretch>
        </p:blipFill>
        <p:spPr>
          <a:xfrm>
            <a:off x="8732520" y="5257800"/>
            <a:ext cx="731520" cy="731520"/>
          </a:xfrm>
          <a:prstGeom prst="rect">
            <a:avLst/>
          </a:prstGeom>
        </p:spPr>
      </p:pic>
      <p:pic>
        <p:nvPicPr>
          <p:cNvPr id="24" name="Image 6" descr="/home/abraxis/Desktop/AgroZen/docs/studexpo/assets/chick_amber.png">    </p:cNvPr>
          <p:cNvPicPr>
            <a:picLocks noChangeAspect="1"/>
          </p:cNvPicPr>
          <p:nvPr/>
        </p:nvPicPr>
        <p:blipFill>
          <a:blip r:embed="rId7"/>
          <a:stretch>
            <a:fillRect/>
          </a:stretch>
        </p:blipFill>
        <p:spPr>
          <a:xfrm>
            <a:off x="9646920" y="5257800"/>
            <a:ext cx="731520" cy="731520"/>
          </a:xfrm>
          <a:prstGeom prst="rect">
            <a:avLst/>
          </a:prstGeom>
        </p:spPr>
      </p:pic>
      <p:pic>
        <p:nvPicPr>
          <p:cNvPr id="25" name="Image 7" descr="/home/abraxis/Desktop/AgroZen/docs/studexpo/assets/chick_red.png">    </p:cNvPr>
          <p:cNvPicPr>
            <a:picLocks noChangeAspect="1"/>
          </p:cNvPicPr>
          <p:nvPr/>
        </p:nvPicPr>
        <p:blipFill>
          <a:blip r:embed="rId8"/>
          <a:stretch>
            <a:fillRect/>
          </a:stretch>
        </p:blipFill>
        <p:spPr>
          <a:xfrm>
            <a:off x="10561320" y="5257800"/>
            <a:ext cx="731520" cy="731520"/>
          </a:xfrm>
          <a:prstGeom prst="rect">
            <a:avLst/>
          </a:prstGeom>
        </p:spPr>
      </p:pic>
      <p:sp>
        <p:nvSpPr>
          <p:cNvPr id="26" name="Text 16"/>
          <p:cNvSpPr/>
          <p:nvPr/>
        </p:nvSpPr>
        <p:spPr>
          <a:xfrm>
            <a:off x="8412480" y="6035040"/>
            <a:ext cx="3136392"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Thank you!</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AgroZen — StudEXPO-2026</dc:title>
  <dc:subject>PptxGenJS Presentation</dc:subject>
  <dc:creator>Salimbek Zamalitdinov, Ulugbek Kodirov</dc:creator>
  <cp:lastModifiedBy>Salimbek Zamalitdinov, Ulugbek Kodirov</cp:lastModifiedBy>
  <cp:revision>1</cp:revision>
  <dcterms:created xsi:type="dcterms:W3CDTF">2026-10-22T15:24:55Z</dcterms:created>
  <dcterms:modified xsi:type="dcterms:W3CDTF">2026-10-22T15:24:55Z</dcterms:modified>
</cp:coreProperties>
</file>