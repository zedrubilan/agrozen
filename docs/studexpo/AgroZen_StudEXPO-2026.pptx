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AgroZen is a working Android app: an AI mentor that guides a beginner broiler farmer through the 42-day cycle. New this autumn: a smart-barn monitor for sensors and AI cameras, and reports for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2017: chicken loans for low-income families went wrong. From August 2026 the state again gives concessional poultry loans. A beginner without knowledge loses the flock in the first two weeks and keeps the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screens a farmer uses every day: today's targets, the 42-day plan, the AI assistant that answers by voice, the diary with alerts and the course that ends with a certificate for a concessional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open Smart barn and press 'Ammonia': within seconds NH3 passes 10 ppm, the alarm fires and the fans switch on. 'Losses' shows the AI camera boxes on birds that are not moving and the button to call the district vet. All checks are plain code against the Ross-308 norms.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farmer agrees, and the app turns the diary into a one-page PDF with a score out of 100. The bank's dashboard shows all its farmers: who is on track, who needs attention, and it can warn every farmer in a district about a disease. This is how AgroZen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is in the Android app today, in three languages and offline. 260 automated tests check the norms, the alerts and the bank score. The AI never names medicines: outside its knowledge base it sends the farmer to the 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pilot with ten farmers and one bank in Namangan region, with sensors and cameras in two farms. Scan the QR code to install the app.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2E16"/>
        </a:solidFill>
      </p:bgPr>
    </p:bg>
    <p:spTree>
      <p:nvGrpSpPr>
        <p:cNvPr id="1" name=""/>
        <p:cNvGrpSpPr/>
        <p:nvPr/>
      </p:nvGrpSpPr>
      <p:grpSpPr>
        <a:xfrm>
          <a:off x="0" y="0"/>
          <a:ext cx="0" cy="0"/>
          <a:chOff x="0" y="0"/>
          <a:chExt cx="0" cy="0"/>
        </a:xfrm>
      </p:grpSpPr>
      <p:sp>
        <p:nvSpPr>
          <p:cNvPr id="2" name="Shape 0"/>
          <p:cNvSpPr/>
          <p:nvPr/>
        </p:nvSpPr>
        <p:spPr>
          <a:xfrm>
            <a:off x="6309360" y="-1188720"/>
            <a:ext cx="6949440" cy="6949440"/>
          </a:xfrm>
          <a:prstGeom prst="ellipse">
            <a:avLst/>
          </a:prstGeom>
          <a:solidFill>
            <a:srgbClr val="15803D">
              <a:alpha val="45000"/>
            </a:srgbClr>
          </a:solidFill>
          <a:ln/>
        </p:spPr>
      </p:sp>
      <p:pic>
        <p:nvPicPr>
          <p:cNvPr id="3" name="Image 0" descr="/home/abraxis/Desktop/AgroZen/docs/studexpo/assets/logo.png">    </p:cNvPr>
          <p:cNvPicPr>
            <a:picLocks noChangeAspect="1"/>
          </p:cNvPicPr>
          <p:nvPr/>
        </p:nvPicPr>
        <p:blipFill>
          <a:blip r:embed="rId1"/>
          <a:stretch>
            <a:fillRect/>
          </a:stretch>
        </p:blipFill>
        <p:spPr>
          <a:xfrm>
            <a:off x="640080" y="594360"/>
            <a:ext cx="777240" cy="777240"/>
          </a:xfrm>
          <a:prstGeom prst="rect">
            <a:avLst/>
          </a:prstGeom>
        </p:spPr>
      </p:pic>
      <p:sp>
        <p:nvSpPr>
          <p:cNvPr id="4" name="Text 1"/>
          <p:cNvSpPr/>
          <p:nvPr/>
        </p:nvSpPr>
        <p:spPr>
          <a:xfrm>
            <a:off x="1600200" y="594360"/>
            <a:ext cx="4754880" cy="777240"/>
          </a:xfrm>
          <a:prstGeom prst="rect">
            <a:avLst/>
          </a:prstGeom>
          <a:noFill/>
          <a:ln/>
        </p:spPr>
        <p:txBody>
          <a:bodyPr wrap="square" lIns="0" tIns="0" rIns="0" bIns="0" rtlCol="0" anchor="ctr"/>
          <a:lstStyle/>
          <a:p>
            <a:pPr indent="0" marL="0">
              <a:buNone/>
            </a:pPr>
            <a:r>
              <a:rPr lang="en-US" sz="1500" b="1" spc="200" kern="0" dirty="0">
                <a:solidFill>
                  <a:srgbClr val="FFFFFF"/>
                </a:solidFill>
                <a:latin typeface="Calibri" pitchFamily="34" charset="0"/>
                <a:ea typeface="Calibri" pitchFamily="34" charset="-122"/>
                <a:cs typeface="Calibri" pitchFamily="34" charset="-120"/>
              </a:rPr>
              <a:t>STUDEXPO-2026</a:t>
            </a:r>
            <a:endParaRPr lang="en-US" sz="1500" dirty="0"/>
          </a:p>
          <a:p>
            <a:pPr indent="0" marL="0">
              <a:buNone/>
            </a:pPr>
            <a:r>
              <a:rPr lang="en-US" sz="1400" dirty="0">
                <a:solidFill>
                  <a:srgbClr val="DCFCE7"/>
                </a:solidFill>
                <a:latin typeface="Calibri" pitchFamily="34" charset="0"/>
                <a:ea typeface="Calibri" pitchFamily="34" charset="-122"/>
                <a:cs typeface="Calibri" pitchFamily="34" charset="-120"/>
              </a:rPr>
              <a:t>Mobile apps and artificial intelligence</a:t>
            </a:r>
            <a:endParaRPr lang="en-US" sz="1500" dirty="0"/>
          </a:p>
        </p:txBody>
      </p:sp>
      <p:sp>
        <p:nvSpPr>
          <p:cNvPr id="5" name="Text 2"/>
          <p:cNvSpPr/>
          <p:nvPr/>
        </p:nvSpPr>
        <p:spPr>
          <a:xfrm>
            <a:off x="640080" y="1691640"/>
            <a:ext cx="5760720" cy="1188720"/>
          </a:xfrm>
          <a:prstGeom prst="rect">
            <a:avLst/>
          </a:prstGeom>
          <a:noFill/>
          <a:ln/>
        </p:spPr>
        <p:txBody>
          <a:bodyPr wrap="square" lIns="0" tIns="0" rIns="0" bIns="0" rtlCol="0" anchor="ctr"/>
          <a:lstStyle/>
          <a:p>
            <a:pPr indent="0" marL="0">
              <a:buNone/>
            </a:pPr>
            <a:r>
              <a:rPr lang="en-US" sz="8000" b="1" dirty="0">
                <a:solidFill>
                  <a:srgbClr val="FFFFFF"/>
                </a:solidFill>
                <a:latin typeface="Calibri" pitchFamily="34" charset="0"/>
                <a:ea typeface="Calibri" pitchFamily="34" charset="-122"/>
                <a:cs typeface="Calibri" pitchFamily="34" charset="-120"/>
              </a:rPr>
              <a:t>AgroZen</a:t>
            </a:r>
            <a:endParaRPr lang="en-US" sz="8000" dirty="0"/>
          </a:p>
        </p:txBody>
      </p:sp>
      <p:sp>
        <p:nvSpPr>
          <p:cNvPr id="6" name="Text 3"/>
          <p:cNvSpPr/>
          <p:nvPr/>
        </p:nvSpPr>
        <p:spPr>
          <a:xfrm>
            <a:off x="640080" y="2926080"/>
            <a:ext cx="5486400" cy="914400"/>
          </a:xfrm>
          <a:prstGeom prst="rect">
            <a:avLst/>
          </a:prstGeom>
          <a:noFill/>
          <a:ln/>
        </p:spPr>
        <p:txBody>
          <a:bodyPr wrap="square" lIns="0" tIns="0" rIns="0" bIns="0" rtlCol="0" anchor="t"/>
          <a:lstStyle/>
          <a:p>
            <a:pPr indent="0" marL="0">
              <a:buNone/>
            </a:pPr>
            <a:r>
              <a:rPr lang="en-US" sz="2400" dirty="0">
                <a:solidFill>
                  <a:srgbClr val="DCFCE7"/>
                </a:solidFill>
                <a:latin typeface="Calibri" pitchFamily="34" charset="0"/>
                <a:ea typeface="Calibri" pitchFamily="34" charset="-122"/>
                <a:cs typeface="Calibri" pitchFamily="34" charset="-120"/>
              </a:rPr>
              <a:t>An AI mentor in your smartphone for beginner poultry farmers</a:t>
            </a:r>
            <a:endParaRPr lang="en-US" sz="2400" dirty="0"/>
          </a:p>
        </p:txBody>
      </p:sp>
      <p:sp>
        <p:nvSpPr>
          <p:cNvPr id="7" name="Shape 4"/>
          <p:cNvSpPr/>
          <p:nvPr/>
        </p:nvSpPr>
        <p:spPr>
          <a:xfrm>
            <a:off x="640080" y="4069080"/>
            <a:ext cx="2240280" cy="384048"/>
          </a:xfrm>
          <a:prstGeom prst="roundRect">
            <a:avLst>
              <a:gd name="adj" fmla="val 50000"/>
            </a:avLst>
          </a:prstGeom>
          <a:solidFill>
            <a:srgbClr val="15803D"/>
          </a:solidFill>
          <a:ln/>
        </p:spPr>
      </p:sp>
      <p:sp>
        <p:nvSpPr>
          <p:cNvPr id="8" name="Text 5"/>
          <p:cNvSpPr/>
          <p:nvPr/>
        </p:nvSpPr>
        <p:spPr>
          <a:xfrm>
            <a:off x="640080" y="4069080"/>
            <a:ext cx="22402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Working MVP · Android</a:t>
            </a:r>
            <a:endParaRPr lang="en-US" sz="1300" dirty="0"/>
          </a:p>
        </p:txBody>
      </p:sp>
      <p:sp>
        <p:nvSpPr>
          <p:cNvPr id="9" name="Shape 6"/>
          <p:cNvSpPr/>
          <p:nvPr/>
        </p:nvSpPr>
        <p:spPr>
          <a:xfrm>
            <a:off x="3017520" y="4069080"/>
            <a:ext cx="1280160" cy="384048"/>
          </a:xfrm>
          <a:prstGeom prst="roundRect">
            <a:avLst>
              <a:gd name="adj" fmla="val 50000"/>
            </a:avLst>
          </a:prstGeom>
          <a:solidFill>
            <a:srgbClr val="15803D"/>
          </a:solidFill>
          <a:ln/>
        </p:spPr>
      </p:sp>
      <p:sp>
        <p:nvSpPr>
          <p:cNvPr id="10" name="Text 7"/>
          <p:cNvSpPr/>
          <p:nvPr/>
        </p:nvSpPr>
        <p:spPr>
          <a:xfrm>
            <a:off x="3017520" y="4069080"/>
            <a:ext cx="12801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languages</a:t>
            </a:r>
            <a:endParaRPr lang="en-US" sz="1300" dirty="0"/>
          </a:p>
        </p:txBody>
      </p:sp>
      <p:sp>
        <p:nvSpPr>
          <p:cNvPr id="11" name="Shape 8"/>
          <p:cNvSpPr/>
          <p:nvPr/>
        </p:nvSpPr>
        <p:spPr>
          <a:xfrm>
            <a:off x="4434840" y="4069080"/>
            <a:ext cx="1463040" cy="384048"/>
          </a:xfrm>
          <a:prstGeom prst="roundRect">
            <a:avLst>
              <a:gd name="adj" fmla="val 50000"/>
            </a:avLst>
          </a:prstGeom>
          <a:solidFill>
            <a:srgbClr val="15803D"/>
          </a:solidFill>
          <a:ln/>
        </p:spPr>
      </p:sp>
      <p:sp>
        <p:nvSpPr>
          <p:cNvPr id="12" name="Text 9"/>
          <p:cNvSpPr/>
          <p:nvPr/>
        </p:nvSpPr>
        <p:spPr>
          <a:xfrm>
            <a:off x="4434840" y="4069080"/>
            <a:ext cx="146304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Works offline</a:t>
            </a:r>
            <a:endParaRPr lang="en-US" sz="1300" dirty="0"/>
          </a:p>
        </p:txBody>
      </p:sp>
      <p:sp>
        <p:nvSpPr>
          <p:cNvPr id="13" name="Shape 10"/>
          <p:cNvSpPr/>
          <p:nvPr/>
        </p:nvSpPr>
        <p:spPr>
          <a:xfrm>
            <a:off x="640080" y="4572000"/>
            <a:ext cx="1874520" cy="384048"/>
          </a:xfrm>
          <a:prstGeom prst="roundRect">
            <a:avLst>
              <a:gd name="adj" fmla="val 50000"/>
            </a:avLst>
          </a:prstGeom>
          <a:solidFill>
            <a:srgbClr val="15803D"/>
          </a:solidFill>
          <a:ln/>
        </p:spPr>
      </p:sp>
      <p:sp>
        <p:nvSpPr>
          <p:cNvPr id="14" name="Text 11"/>
          <p:cNvSpPr/>
          <p:nvPr/>
        </p:nvSpPr>
        <p:spPr>
          <a:xfrm>
            <a:off x="640080" y="4572000"/>
            <a:ext cx="18745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Smart barn sensors</a:t>
            </a:r>
            <a:endParaRPr lang="en-US" sz="1300" dirty="0"/>
          </a:p>
        </p:txBody>
      </p:sp>
      <p:sp>
        <p:nvSpPr>
          <p:cNvPr id="15" name="Shape 12"/>
          <p:cNvSpPr/>
          <p:nvPr/>
        </p:nvSpPr>
        <p:spPr>
          <a:xfrm>
            <a:off x="2651760" y="4572000"/>
            <a:ext cx="1783080" cy="384048"/>
          </a:xfrm>
          <a:prstGeom prst="roundRect">
            <a:avLst>
              <a:gd name="adj" fmla="val 50000"/>
            </a:avLst>
          </a:prstGeom>
          <a:solidFill>
            <a:srgbClr val="15803D"/>
          </a:solidFill>
          <a:ln/>
        </p:spPr>
      </p:sp>
      <p:sp>
        <p:nvSpPr>
          <p:cNvPr id="16" name="Text 13"/>
          <p:cNvSpPr/>
          <p:nvPr/>
        </p:nvSpPr>
        <p:spPr>
          <a:xfrm>
            <a:off x="2651760" y="4572000"/>
            <a:ext cx="17830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Reports for banks</a:t>
            </a:r>
            <a:endParaRPr lang="en-US" sz="1300" dirty="0"/>
          </a:p>
        </p:txBody>
      </p:sp>
      <p:sp>
        <p:nvSpPr>
          <p:cNvPr id="17" name="Text 14"/>
          <p:cNvSpPr/>
          <p:nvPr/>
        </p:nvSpPr>
        <p:spPr>
          <a:xfrm>
            <a:off x="640080" y="5715000"/>
            <a:ext cx="5486400" cy="6400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Salimbek Zamalitdinov · Ulugbek Kodirov</a:t>
            </a:r>
            <a:endParaRPr lang="en-US" sz="1500" dirty="0"/>
          </a:p>
          <a:p>
            <a:pPr indent="0" marL="0">
              <a:buNone/>
            </a:pPr>
            <a:r>
              <a:rPr lang="en-US" sz="1300" dirty="0">
                <a:solidFill>
                  <a:srgbClr val="DCFCE7"/>
                </a:solidFill>
                <a:latin typeface="Calibri" pitchFamily="34" charset="0"/>
                <a:ea typeface="Calibri" pitchFamily="34" charset="-122"/>
                <a:cs typeface="Calibri" pitchFamily="34" charset="-120"/>
              </a:rPr>
              <a:t>Namangan State Technical University</a:t>
            </a:r>
            <a:endParaRPr lang="en-US" sz="1500" dirty="0"/>
          </a:p>
        </p:txBody>
      </p:sp>
      <p:pic>
        <p:nvPicPr>
          <p:cNvPr id="18" name="Image 1" descr="AgroZen screen: monitor">    </p:cNvPr>
          <p:cNvPicPr>
            <a:picLocks noChangeAspect="1"/>
          </p:cNvPicPr>
          <p:nvPr/>
        </p:nvPicPr>
        <p:blipFill>
          <a:blip r:embed="rId2"/>
          <a:stretch>
            <a:fillRect/>
          </a:stretch>
        </p:blipFill>
        <p:spPr>
          <a:xfrm rot="21120000">
            <a:off x="6537960" y="1417320"/>
            <a:ext cx="2128695" cy="4480560"/>
          </a:xfrm>
          <a:prstGeom prst="rect">
            <a:avLst/>
          </a:prstGeom>
          <a:effectLst>
            <a:outerShdw sx="100000" sy="100000" kx="0" ky="0" algn="bl" rotWithShape="0" blurRad="254000" dist="101600" dir="5400000">
              <a:srgbClr val="000000">
                <a:alpha val="35000"/>
              </a:srgbClr>
            </a:outerShdw>
          </a:effectLst>
        </p:spPr>
      </p:pic>
      <p:pic>
        <p:nvPicPr>
          <p:cNvPr id="19" name="Image 2" descr="AgroZen screen: bank_report">    </p:cNvPr>
          <p:cNvPicPr>
            <a:picLocks noChangeAspect="1"/>
          </p:cNvPicPr>
          <p:nvPr/>
        </p:nvPicPr>
        <p:blipFill>
          <a:blip r:embed="rId3"/>
          <a:stretch>
            <a:fillRect/>
          </a:stretch>
        </p:blipFill>
        <p:spPr>
          <a:xfrm rot="480000">
            <a:off x="9829800" y="1417320"/>
            <a:ext cx="2128695" cy="4480560"/>
          </a:xfrm>
          <a:prstGeom prst="rect">
            <a:avLst/>
          </a:prstGeom>
          <a:effectLst>
            <a:outerShdw sx="100000" sy="100000" kx="0" ky="0" algn="bl" rotWithShape="0" blurRad="254000" dist="101600" dir="5400000">
              <a:srgbClr val="000000">
                <a:alpha val="35000"/>
              </a:srgbClr>
            </a:outerShdw>
          </a:effectLst>
        </p:spPr>
      </p:pic>
      <p:pic>
        <p:nvPicPr>
          <p:cNvPr id="20" name="Image 3" descr="AgroZen screen: today">    </p:cNvPr>
          <p:cNvPicPr>
            <a:picLocks noChangeAspect="1"/>
          </p:cNvPicPr>
          <p:nvPr/>
        </p:nvPicPr>
        <p:blipFill>
          <a:blip r:embed="rId4"/>
          <a:stretch>
            <a:fillRect/>
          </a:stretch>
        </p:blipFill>
        <p:spPr>
          <a:xfrm>
            <a:off x="8001000" y="868680"/>
            <a:ext cx="2541401" cy="5349240"/>
          </a:xfrm>
          <a:prstGeom prst="rect">
            <a:avLst/>
          </a:prstGeom>
          <a:effectLst>
            <a:outerShdw sx="100000" sy="100000" kx="0" ky="0" algn="bl" rotWithShape="0" blurRad="254000" dist="1016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4"/>
        </a:solidFill>
      </p:bgPr>
    </p:bg>
    <p:spTree>
      <p:nvGrpSpPr>
        <p:cNvPr id="1" name=""/>
        <p:cNvGrpSpPr/>
        <p:nvPr/>
      </p:nvGrpSpPr>
      <p:grpSpPr>
        <a:xfrm>
          <a:off x="0" y="0"/>
          <a:ext cx="0" cy="0"/>
          <a:chOff x="0" y="0"/>
          <a:chExt cx="0" cy="0"/>
        </a:xfrm>
      </p:grpSpPr>
      <p:pic>
        <p:nvPicPr>
          <p:cNvPr id="2" name="Image 0" descr="/home/abraxis/Desktop/AgroZen/docs/studexpo/assets/problem_photo.jpg">    </p:cNvPr>
          <p:cNvPicPr>
            <a:picLocks noChangeAspect="1"/>
          </p:cNvPicPr>
          <p:nvPr/>
        </p:nvPicPr>
        <p:blipFill>
          <a:blip r:embed="rId1"/>
          <a:srcRect l="0" r="0" t="0" b="0"/>
          <a:stretch/>
        </p:blipFill>
        <p:spPr>
          <a:xfrm>
            <a:off x="0" y="0"/>
            <a:ext cx="4480560" cy="6858000"/>
          </a:xfrm>
          <a:prstGeom prst="rect">
            <a:avLst/>
          </a:prstGeom>
        </p:spPr>
      </p:pic>
      <p:sp>
        <p:nvSpPr>
          <p:cNvPr id="3" name="Shape 0"/>
          <p:cNvSpPr/>
          <p:nvPr/>
        </p:nvSpPr>
        <p:spPr>
          <a:xfrm>
            <a:off x="365760" y="4343400"/>
            <a:ext cx="3749040" cy="2057400"/>
          </a:xfrm>
          <a:prstGeom prst="roundRect">
            <a:avLst>
              <a:gd name="adj" fmla="val 7111"/>
            </a:avLst>
          </a:prstGeom>
          <a:solidFill>
            <a:srgbClr val="FFFFFF"/>
          </a:solidFill>
          <a:ln/>
          <a:effectLst>
            <a:outerShdw sx="100000" sy="100000" kx="0" ky="0" algn="bl" rotWithShape="0" blurRad="177800" dist="38100" dir="5400000">
              <a:srgbClr val="0F172A">
                <a:alpha val="12000"/>
              </a:srgbClr>
            </a:outerShdw>
          </a:effectLst>
        </p:spPr>
      </p:sp>
      <p:sp>
        <p:nvSpPr>
          <p:cNvPr id="4" name="Text 1"/>
          <p:cNvSpPr/>
          <p:nvPr/>
        </p:nvSpPr>
        <p:spPr>
          <a:xfrm>
            <a:off x="566928" y="4462272"/>
            <a:ext cx="3383280" cy="1828800"/>
          </a:xfrm>
          <a:prstGeom prst="rect">
            <a:avLst/>
          </a:prstGeom>
          <a:noFill/>
          <a:ln/>
        </p:spPr>
        <p:txBody>
          <a:bodyPr wrap="square" lIns="0" tIns="0" rIns="0" bIns="0" rtlCol="0" anchor="t"/>
          <a:lstStyle/>
          <a:p>
            <a:pPr indent="0" marL="0">
              <a:buNone/>
            </a:pPr>
            <a:r>
              <a:rPr lang="en-US" sz="1500" b="1" dirty="0">
                <a:solidFill>
                  <a:srgbClr val="DC2626"/>
                </a:solidFill>
                <a:latin typeface="Calibri" pitchFamily="34" charset="0"/>
                <a:ea typeface="Calibri" pitchFamily="34" charset="-122"/>
                <a:cs typeface="Calibri" pitchFamily="34" charset="-120"/>
              </a:rPr>
              <a:t>2017</a:t>
            </a:r>
            <a:endParaRPr lang="en-US" sz="1500" dirty="0"/>
          </a:p>
          <a:p>
            <a:pPr indent="0" marL="0">
              <a:spcAft>
                <a:spcPts val="800"/>
              </a:spcAft>
              <a:buNone/>
            </a:pPr>
            <a:r>
              <a:rPr lang="en-US" sz="1250" dirty="0">
                <a:solidFill>
                  <a:srgbClr val="0F172A"/>
                </a:solidFill>
                <a:latin typeface="Calibri" pitchFamily="34" charset="0"/>
                <a:ea typeface="Calibri" pitchFamily="34" charset="-122"/>
                <a:cs typeface="Calibri" pitchFamily="34" charset="-120"/>
              </a:rPr>
              <a:t>Low-income families got loans to raise chickens. Reportedly, many borrowers couldn't repay, and banks began cutting such loans.</a:t>
            </a:r>
            <a:endParaRPr lang="en-US" sz="1500" dirty="0"/>
          </a:p>
          <a:p>
            <a:pPr indent="0" marL="0">
              <a:buNone/>
            </a:pPr>
            <a:r>
              <a:rPr lang="en-US" sz="1500" b="1" dirty="0">
                <a:solidFill>
                  <a:srgbClr val="15803D"/>
                </a:solidFill>
                <a:latin typeface="Calibri" pitchFamily="34" charset="0"/>
                <a:ea typeface="Calibri" pitchFamily="34" charset="-122"/>
                <a:cs typeface="Calibri" pitchFamily="34" charset="-120"/>
              </a:rPr>
              <a:t>From 1 August 2026</a:t>
            </a:r>
            <a:endParaRPr lang="en-US" sz="1500" dirty="0"/>
          </a:p>
          <a:p>
            <a:pPr indent="0" marL="0">
              <a:buNone/>
            </a:pPr>
            <a:r>
              <a:rPr lang="en-US" sz="1250" dirty="0">
                <a:solidFill>
                  <a:srgbClr val="0F172A"/>
                </a:solidFill>
                <a:latin typeface="Calibri" pitchFamily="34" charset="0"/>
                <a:ea typeface="Calibri" pitchFamily="34" charset="-122"/>
                <a:cs typeface="Calibri" pitchFamily="34" charset="-120"/>
              </a:rPr>
              <a:t>The state launched concessional poultry loans: up to 10 years at 10% a year.</a:t>
            </a:r>
            <a:endParaRPr lang="en-US" sz="1500" dirty="0"/>
          </a:p>
        </p:txBody>
      </p:sp>
      <p:sp>
        <p:nvSpPr>
          <p:cNvPr id="5" name="Text 2"/>
          <p:cNvSpPr/>
          <p:nvPr/>
        </p:nvSpPr>
        <p:spPr>
          <a:xfrm>
            <a:off x="5120640" y="50292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PROBLEM</a:t>
            </a:r>
            <a:endParaRPr lang="en-US" sz="1300" dirty="0"/>
          </a:p>
        </p:txBody>
      </p:sp>
      <p:sp>
        <p:nvSpPr>
          <p:cNvPr id="6" name="Text 3"/>
          <p:cNvSpPr/>
          <p:nvPr/>
        </p:nvSpPr>
        <p:spPr>
          <a:xfrm>
            <a:off x="5120640" y="822960"/>
            <a:ext cx="658368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Loan taken, flock lost</a:t>
            </a:r>
            <a:endParaRPr lang="en-US" sz="3400" dirty="0"/>
          </a:p>
        </p:txBody>
      </p:sp>
      <p:sp>
        <p:nvSpPr>
          <p:cNvPr id="7" name="Shape 4"/>
          <p:cNvSpPr/>
          <p:nvPr/>
        </p:nvSpPr>
        <p:spPr>
          <a:xfrm>
            <a:off x="5120640" y="1874520"/>
            <a:ext cx="548640" cy="548640"/>
          </a:xfrm>
          <a:prstGeom prst="ellipse">
            <a:avLst/>
          </a:prstGeom>
          <a:solidFill>
            <a:srgbClr val="FEE2E2"/>
          </a:solidFill>
          <a:ln/>
        </p:spPr>
      </p:sp>
      <p:pic>
        <p:nvPicPr>
          <p:cNvPr id="8" name="Image 1" descr="preencoded.png">    </p:cNvPr>
          <p:cNvPicPr>
            <a:picLocks noChangeAspect="1"/>
          </p:cNvPicPr>
          <p:nvPr/>
        </p:nvPicPr>
        <p:blipFill>
          <a:blip r:embed="rId2"/>
          <a:stretch>
            <a:fillRect/>
          </a:stretch>
        </p:blipFill>
        <p:spPr>
          <a:xfrm>
            <a:off x="5246827" y="2000707"/>
            <a:ext cx="296266" cy="296266"/>
          </a:xfrm>
          <a:prstGeom prst="rect">
            <a:avLst/>
          </a:prstGeom>
        </p:spPr>
      </p:pic>
      <p:sp>
        <p:nvSpPr>
          <p:cNvPr id="9" name="Text 5"/>
          <p:cNvSpPr/>
          <p:nvPr/>
        </p:nvSpPr>
        <p:spPr>
          <a:xfrm>
            <a:off x="5852160" y="1828800"/>
            <a:ext cx="5760720" cy="86868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No knowledge</a:t>
            </a:r>
            <a:endParaRPr lang="en-US" sz="1700" dirty="0"/>
          </a:p>
          <a:p>
            <a:pPr indent="0" marL="0">
              <a:buNone/>
            </a:pPr>
            <a:r>
              <a:rPr lang="en-US" sz="1350" dirty="0">
                <a:solidFill>
                  <a:srgbClr val="52665A"/>
                </a:solidFill>
                <a:latin typeface="Calibri" pitchFamily="34" charset="0"/>
                <a:ea typeface="Calibri" pitchFamily="34" charset="-122"/>
                <a:cs typeface="Calibri" pitchFamily="34" charset="-120"/>
              </a:rPr>
              <a:t>A beginner doesn't know the norms for temperature, feeding and vaccination.</a:t>
            </a:r>
            <a:endParaRPr lang="en-US" sz="1700" dirty="0"/>
          </a:p>
        </p:txBody>
      </p:sp>
      <p:sp>
        <p:nvSpPr>
          <p:cNvPr id="10" name="Shape 6"/>
          <p:cNvSpPr/>
          <p:nvPr/>
        </p:nvSpPr>
        <p:spPr>
          <a:xfrm>
            <a:off x="5120640" y="2898648"/>
            <a:ext cx="548640" cy="548640"/>
          </a:xfrm>
          <a:prstGeom prst="ellipse">
            <a:avLst/>
          </a:prstGeom>
          <a:solidFill>
            <a:srgbClr val="FEE2E2"/>
          </a:solidFill>
          <a:ln/>
        </p:spPr>
      </p:sp>
      <p:pic>
        <p:nvPicPr>
          <p:cNvPr id="11" name="Image 2" descr="preencoded.png">    </p:cNvPr>
          <p:cNvPicPr>
            <a:picLocks noChangeAspect="1"/>
          </p:cNvPicPr>
          <p:nvPr/>
        </p:nvPicPr>
        <p:blipFill>
          <a:blip r:embed="rId3"/>
          <a:stretch>
            <a:fillRect/>
          </a:stretch>
        </p:blipFill>
        <p:spPr>
          <a:xfrm>
            <a:off x="5246827" y="3024835"/>
            <a:ext cx="296266" cy="296266"/>
          </a:xfrm>
          <a:prstGeom prst="rect">
            <a:avLst/>
          </a:prstGeom>
        </p:spPr>
      </p:pic>
      <p:sp>
        <p:nvSpPr>
          <p:cNvPr id="12" name="Text 7"/>
          <p:cNvSpPr/>
          <p:nvPr/>
        </p:nvSpPr>
        <p:spPr>
          <a:xfrm>
            <a:off x="5852160" y="2852928"/>
            <a:ext cx="5760720" cy="86868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The first 14 days are the most dangerous</a:t>
            </a:r>
            <a:endParaRPr lang="en-US" sz="1700" dirty="0"/>
          </a:p>
          <a:p>
            <a:pPr indent="0" marL="0">
              <a:buNone/>
            </a:pPr>
            <a:r>
              <a:rPr lang="en-US" sz="1350" dirty="0">
                <a:solidFill>
                  <a:srgbClr val="52665A"/>
                </a:solidFill>
                <a:latin typeface="Calibri" pitchFamily="34" charset="0"/>
                <a:ea typeface="Calibri" pitchFamily="34" charset="-122"/>
                <a:cs typeface="Calibri" pitchFamily="34" charset="-120"/>
              </a:rPr>
              <a:t>A microclimate mistake leads to mass mortality — and nobody measures ammonia or CO2.</a:t>
            </a:r>
            <a:endParaRPr lang="en-US" sz="1700" dirty="0"/>
          </a:p>
        </p:txBody>
      </p:sp>
      <p:sp>
        <p:nvSpPr>
          <p:cNvPr id="13" name="Shape 8"/>
          <p:cNvSpPr/>
          <p:nvPr/>
        </p:nvSpPr>
        <p:spPr>
          <a:xfrm>
            <a:off x="5120640" y="3922776"/>
            <a:ext cx="548640" cy="548640"/>
          </a:xfrm>
          <a:prstGeom prst="ellipse">
            <a:avLst/>
          </a:prstGeom>
          <a:solidFill>
            <a:srgbClr val="FEE2E2"/>
          </a:solidFill>
          <a:ln/>
        </p:spPr>
      </p:sp>
      <p:pic>
        <p:nvPicPr>
          <p:cNvPr id="14" name="Image 3" descr="preencoded.png">    </p:cNvPr>
          <p:cNvPicPr>
            <a:picLocks noChangeAspect="1"/>
          </p:cNvPicPr>
          <p:nvPr/>
        </p:nvPicPr>
        <p:blipFill>
          <a:blip r:embed="rId4"/>
          <a:stretch>
            <a:fillRect/>
          </a:stretch>
        </p:blipFill>
        <p:spPr>
          <a:xfrm>
            <a:off x="5246827" y="4048963"/>
            <a:ext cx="296266" cy="296266"/>
          </a:xfrm>
          <a:prstGeom prst="rect">
            <a:avLst/>
          </a:prstGeom>
        </p:spPr>
      </p:pic>
      <p:sp>
        <p:nvSpPr>
          <p:cNvPr id="15" name="Text 9"/>
          <p:cNvSpPr/>
          <p:nvPr/>
        </p:nvSpPr>
        <p:spPr>
          <a:xfrm>
            <a:off x="5852160" y="3877056"/>
            <a:ext cx="5760720" cy="86868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The specialist is far away</a:t>
            </a:r>
            <a:endParaRPr lang="en-US" sz="1700" dirty="0"/>
          </a:p>
          <a:p>
            <a:pPr indent="0" marL="0">
              <a:buNone/>
            </a:pPr>
            <a:r>
              <a:rPr lang="en-US" sz="1350" dirty="0">
                <a:solidFill>
                  <a:srgbClr val="52665A"/>
                </a:solidFill>
                <a:latin typeface="Calibri" pitchFamily="34" charset="0"/>
                <a:ea typeface="Calibri" pitchFamily="34" charset="-122"/>
                <a:cs typeface="Calibri" pitchFamily="34" charset="-120"/>
              </a:rPr>
              <a:t>There is no vet nearby at the moment a question comes up.</a:t>
            </a:r>
            <a:endParaRPr lang="en-US" sz="1700" dirty="0"/>
          </a:p>
        </p:txBody>
      </p:sp>
      <p:sp>
        <p:nvSpPr>
          <p:cNvPr id="16" name="Shape 10"/>
          <p:cNvSpPr/>
          <p:nvPr/>
        </p:nvSpPr>
        <p:spPr>
          <a:xfrm>
            <a:off x="5120640" y="5120640"/>
            <a:ext cx="6492240" cy="1051560"/>
          </a:xfrm>
          <a:prstGeom prst="roundRect">
            <a:avLst>
              <a:gd name="adj" fmla="val 13913"/>
            </a:avLst>
          </a:prstGeom>
          <a:solidFill>
            <a:srgbClr val="FFFFFF"/>
          </a:solidFill>
          <a:ln/>
          <a:effectLst>
            <a:outerShdw sx="100000" sy="100000" kx="0" ky="0" algn="bl" rotWithShape="0" blurRad="177800" dist="38100" dir="5400000">
              <a:srgbClr val="0F172A">
                <a:alpha val="12000"/>
              </a:srgbClr>
            </a:outerShdw>
          </a:effectLst>
        </p:spPr>
      </p:sp>
      <p:sp>
        <p:nvSpPr>
          <p:cNvPr id="17" name="Text 11"/>
          <p:cNvSpPr/>
          <p:nvPr/>
        </p:nvSpPr>
        <p:spPr>
          <a:xfrm>
            <a:off x="5349240" y="5212080"/>
            <a:ext cx="6126480" cy="868680"/>
          </a:xfrm>
          <a:prstGeom prst="rect">
            <a:avLst/>
          </a:prstGeom>
          <a:noFill/>
          <a:ln/>
        </p:spPr>
        <p:txBody>
          <a:bodyPr wrap="square" lIns="0" tIns="0" rIns="0" bIns="0" rtlCol="0" anchor="ctr"/>
          <a:lstStyle/>
          <a:p>
            <a:pPr indent="0" marL="0">
              <a:buNone/>
            </a:pPr>
            <a:r>
              <a:rPr lang="en-US" sz="1900" b="1" dirty="0">
                <a:solidFill>
                  <a:srgbClr val="DC2626"/>
                </a:solidFill>
                <a:latin typeface="Calibri" pitchFamily="34" charset="0"/>
                <a:ea typeface="Calibri" pitchFamily="34" charset="-122"/>
                <a:cs typeface="Calibri" pitchFamily="34" charset="-120"/>
              </a:rPr>
              <a:t>The birds are gone. The debt remains.</a:t>
            </a:r>
            <a:endParaRPr lang="en-US" sz="1900" dirty="0"/>
          </a:p>
          <a:p>
            <a:pPr indent="0" marL="0">
              <a:buNone/>
            </a:pPr>
            <a:r>
              <a:rPr lang="en-US" sz="1350" dirty="0">
                <a:solidFill>
                  <a:srgbClr val="0F172A"/>
                </a:solidFill>
                <a:latin typeface="Calibri" pitchFamily="34" charset="0"/>
                <a:ea typeface="Calibri" pitchFamily="34" charset="-122"/>
                <a:cs typeface="Calibri" pitchFamily="34" charset="-120"/>
              </a:rPr>
              <a:t>People lose money not because of laziness, but because of mistakes no one warned them about.</a:t>
            </a:r>
            <a:endParaRPr lang="en-US" sz="1900" dirty="0"/>
          </a:p>
        </p:txBody>
      </p:sp>
      <p:sp>
        <p:nvSpPr>
          <p:cNvPr id="18" name="Text 12"/>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SOLUTION</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AgroZen guides the farmer through all 42 days</a:t>
            </a:r>
            <a:endParaRPr lang="en-US" sz="3400" dirty="0"/>
          </a:p>
        </p:txBody>
      </p:sp>
      <p:pic>
        <p:nvPicPr>
          <p:cNvPr id="4" name="Image 0" descr="AgroZen screen: today">    </p:cNvPr>
          <p:cNvPicPr>
            <a:picLocks noChangeAspect="1"/>
          </p:cNvPicPr>
          <p:nvPr/>
        </p:nvPicPr>
        <p:blipFill>
          <a:blip r:embed="rId1"/>
          <a:stretch>
            <a:fillRect/>
          </a:stretch>
        </p:blipFill>
        <p:spPr>
          <a:xfrm>
            <a:off x="640080" y="1600200"/>
            <a:ext cx="1846317" cy="3886200"/>
          </a:xfrm>
          <a:prstGeom prst="rect">
            <a:avLst/>
          </a:prstGeom>
          <a:effectLst>
            <a:outerShdw sx="100000" sy="100000" kx="0" ky="0" algn="bl" rotWithShape="0" blurRad="254000" dist="101600" dir="5400000">
              <a:srgbClr val="000000">
                <a:alpha val="35000"/>
              </a:srgbClr>
            </a:outerShdw>
          </a:effectLst>
        </p:spPr>
      </p:pic>
      <p:sp>
        <p:nvSpPr>
          <p:cNvPr id="5" name="Shape 2"/>
          <p:cNvSpPr/>
          <p:nvPr/>
        </p:nvSpPr>
        <p:spPr>
          <a:xfrm>
            <a:off x="640080" y="5669280"/>
            <a:ext cx="420624" cy="420624"/>
          </a:xfrm>
          <a:prstGeom prst="ellipse">
            <a:avLst/>
          </a:prstGeom>
          <a:solidFill>
            <a:srgbClr val="F97316"/>
          </a:solidFill>
          <a:ln/>
        </p:spPr>
      </p:sp>
      <p:pic>
        <p:nvPicPr>
          <p:cNvPr id="6" name="Image 1" descr="preencoded.png">    </p:cNvPr>
          <p:cNvPicPr>
            <a:picLocks noChangeAspect="1"/>
          </p:cNvPicPr>
          <p:nvPr/>
        </p:nvPicPr>
        <p:blipFill>
          <a:blip r:embed="rId2"/>
          <a:stretch>
            <a:fillRect/>
          </a:stretch>
        </p:blipFill>
        <p:spPr>
          <a:xfrm>
            <a:off x="736824" y="5766024"/>
            <a:ext cx="227137" cy="227137"/>
          </a:xfrm>
          <a:prstGeom prst="rect">
            <a:avLst/>
          </a:prstGeom>
        </p:spPr>
      </p:pic>
      <p:sp>
        <p:nvSpPr>
          <p:cNvPr id="7" name="Text 3"/>
          <p:cNvSpPr/>
          <p:nvPr/>
        </p:nvSpPr>
        <p:spPr>
          <a:xfrm>
            <a:off x="1152144" y="5596128"/>
            <a:ext cx="1716979" cy="73152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Today</a:t>
            </a:r>
            <a:endParaRPr lang="en-US" sz="1500" dirty="0"/>
          </a:p>
          <a:p>
            <a:pPr indent="0" marL="0">
              <a:buNone/>
            </a:pPr>
            <a:r>
              <a:rPr lang="en-US" sz="1150" dirty="0">
                <a:solidFill>
                  <a:srgbClr val="52665A"/>
                </a:solidFill>
                <a:latin typeface="Calibri" pitchFamily="34" charset="0"/>
                <a:ea typeface="Calibri" pitchFamily="34" charset="-122"/>
                <a:cs typeface="Calibri" pitchFamily="34" charset="-120"/>
              </a:rPr>
              <a:t>Targets for temperature, feed and water</a:t>
            </a:r>
            <a:endParaRPr lang="en-US" sz="1500" dirty="0"/>
          </a:p>
        </p:txBody>
      </p:sp>
      <p:pic>
        <p:nvPicPr>
          <p:cNvPr id="8" name="Image 2" descr="AgroZen screen: plan">    </p:cNvPr>
          <p:cNvPicPr>
            <a:picLocks noChangeAspect="1"/>
          </p:cNvPicPr>
          <p:nvPr/>
        </p:nvPicPr>
        <p:blipFill>
          <a:blip r:embed="rId3"/>
          <a:stretch>
            <a:fillRect/>
          </a:stretch>
        </p:blipFill>
        <p:spPr>
          <a:xfrm>
            <a:off x="2905699" y="1600200"/>
            <a:ext cx="1846317" cy="3886200"/>
          </a:xfrm>
          <a:prstGeom prst="rect">
            <a:avLst/>
          </a:prstGeom>
          <a:effectLst>
            <a:outerShdw sx="100000" sy="100000" kx="0" ky="0" algn="bl" rotWithShape="0" blurRad="254000" dist="101600" dir="5400000">
              <a:srgbClr val="000000">
                <a:alpha val="35000"/>
              </a:srgbClr>
            </a:outerShdw>
          </a:effectLst>
        </p:spPr>
      </p:pic>
      <p:sp>
        <p:nvSpPr>
          <p:cNvPr id="9" name="Shape 4"/>
          <p:cNvSpPr/>
          <p:nvPr/>
        </p:nvSpPr>
        <p:spPr>
          <a:xfrm>
            <a:off x="2905699" y="5669280"/>
            <a:ext cx="420624" cy="420624"/>
          </a:xfrm>
          <a:prstGeom prst="ellipse">
            <a:avLst/>
          </a:prstGeom>
          <a:solidFill>
            <a:srgbClr val="15803D"/>
          </a:solidFill>
          <a:ln/>
        </p:spPr>
      </p:sp>
      <p:pic>
        <p:nvPicPr>
          <p:cNvPr id="10" name="Image 3" descr="preencoded.png">    </p:cNvPr>
          <p:cNvPicPr>
            <a:picLocks noChangeAspect="1"/>
          </p:cNvPicPr>
          <p:nvPr/>
        </p:nvPicPr>
        <p:blipFill>
          <a:blip r:embed="rId4"/>
          <a:stretch>
            <a:fillRect/>
          </a:stretch>
        </p:blipFill>
        <p:spPr>
          <a:xfrm>
            <a:off x="3002442" y="5766024"/>
            <a:ext cx="227137" cy="227137"/>
          </a:xfrm>
          <a:prstGeom prst="rect">
            <a:avLst/>
          </a:prstGeom>
        </p:spPr>
      </p:pic>
      <p:sp>
        <p:nvSpPr>
          <p:cNvPr id="11" name="Text 5"/>
          <p:cNvSpPr/>
          <p:nvPr/>
        </p:nvSpPr>
        <p:spPr>
          <a:xfrm>
            <a:off x="3417763" y="5596128"/>
            <a:ext cx="1716979" cy="73152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42-day plan</a:t>
            </a:r>
            <a:endParaRPr lang="en-US" sz="1500" dirty="0"/>
          </a:p>
          <a:p>
            <a:pPr indent="0" marL="0">
              <a:buNone/>
            </a:pPr>
            <a:r>
              <a:rPr lang="en-US" sz="1150" dirty="0">
                <a:solidFill>
                  <a:srgbClr val="52665A"/>
                </a:solidFill>
                <a:latin typeface="Calibri" pitchFamily="34" charset="0"/>
                <a:ea typeface="Calibri" pitchFamily="34" charset="-122"/>
                <a:cs typeface="Calibri" pitchFamily="34" charset="-120"/>
              </a:rPr>
              <a:t>Ross-308 / Cobb-500 norms for every day</a:t>
            </a:r>
            <a:endParaRPr lang="en-US" sz="1500" dirty="0"/>
          </a:p>
        </p:txBody>
      </p:sp>
      <p:pic>
        <p:nvPicPr>
          <p:cNvPr id="12" name="Image 4" descr="AgroZen screen: assistant">    </p:cNvPr>
          <p:cNvPicPr>
            <a:picLocks noChangeAspect="1"/>
          </p:cNvPicPr>
          <p:nvPr/>
        </p:nvPicPr>
        <p:blipFill>
          <a:blip r:embed="rId5"/>
          <a:stretch>
            <a:fillRect/>
          </a:stretch>
        </p:blipFill>
        <p:spPr>
          <a:xfrm>
            <a:off x="5171317" y="1600200"/>
            <a:ext cx="1846317" cy="3886200"/>
          </a:xfrm>
          <a:prstGeom prst="rect">
            <a:avLst/>
          </a:prstGeom>
          <a:effectLst>
            <a:outerShdw sx="100000" sy="100000" kx="0" ky="0" algn="bl" rotWithShape="0" blurRad="254000" dist="101600" dir="5400000">
              <a:srgbClr val="000000">
                <a:alpha val="35000"/>
              </a:srgbClr>
            </a:outerShdw>
          </a:effectLst>
        </p:spPr>
      </p:pic>
      <p:sp>
        <p:nvSpPr>
          <p:cNvPr id="13" name="Shape 6"/>
          <p:cNvSpPr/>
          <p:nvPr/>
        </p:nvSpPr>
        <p:spPr>
          <a:xfrm>
            <a:off x="5171317" y="5669280"/>
            <a:ext cx="420624" cy="420624"/>
          </a:xfrm>
          <a:prstGeom prst="ellipse">
            <a:avLst/>
          </a:prstGeom>
          <a:solidFill>
            <a:srgbClr val="1D4ED8"/>
          </a:solidFill>
          <a:ln/>
        </p:spPr>
      </p:sp>
      <p:pic>
        <p:nvPicPr>
          <p:cNvPr id="14" name="Image 5" descr="preencoded.png">    </p:cNvPr>
          <p:cNvPicPr>
            <a:picLocks noChangeAspect="1"/>
          </p:cNvPicPr>
          <p:nvPr/>
        </p:nvPicPr>
        <p:blipFill>
          <a:blip r:embed="rId6"/>
          <a:stretch>
            <a:fillRect/>
          </a:stretch>
        </p:blipFill>
        <p:spPr>
          <a:xfrm>
            <a:off x="5268061" y="5766024"/>
            <a:ext cx="227137" cy="227137"/>
          </a:xfrm>
          <a:prstGeom prst="rect">
            <a:avLst/>
          </a:prstGeom>
        </p:spPr>
      </p:pic>
      <p:sp>
        <p:nvSpPr>
          <p:cNvPr id="15" name="Text 7"/>
          <p:cNvSpPr/>
          <p:nvPr/>
        </p:nvSpPr>
        <p:spPr>
          <a:xfrm>
            <a:off x="5683381" y="5596128"/>
            <a:ext cx="1716979" cy="73152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AI assistant</a:t>
            </a:r>
            <a:endParaRPr lang="en-US" sz="1500" dirty="0"/>
          </a:p>
          <a:p>
            <a:pPr indent="0" marL="0">
              <a:buNone/>
            </a:pPr>
            <a:r>
              <a:rPr lang="en-US" sz="1150" dirty="0">
                <a:solidFill>
                  <a:srgbClr val="52665A"/>
                </a:solidFill>
                <a:latin typeface="Calibri" pitchFamily="34" charset="0"/>
                <a:ea typeface="Calibri" pitchFamily="34" charset="-122"/>
                <a:cs typeface="Calibri" pitchFamily="34" charset="-120"/>
              </a:rPr>
              <a:t>Voice, text or photo — in your language</a:t>
            </a:r>
            <a:endParaRPr lang="en-US" sz="1500" dirty="0"/>
          </a:p>
        </p:txBody>
      </p:sp>
      <p:pic>
        <p:nvPicPr>
          <p:cNvPr id="16" name="Image 6" descr="AgroZen screen: diary">    </p:cNvPr>
          <p:cNvPicPr>
            <a:picLocks noChangeAspect="1"/>
          </p:cNvPicPr>
          <p:nvPr/>
        </p:nvPicPr>
        <p:blipFill>
          <a:blip r:embed="rId7"/>
          <a:stretch>
            <a:fillRect/>
          </a:stretch>
        </p:blipFill>
        <p:spPr>
          <a:xfrm>
            <a:off x="7436936" y="1600200"/>
            <a:ext cx="1846317" cy="3886200"/>
          </a:xfrm>
          <a:prstGeom prst="rect">
            <a:avLst/>
          </a:prstGeom>
          <a:effectLst>
            <a:outerShdw sx="100000" sy="100000" kx="0" ky="0" algn="bl" rotWithShape="0" blurRad="254000" dist="101600" dir="5400000">
              <a:srgbClr val="000000">
                <a:alpha val="35000"/>
              </a:srgbClr>
            </a:outerShdw>
          </a:effectLst>
        </p:spPr>
      </p:pic>
      <p:sp>
        <p:nvSpPr>
          <p:cNvPr id="17" name="Shape 8"/>
          <p:cNvSpPr/>
          <p:nvPr/>
        </p:nvSpPr>
        <p:spPr>
          <a:xfrm>
            <a:off x="7436936" y="5669280"/>
            <a:ext cx="420624" cy="420624"/>
          </a:xfrm>
          <a:prstGeom prst="ellipse">
            <a:avLst/>
          </a:prstGeom>
          <a:solidFill>
            <a:srgbClr val="DC2626"/>
          </a:solidFill>
          <a:ln/>
        </p:spPr>
      </p:sp>
      <p:pic>
        <p:nvPicPr>
          <p:cNvPr id="18" name="Image 7" descr="preencoded.png">    </p:cNvPr>
          <p:cNvPicPr>
            <a:picLocks noChangeAspect="1"/>
          </p:cNvPicPr>
          <p:nvPr/>
        </p:nvPicPr>
        <p:blipFill>
          <a:blip r:embed="rId8"/>
          <a:stretch>
            <a:fillRect/>
          </a:stretch>
        </p:blipFill>
        <p:spPr>
          <a:xfrm>
            <a:off x="7533680" y="5766024"/>
            <a:ext cx="227137" cy="227137"/>
          </a:xfrm>
          <a:prstGeom prst="rect">
            <a:avLst/>
          </a:prstGeom>
        </p:spPr>
      </p:pic>
      <p:sp>
        <p:nvSpPr>
          <p:cNvPr id="19" name="Text 9"/>
          <p:cNvSpPr/>
          <p:nvPr/>
        </p:nvSpPr>
        <p:spPr>
          <a:xfrm>
            <a:off x="7949000" y="5596128"/>
            <a:ext cx="1716979" cy="73152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Flock diary</a:t>
            </a:r>
            <a:endParaRPr lang="en-US" sz="1500" dirty="0"/>
          </a:p>
          <a:p>
            <a:pPr indent="0" marL="0">
              <a:buNone/>
            </a:pPr>
            <a:r>
              <a:rPr lang="en-US" sz="1150" dirty="0">
                <a:solidFill>
                  <a:srgbClr val="52665A"/>
                </a:solidFill>
                <a:latin typeface="Calibri" pitchFamily="34" charset="0"/>
                <a:ea typeface="Calibri" pitchFamily="34" charset="-122"/>
                <a:cs typeface="Calibri" pitchFamily="34" charset="-120"/>
              </a:rPr>
              <a:t>Losses above the norm — the vet's number</a:t>
            </a:r>
            <a:endParaRPr lang="en-US" sz="1500" dirty="0"/>
          </a:p>
        </p:txBody>
      </p:sp>
      <p:pic>
        <p:nvPicPr>
          <p:cNvPr id="20" name="Image 8" descr="AgroZen screen: learn">    </p:cNvPr>
          <p:cNvPicPr>
            <a:picLocks noChangeAspect="1"/>
          </p:cNvPicPr>
          <p:nvPr/>
        </p:nvPicPr>
        <p:blipFill>
          <a:blip r:embed="rId9"/>
          <a:stretch>
            <a:fillRect/>
          </a:stretch>
        </p:blipFill>
        <p:spPr>
          <a:xfrm>
            <a:off x="9702555" y="1600200"/>
            <a:ext cx="1846317" cy="3886200"/>
          </a:xfrm>
          <a:prstGeom prst="rect">
            <a:avLst/>
          </a:prstGeom>
          <a:effectLst>
            <a:outerShdw sx="100000" sy="100000" kx="0" ky="0" algn="bl" rotWithShape="0" blurRad="254000" dist="101600" dir="5400000">
              <a:srgbClr val="000000">
                <a:alpha val="35000"/>
              </a:srgbClr>
            </a:outerShdw>
          </a:effectLst>
        </p:spPr>
      </p:pic>
      <p:sp>
        <p:nvSpPr>
          <p:cNvPr id="21" name="Shape 10"/>
          <p:cNvSpPr/>
          <p:nvPr/>
        </p:nvSpPr>
        <p:spPr>
          <a:xfrm>
            <a:off x="9702555" y="5669280"/>
            <a:ext cx="420624" cy="420624"/>
          </a:xfrm>
          <a:prstGeom prst="ellipse">
            <a:avLst/>
          </a:prstGeom>
          <a:solidFill>
            <a:srgbClr val="F59E0B"/>
          </a:solidFill>
          <a:ln/>
        </p:spPr>
      </p:sp>
      <p:pic>
        <p:nvPicPr>
          <p:cNvPr id="22" name="Image 9" descr="preencoded.png">    </p:cNvPr>
          <p:cNvPicPr>
            <a:picLocks noChangeAspect="1"/>
          </p:cNvPicPr>
          <p:nvPr/>
        </p:nvPicPr>
        <p:blipFill>
          <a:blip r:embed="rId10"/>
          <a:stretch>
            <a:fillRect/>
          </a:stretch>
        </p:blipFill>
        <p:spPr>
          <a:xfrm>
            <a:off x="9799298" y="5766024"/>
            <a:ext cx="227137" cy="227137"/>
          </a:xfrm>
          <a:prstGeom prst="rect">
            <a:avLst/>
          </a:prstGeom>
        </p:spPr>
      </p:pic>
      <p:sp>
        <p:nvSpPr>
          <p:cNvPr id="23" name="Text 11"/>
          <p:cNvSpPr/>
          <p:nvPr/>
        </p:nvSpPr>
        <p:spPr>
          <a:xfrm>
            <a:off x="10214619" y="5596128"/>
            <a:ext cx="1716979" cy="73152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Course</a:t>
            </a:r>
            <a:endParaRPr lang="en-US" sz="1500" dirty="0"/>
          </a:p>
          <a:p>
            <a:pPr indent="0" marL="0">
              <a:buNone/>
            </a:pPr>
            <a:r>
              <a:rPr lang="en-US" sz="1150" dirty="0">
                <a:solidFill>
                  <a:srgbClr val="52665A"/>
                </a:solidFill>
                <a:latin typeface="Calibri" pitchFamily="34" charset="0"/>
                <a:ea typeface="Calibri" pitchFamily="34" charset="-122"/>
                <a:cs typeface="Calibri" pitchFamily="34" charset="-120"/>
              </a:rPr>
              <a:t>5 lessons and a certificate for a loan</a:t>
            </a:r>
            <a:endParaRPr lang="en-US" sz="1500" dirty="0"/>
          </a:p>
        </p:txBody>
      </p:sp>
      <p:sp>
        <p:nvSpPr>
          <p:cNvPr id="24" name="Text 12"/>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NEW · SMART BARN PROTOTYPE</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Sensors and an AI camera watch the flock day and night</a:t>
            </a:r>
            <a:endParaRPr lang="en-US" sz="3400" dirty="0"/>
          </a:p>
        </p:txBody>
      </p:sp>
      <p:pic>
        <p:nvPicPr>
          <p:cNvPr id="4" name="Image 0" descr="AgroZen screen: monitor">    </p:cNvPr>
          <p:cNvPicPr>
            <a:picLocks noChangeAspect="1"/>
          </p:cNvPicPr>
          <p:nvPr/>
        </p:nvPicPr>
        <p:blipFill>
          <a:blip r:embed="rId1"/>
          <a:stretch>
            <a:fillRect/>
          </a:stretch>
        </p:blipFill>
        <p:spPr>
          <a:xfrm>
            <a:off x="640080" y="1645920"/>
            <a:ext cx="2172138" cy="4572000"/>
          </a:xfrm>
          <a:prstGeom prst="rect">
            <a:avLst/>
          </a:prstGeom>
          <a:effectLst>
            <a:outerShdw sx="100000" sy="100000" kx="0" ky="0" algn="bl" rotWithShape="0" blurRad="254000" dist="101600" dir="5400000">
              <a:srgbClr val="000000">
                <a:alpha val="35000"/>
              </a:srgbClr>
            </a:outerShdw>
          </a:effectLst>
        </p:spPr>
      </p:pic>
      <p:pic>
        <p:nvPicPr>
          <p:cNvPr id="5" name="Image 1" descr="AgroZen screen: monitor_alarm">    </p:cNvPr>
          <p:cNvPicPr>
            <a:picLocks noChangeAspect="1"/>
          </p:cNvPicPr>
          <p:nvPr/>
        </p:nvPicPr>
        <p:blipFill>
          <a:blip r:embed="rId2"/>
          <a:stretch>
            <a:fillRect/>
          </a:stretch>
        </p:blipFill>
        <p:spPr>
          <a:xfrm>
            <a:off x="3017520" y="1645920"/>
            <a:ext cx="2172138" cy="4572000"/>
          </a:xfrm>
          <a:prstGeom prst="rect">
            <a:avLst/>
          </a:prstGeom>
          <a:effectLst>
            <a:outerShdw sx="100000" sy="100000" kx="0" ky="0" algn="bl" rotWithShape="0" blurRad="254000" dist="101600" dir="5400000">
              <a:srgbClr val="000000">
                <a:alpha val="35000"/>
              </a:srgbClr>
            </a:outerShdw>
          </a:effectLst>
        </p:spPr>
      </p:pic>
      <p:pic>
        <p:nvPicPr>
          <p:cNvPr id="6" name="Image 2" descr="/home/abraxis/Desktop/AgroZen/docs/studexpo/assets/camera_frame.png">    </p:cNvPr>
          <p:cNvPicPr>
            <a:picLocks noChangeAspect="1"/>
          </p:cNvPicPr>
          <p:nvPr/>
        </p:nvPicPr>
        <p:blipFill>
          <a:blip r:embed="rId3"/>
          <a:stretch>
            <a:fillRect/>
          </a:stretch>
        </p:blipFill>
        <p:spPr>
          <a:xfrm>
            <a:off x="5486400" y="1645920"/>
            <a:ext cx="3246120" cy="2298579"/>
          </a:xfrm>
          <a:prstGeom prst="rect">
            <a:avLst/>
          </a:prstGeom>
          <a:effectLst>
            <a:outerShdw sx="100000" sy="100000" kx="0" ky="0" algn="bl" rotWithShape="0" blurRad="177800" dist="38100" dir="5400000">
              <a:srgbClr val="0F172A">
                <a:alpha val="12000"/>
              </a:srgbClr>
            </a:outerShdw>
          </a:effectLst>
        </p:spPr>
      </p:pic>
      <p:sp>
        <p:nvSpPr>
          <p:cNvPr id="7" name="Text 2"/>
          <p:cNvSpPr/>
          <p:nvPr/>
        </p:nvSpPr>
        <p:spPr>
          <a:xfrm>
            <a:off x="5486400" y="4035939"/>
            <a:ext cx="3246120" cy="45720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AI camera</a:t>
            </a:r>
            <a:endParaRPr lang="en-US" sz="1400" dirty="0"/>
          </a:p>
          <a:p>
            <a:pPr indent="0" marL="0">
              <a:buNone/>
            </a:pPr>
            <a:r>
              <a:rPr lang="en-US" sz="1200" dirty="0">
                <a:solidFill>
                  <a:srgbClr val="52665A"/>
                </a:solidFill>
                <a:latin typeface="Calibri" pitchFamily="34" charset="0"/>
                <a:ea typeface="Calibri" pitchFamily="34" charset="-122"/>
                <a:cs typeface="Calibri" pitchFamily="34" charset="-120"/>
              </a:rPr>
              <a:t>Birds that stop moving, huddling, heat stress</a:t>
            </a:r>
            <a:endParaRPr lang="en-US" sz="1400" dirty="0"/>
          </a:p>
        </p:txBody>
      </p:sp>
      <p:sp>
        <p:nvSpPr>
          <p:cNvPr id="8" name="Shape 3"/>
          <p:cNvSpPr/>
          <p:nvPr/>
        </p:nvSpPr>
        <p:spPr>
          <a:xfrm>
            <a:off x="9098280" y="1645920"/>
            <a:ext cx="2450592" cy="731520"/>
          </a:xfrm>
          <a:prstGeom prst="roundRect">
            <a:avLst>
              <a:gd name="adj" fmla="val 20000"/>
            </a:avLst>
          </a:prstGeom>
          <a:solidFill>
            <a:srgbClr val="FFFFFF"/>
          </a:solidFill>
          <a:ln/>
          <a:effectLst>
            <a:outerShdw sx="100000" sy="100000" kx="0" ky="0" algn="bl" rotWithShape="0" blurRad="177800" dist="38100" dir="5400000">
              <a:srgbClr val="0F172A">
                <a:alpha val="12000"/>
              </a:srgbClr>
            </a:outerShdw>
          </a:effectLst>
        </p:spPr>
      </p:sp>
      <p:sp>
        <p:nvSpPr>
          <p:cNvPr id="9" name="Shape 4"/>
          <p:cNvSpPr/>
          <p:nvPr/>
        </p:nvSpPr>
        <p:spPr>
          <a:xfrm>
            <a:off x="9217152" y="1783080"/>
            <a:ext cx="457200" cy="457200"/>
          </a:xfrm>
          <a:prstGeom prst="ellipse">
            <a:avLst/>
          </a:prstGeom>
          <a:solidFill>
            <a:srgbClr val="FEF3C7"/>
          </a:solidFill>
          <a:ln/>
        </p:spPr>
      </p:sp>
      <p:pic>
        <p:nvPicPr>
          <p:cNvPr id="10" name="Image 3" descr="preencoded.png">    </p:cNvPr>
          <p:cNvPicPr>
            <a:picLocks noChangeAspect="1"/>
          </p:cNvPicPr>
          <p:nvPr/>
        </p:nvPicPr>
        <p:blipFill>
          <a:blip r:embed="rId4"/>
          <a:stretch>
            <a:fillRect/>
          </a:stretch>
        </p:blipFill>
        <p:spPr>
          <a:xfrm>
            <a:off x="9322308" y="1888236"/>
            <a:ext cx="246888" cy="246888"/>
          </a:xfrm>
          <a:prstGeom prst="rect">
            <a:avLst/>
          </a:prstGeom>
        </p:spPr>
      </p:pic>
      <p:sp>
        <p:nvSpPr>
          <p:cNvPr id="11" name="Text 5"/>
          <p:cNvSpPr/>
          <p:nvPr/>
        </p:nvSpPr>
        <p:spPr>
          <a:xfrm>
            <a:off x="9765792" y="1719072"/>
            <a:ext cx="1737360" cy="58521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NH3 up to 10 ppm</a:t>
            </a:r>
            <a:endParaRPr lang="en-US" sz="1350" dirty="0"/>
          </a:p>
          <a:p>
            <a:pPr indent="0" marL="0">
              <a:buNone/>
            </a:pPr>
            <a:r>
              <a:rPr lang="en-US" sz="1100" dirty="0">
                <a:solidFill>
                  <a:srgbClr val="52665A"/>
                </a:solidFill>
                <a:latin typeface="Calibri" pitchFamily="34" charset="0"/>
                <a:ea typeface="Calibri" pitchFamily="34" charset="-122"/>
                <a:cs typeface="Calibri" pitchFamily="34" charset="-120"/>
              </a:rPr>
              <a:t>People smell it only at 20</a:t>
            </a:r>
            <a:endParaRPr lang="en-US" sz="1350" dirty="0"/>
          </a:p>
        </p:txBody>
      </p:sp>
      <p:sp>
        <p:nvSpPr>
          <p:cNvPr id="12" name="Shape 6"/>
          <p:cNvSpPr/>
          <p:nvPr/>
        </p:nvSpPr>
        <p:spPr>
          <a:xfrm>
            <a:off x="9098280" y="2496312"/>
            <a:ext cx="2450592" cy="731520"/>
          </a:xfrm>
          <a:prstGeom prst="roundRect">
            <a:avLst>
              <a:gd name="adj" fmla="val 20000"/>
            </a:avLst>
          </a:prstGeom>
          <a:solidFill>
            <a:srgbClr val="FFFFFF"/>
          </a:solidFill>
          <a:ln/>
          <a:effectLst>
            <a:outerShdw sx="100000" sy="100000" kx="0" ky="0" algn="bl" rotWithShape="0" blurRad="177800" dist="38100" dir="5400000">
              <a:srgbClr val="0F172A">
                <a:alpha val="12000"/>
              </a:srgbClr>
            </a:outerShdw>
          </a:effectLst>
        </p:spPr>
      </p:sp>
      <p:sp>
        <p:nvSpPr>
          <p:cNvPr id="13" name="Shape 7"/>
          <p:cNvSpPr/>
          <p:nvPr/>
        </p:nvSpPr>
        <p:spPr>
          <a:xfrm>
            <a:off x="9217152" y="2633472"/>
            <a:ext cx="457200" cy="457200"/>
          </a:xfrm>
          <a:prstGeom prst="ellipse">
            <a:avLst/>
          </a:prstGeom>
          <a:solidFill>
            <a:srgbClr val="DBEAFE"/>
          </a:solidFill>
          <a:ln/>
        </p:spPr>
      </p:sp>
      <p:pic>
        <p:nvPicPr>
          <p:cNvPr id="14" name="Image 4" descr="preencoded.png">    </p:cNvPr>
          <p:cNvPicPr>
            <a:picLocks noChangeAspect="1"/>
          </p:cNvPicPr>
          <p:nvPr/>
        </p:nvPicPr>
        <p:blipFill>
          <a:blip r:embed="rId5"/>
          <a:stretch>
            <a:fillRect/>
          </a:stretch>
        </p:blipFill>
        <p:spPr>
          <a:xfrm>
            <a:off x="9322308" y="2738628"/>
            <a:ext cx="246888" cy="246888"/>
          </a:xfrm>
          <a:prstGeom prst="rect">
            <a:avLst/>
          </a:prstGeom>
        </p:spPr>
      </p:pic>
      <p:sp>
        <p:nvSpPr>
          <p:cNvPr id="15" name="Text 8"/>
          <p:cNvSpPr/>
          <p:nvPr/>
        </p:nvSpPr>
        <p:spPr>
          <a:xfrm>
            <a:off x="9765792" y="2569464"/>
            <a:ext cx="1737360" cy="58521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CO2 up to 3 000 ppm</a:t>
            </a:r>
            <a:endParaRPr lang="en-US" sz="1350" dirty="0"/>
          </a:p>
          <a:p>
            <a:pPr indent="0" marL="0">
              <a:buNone/>
            </a:pPr>
            <a:r>
              <a:rPr lang="en-US" sz="1100" dirty="0">
                <a:solidFill>
                  <a:srgbClr val="52665A"/>
                </a:solidFill>
                <a:latin typeface="Calibri" pitchFamily="34" charset="0"/>
                <a:ea typeface="Calibri" pitchFamily="34" charset="-122"/>
                <a:cs typeface="Calibri" pitchFamily="34" charset="-120"/>
              </a:rPr>
              <a:t>Minimum ventilation</a:t>
            </a:r>
            <a:endParaRPr lang="en-US" sz="1350" dirty="0"/>
          </a:p>
        </p:txBody>
      </p:sp>
      <p:sp>
        <p:nvSpPr>
          <p:cNvPr id="16" name="Shape 9"/>
          <p:cNvSpPr/>
          <p:nvPr/>
        </p:nvSpPr>
        <p:spPr>
          <a:xfrm>
            <a:off x="9098280" y="3346704"/>
            <a:ext cx="2450592" cy="731520"/>
          </a:xfrm>
          <a:prstGeom prst="roundRect">
            <a:avLst>
              <a:gd name="adj" fmla="val 20000"/>
            </a:avLst>
          </a:prstGeom>
          <a:solidFill>
            <a:srgbClr val="FFFFFF"/>
          </a:solidFill>
          <a:ln/>
          <a:effectLst>
            <a:outerShdw sx="100000" sy="100000" kx="0" ky="0" algn="bl" rotWithShape="0" blurRad="177800" dist="38100" dir="5400000">
              <a:srgbClr val="0F172A">
                <a:alpha val="12000"/>
              </a:srgbClr>
            </a:outerShdw>
          </a:effectLst>
        </p:spPr>
      </p:sp>
      <p:sp>
        <p:nvSpPr>
          <p:cNvPr id="17" name="Shape 10"/>
          <p:cNvSpPr/>
          <p:nvPr/>
        </p:nvSpPr>
        <p:spPr>
          <a:xfrm>
            <a:off x="9217152" y="3483864"/>
            <a:ext cx="457200" cy="457200"/>
          </a:xfrm>
          <a:prstGeom prst="ellipse">
            <a:avLst/>
          </a:prstGeom>
          <a:solidFill>
            <a:srgbClr val="E6F4EA"/>
          </a:solidFill>
          <a:ln/>
        </p:spPr>
      </p:sp>
      <p:pic>
        <p:nvPicPr>
          <p:cNvPr id="18" name="Image 5" descr="preencoded.png">    </p:cNvPr>
          <p:cNvPicPr>
            <a:picLocks noChangeAspect="1"/>
          </p:cNvPicPr>
          <p:nvPr/>
        </p:nvPicPr>
        <p:blipFill>
          <a:blip r:embed="rId6"/>
          <a:stretch>
            <a:fillRect/>
          </a:stretch>
        </p:blipFill>
        <p:spPr>
          <a:xfrm>
            <a:off x="9322308" y="3589020"/>
            <a:ext cx="246888" cy="246888"/>
          </a:xfrm>
          <a:prstGeom prst="rect">
            <a:avLst/>
          </a:prstGeom>
        </p:spPr>
      </p:pic>
      <p:sp>
        <p:nvSpPr>
          <p:cNvPr id="19" name="Text 11"/>
          <p:cNvSpPr/>
          <p:nvPr/>
        </p:nvSpPr>
        <p:spPr>
          <a:xfrm>
            <a:off x="9765792" y="3419856"/>
            <a:ext cx="1737360" cy="58521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Fans switch on</a:t>
            </a:r>
            <a:endParaRPr lang="en-US" sz="1350" dirty="0"/>
          </a:p>
          <a:p>
            <a:pPr indent="0" marL="0">
              <a:buNone/>
            </a:pPr>
            <a:r>
              <a:rPr lang="en-US" sz="1100" dirty="0">
                <a:solidFill>
                  <a:srgbClr val="52665A"/>
                </a:solidFill>
                <a:latin typeface="Calibri" pitchFamily="34" charset="0"/>
                <a:ea typeface="Calibri" pitchFamily="34" charset="-122"/>
                <a:cs typeface="Calibri" pitchFamily="34" charset="-120"/>
              </a:rPr>
              <a:t>Automatically, by relay</a:t>
            </a:r>
            <a:endParaRPr lang="en-US" sz="1350" dirty="0"/>
          </a:p>
        </p:txBody>
      </p:sp>
      <p:sp>
        <p:nvSpPr>
          <p:cNvPr id="20" name="Shape 12"/>
          <p:cNvSpPr/>
          <p:nvPr/>
        </p:nvSpPr>
        <p:spPr>
          <a:xfrm>
            <a:off x="5486400" y="4572000"/>
            <a:ext cx="1371600" cy="1371600"/>
          </a:xfrm>
          <a:prstGeom prst="roundRect">
            <a:avLst>
              <a:gd name="adj" fmla="val 10667"/>
            </a:avLst>
          </a:prstGeom>
          <a:solidFill>
            <a:srgbClr val="FFFFFF"/>
          </a:solidFill>
          <a:ln/>
          <a:effectLst>
            <a:outerShdw sx="100000" sy="100000" kx="0" ky="0" algn="bl" rotWithShape="0" blurRad="177800" dist="38100" dir="5400000">
              <a:srgbClr val="0F172A">
                <a:alpha val="12000"/>
              </a:srgbClr>
            </a:outerShdw>
          </a:effectLst>
        </p:spPr>
      </p:sp>
      <p:sp>
        <p:nvSpPr>
          <p:cNvPr id="21" name="Shape 13"/>
          <p:cNvSpPr/>
          <p:nvPr/>
        </p:nvSpPr>
        <p:spPr>
          <a:xfrm>
            <a:off x="5614416" y="4681728"/>
            <a:ext cx="402336" cy="402336"/>
          </a:xfrm>
          <a:prstGeom prst="ellipse">
            <a:avLst/>
          </a:prstGeom>
          <a:solidFill>
            <a:srgbClr val="15803D"/>
          </a:solidFill>
          <a:ln/>
        </p:spPr>
      </p:sp>
      <p:pic>
        <p:nvPicPr>
          <p:cNvPr id="22" name="Image 6" descr="preencoded.png">    </p:cNvPr>
          <p:cNvPicPr>
            <a:picLocks noChangeAspect="1"/>
          </p:cNvPicPr>
          <p:nvPr/>
        </p:nvPicPr>
        <p:blipFill>
          <a:blip r:embed="rId7"/>
          <a:stretch>
            <a:fillRect/>
          </a:stretch>
        </p:blipFill>
        <p:spPr>
          <a:xfrm>
            <a:off x="5706953" y="4774265"/>
            <a:ext cx="217261" cy="217261"/>
          </a:xfrm>
          <a:prstGeom prst="rect">
            <a:avLst/>
          </a:prstGeom>
        </p:spPr>
      </p:pic>
      <p:sp>
        <p:nvSpPr>
          <p:cNvPr id="23" name="Text 14"/>
          <p:cNvSpPr/>
          <p:nvPr/>
        </p:nvSpPr>
        <p:spPr>
          <a:xfrm>
            <a:off x="5614416" y="5138928"/>
            <a:ext cx="1152144" cy="7772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Sensors</a:t>
            </a:r>
            <a:endParaRPr lang="en-US" sz="1300" dirty="0"/>
          </a:p>
          <a:p>
            <a:pPr indent="0" marL="0">
              <a:buNone/>
            </a:pPr>
            <a:r>
              <a:rPr lang="en-US" sz="1050" dirty="0">
                <a:solidFill>
                  <a:srgbClr val="52665A"/>
                </a:solidFill>
                <a:latin typeface="Calibri" pitchFamily="34" charset="0"/>
                <a:ea typeface="Calibri" pitchFamily="34" charset="-122"/>
                <a:cs typeface="Calibri" pitchFamily="34" charset="-120"/>
              </a:rPr>
              <a:t>ESP32: temperature, humidity, NH3, CO2, water, scale</a:t>
            </a:r>
            <a:endParaRPr lang="en-US" sz="1300" dirty="0"/>
          </a:p>
        </p:txBody>
      </p:sp>
      <p:pic>
        <p:nvPicPr>
          <p:cNvPr id="24" name="Image 7" descr="preencoded.png">    </p:cNvPr>
          <p:cNvPicPr>
            <a:picLocks noChangeAspect="1"/>
          </p:cNvPicPr>
          <p:nvPr/>
        </p:nvPicPr>
        <p:blipFill>
          <a:blip r:embed="rId8"/>
          <a:stretch>
            <a:fillRect/>
          </a:stretch>
        </p:blipFill>
        <p:spPr>
          <a:xfrm>
            <a:off x="6880860" y="5184648"/>
            <a:ext cx="146304" cy="146304"/>
          </a:xfrm>
          <a:prstGeom prst="rect">
            <a:avLst/>
          </a:prstGeom>
        </p:spPr>
      </p:pic>
      <p:sp>
        <p:nvSpPr>
          <p:cNvPr id="25" name="Shape 15"/>
          <p:cNvSpPr/>
          <p:nvPr/>
        </p:nvSpPr>
        <p:spPr>
          <a:xfrm>
            <a:off x="7050024" y="4572000"/>
            <a:ext cx="1371600" cy="1371600"/>
          </a:xfrm>
          <a:prstGeom prst="roundRect">
            <a:avLst>
              <a:gd name="adj" fmla="val 10667"/>
            </a:avLst>
          </a:prstGeom>
          <a:solidFill>
            <a:srgbClr val="FFFFFF"/>
          </a:solidFill>
          <a:ln/>
          <a:effectLst>
            <a:outerShdw sx="100000" sy="100000" kx="0" ky="0" algn="bl" rotWithShape="0" blurRad="177800" dist="38100" dir="5400000">
              <a:srgbClr val="0F172A">
                <a:alpha val="12000"/>
              </a:srgbClr>
            </a:outerShdw>
          </a:effectLst>
        </p:spPr>
      </p:sp>
      <p:sp>
        <p:nvSpPr>
          <p:cNvPr id="26" name="Shape 16"/>
          <p:cNvSpPr/>
          <p:nvPr/>
        </p:nvSpPr>
        <p:spPr>
          <a:xfrm>
            <a:off x="7178040" y="4681728"/>
            <a:ext cx="402336" cy="402336"/>
          </a:xfrm>
          <a:prstGeom prst="ellipse">
            <a:avLst/>
          </a:prstGeom>
          <a:solidFill>
            <a:srgbClr val="1D4ED8"/>
          </a:solidFill>
          <a:ln/>
        </p:spPr>
      </p:sp>
      <p:pic>
        <p:nvPicPr>
          <p:cNvPr id="27" name="Image 8" descr="preencoded.png">    </p:cNvPr>
          <p:cNvPicPr>
            <a:picLocks noChangeAspect="1"/>
          </p:cNvPicPr>
          <p:nvPr/>
        </p:nvPicPr>
        <p:blipFill>
          <a:blip r:embed="rId9"/>
          <a:stretch>
            <a:fillRect/>
          </a:stretch>
        </p:blipFill>
        <p:spPr>
          <a:xfrm>
            <a:off x="7270577" y="4774265"/>
            <a:ext cx="217261" cy="217261"/>
          </a:xfrm>
          <a:prstGeom prst="rect">
            <a:avLst/>
          </a:prstGeom>
        </p:spPr>
      </p:pic>
      <p:sp>
        <p:nvSpPr>
          <p:cNvPr id="28" name="Text 17"/>
          <p:cNvSpPr/>
          <p:nvPr/>
        </p:nvSpPr>
        <p:spPr>
          <a:xfrm>
            <a:off x="7178040" y="5138928"/>
            <a:ext cx="1152144" cy="7772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Edge AI</a:t>
            </a:r>
            <a:endParaRPr lang="en-US" sz="1300" dirty="0"/>
          </a:p>
          <a:p>
            <a:pPr indent="0" marL="0">
              <a:buNone/>
            </a:pPr>
            <a:r>
              <a:rPr lang="en-US" sz="1050" dirty="0">
                <a:solidFill>
                  <a:srgbClr val="52665A"/>
                </a:solidFill>
                <a:latin typeface="Calibri" pitchFamily="34" charset="0"/>
                <a:ea typeface="Calibri" pitchFamily="34" charset="-122"/>
                <a:cs typeface="Calibri" pitchFamily="34" charset="-120"/>
              </a:rPr>
              <a:t>Jetson Orin Nano + IP cameras, video stays on the farm</a:t>
            </a:r>
            <a:endParaRPr lang="en-US" sz="1300" dirty="0"/>
          </a:p>
        </p:txBody>
      </p:sp>
      <p:pic>
        <p:nvPicPr>
          <p:cNvPr id="29" name="Image 9" descr="preencoded.png">    </p:cNvPr>
          <p:cNvPicPr>
            <a:picLocks noChangeAspect="1"/>
          </p:cNvPicPr>
          <p:nvPr/>
        </p:nvPicPr>
        <p:blipFill>
          <a:blip r:embed="rId10"/>
          <a:stretch>
            <a:fillRect/>
          </a:stretch>
        </p:blipFill>
        <p:spPr>
          <a:xfrm>
            <a:off x="8444484" y="5184648"/>
            <a:ext cx="146304" cy="146304"/>
          </a:xfrm>
          <a:prstGeom prst="rect">
            <a:avLst/>
          </a:prstGeom>
        </p:spPr>
      </p:pic>
      <p:sp>
        <p:nvSpPr>
          <p:cNvPr id="30" name="Shape 18"/>
          <p:cNvSpPr/>
          <p:nvPr/>
        </p:nvSpPr>
        <p:spPr>
          <a:xfrm>
            <a:off x="8613648" y="4572000"/>
            <a:ext cx="1371600" cy="1371600"/>
          </a:xfrm>
          <a:prstGeom prst="roundRect">
            <a:avLst>
              <a:gd name="adj" fmla="val 10667"/>
            </a:avLst>
          </a:prstGeom>
          <a:solidFill>
            <a:srgbClr val="FFFFFF"/>
          </a:solidFill>
          <a:ln/>
          <a:effectLst>
            <a:outerShdw sx="100000" sy="100000" kx="0" ky="0" algn="bl" rotWithShape="0" blurRad="177800" dist="38100" dir="5400000">
              <a:srgbClr val="0F172A">
                <a:alpha val="12000"/>
              </a:srgbClr>
            </a:outerShdw>
          </a:effectLst>
        </p:spPr>
      </p:sp>
      <p:sp>
        <p:nvSpPr>
          <p:cNvPr id="31" name="Shape 19"/>
          <p:cNvSpPr/>
          <p:nvPr/>
        </p:nvSpPr>
        <p:spPr>
          <a:xfrm>
            <a:off x="8741664" y="4681728"/>
            <a:ext cx="402336" cy="402336"/>
          </a:xfrm>
          <a:prstGeom prst="ellipse">
            <a:avLst/>
          </a:prstGeom>
          <a:solidFill>
            <a:srgbClr val="F59E0B"/>
          </a:solidFill>
          <a:ln/>
        </p:spPr>
      </p:sp>
      <p:pic>
        <p:nvPicPr>
          <p:cNvPr id="32" name="Image 10" descr="preencoded.png">    </p:cNvPr>
          <p:cNvPicPr>
            <a:picLocks noChangeAspect="1"/>
          </p:cNvPicPr>
          <p:nvPr/>
        </p:nvPicPr>
        <p:blipFill>
          <a:blip r:embed="rId11"/>
          <a:stretch>
            <a:fillRect/>
          </a:stretch>
        </p:blipFill>
        <p:spPr>
          <a:xfrm>
            <a:off x="8834201" y="4774265"/>
            <a:ext cx="217261" cy="217261"/>
          </a:xfrm>
          <a:prstGeom prst="rect">
            <a:avLst/>
          </a:prstGeom>
        </p:spPr>
      </p:pic>
      <p:sp>
        <p:nvSpPr>
          <p:cNvPr id="33" name="Text 20"/>
          <p:cNvSpPr/>
          <p:nvPr/>
        </p:nvSpPr>
        <p:spPr>
          <a:xfrm>
            <a:off x="8741664" y="5138928"/>
            <a:ext cx="1152144" cy="7772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Norms</a:t>
            </a:r>
            <a:endParaRPr lang="en-US" sz="1300" dirty="0"/>
          </a:p>
          <a:p>
            <a:pPr indent="0" marL="0">
              <a:buNone/>
            </a:pPr>
            <a:r>
              <a:rPr lang="en-US" sz="1050" dirty="0">
                <a:solidFill>
                  <a:srgbClr val="52665A"/>
                </a:solidFill>
                <a:latin typeface="Calibri" pitchFamily="34" charset="0"/>
                <a:ea typeface="Calibri" pitchFamily="34" charset="-122"/>
                <a:cs typeface="Calibri" pitchFamily="34" charset="-120"/>
              </a:rPr>
              <a:t>Ross-308 / Cobb-500 for the day — plain code, not AI</a:t>
            </a:r>
            <a:endParaRPr lang="en-US" sz="1300" dirty="0"/>
          </a:p>
        </p:txBody>
      </p:sp>
      <p:pic>
        <p:nvPicPr>
          <p:cNvPr id="34" name="Image 11" descr="preencoded.png">    </p:cNvPr>
          <p:cNvPicPr>
            <a:picLocks noChangeAspect="1"/>
          </p:cNvPicPr>
          <p:nvPr/>
        </p:nvPicPr>
        <p:blipFill>
          <a:blip r:embed="rId12"/>
          <a:stretch>
            <a:fillRect/>
          </a:stretch>
        </p:blipFill>
        <p:spPr>
          <a:xfrm>
            <a:off x="10008108" y="5184648"/>
            <a:ext cx="146304" cy="146304"/>
          </a:xfrm>
          <a:prstGeom prst="rect">
            <a:avLst/>
          </a:prstGeom>
        </p:spPr>
      </p:pic>
      <p:sp>
        <p:nvSpPr>
          <p:cNvPr id="35" name="Shape 21"/>
          <p:cNvSpPr/>
          <p:nvPr/>
        </p:nvSpPr>
        <p:spPr>
          <a:xfrm>
            <a:off x="10177272" y="4572000"/>
            <a:ext cx="1371600" cy="1371600"/>
          </a:xfrm>
          <a:prstGeom prst="roundRect">
            <a:avLst>
              <a:gd name="adj" fmla="val 10667"/>
            </a:avLst>
          </a:prstGeom>
          <a:solidFill>
            <a:srgbClr val="FFFFFF"/>
          </a:solidFill>
          <a:ln/>
          <a:effectLst>
            <a:outerShdw sx="100000" sy="100000" kx="0" ky="0" algn="bl" rotWithShape="0" blurRad="177800" dist="38100" dir="5400000">
              <a:srgbClr val="0F172A">
                <a:alpha val="12000"/>
              </a:srgbClr>
            </a:outerShdw>
          </a:effectLst>
        </p:spPr>
      </p:sp>
      <p:sp>
        <p:nvSpPr>
          <p:cNvPr id="36" name="Shape 22"/>
          <p:cNvSpPr/>
          <p:nvPr/>
        </p:nvSpPr>
        <p:spPr>
          <a:xfrm>
            <a:off x="10305288" y="4681728"/>
            <a:ext cx="402336" cy="402336"/>
          </a:xfrm>
          <a:prstGeom prst="ellipse">
            <a:avLst/>
          </a:prstGeom>
          <a:solidFill>
            <a:srgbClr val="DC2626"/>
          </a:solidFill>
          <a:ln/>
        </p:spPr>
      </p:sp>
      <p:pic>
        <p:nvPicPr>
          <p:cNvPr id="37" name="Image 12" descr="preencoded.png">    </p:cNvPr>
          <p:cNvPicPr>
            <a:picLocks noChangeAspect="1"/>
          </p:cNvPicPr>
          <p:nvPr/>
        </p:nvPicPr>
        <p:blipFill>
          <a:blip r:embed="rId13"/>
          <a:stretch>
            <a:fillRect/>
          </a:stretch>
        </p:blipFill>
        <p:spPr>
          <a:xfrm>
            <a:off x="10397825" y="4774265"/>
            <a:ext cx="217261" cy="217261"/>
          </a:xfrm>
          <a:prstGeom prst="rect">
            <a:avLst/>
          </a:prstGeom>
        </p:spPr>
      </p:pic>
      <p:sp>
        <p:nvSpPr>
          <p:cNvPr id="38" name="Text 23"/>
          <p:cNvSpPr/>
          <p:nvPr/>
        </p:nvSpPr>
        <p:spPr>
          <a:xfrm>
            <a:off x="10305288" y="5138928"/>
            <a:ext cx="1152144" cy="7772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Action</a:t>
            </a:r>
            <a:endParaRPr lang="en-US" sz="1300" dirty="0"/>
          </a:p>
          <a:p>
            <a:pPr indent="0" marL="0">
              <a:buNone/>
            </a:pPr>
            <a:r>
              <a:rPr lang="en-US" sz="1050" dirty="0">
                <a:solidFill>
                  <a:srgbClr val="52665A"/>
                </a:solidFill>
                <a:latin typeface="Calibri" pitchFamily="34" charset="0"/>
                <a:ea typeface="Calibri" pitchFamily="34" charset="-122"/>
                <a:cs typeface="Calibri" pitchFamily="34" charset="-120"/>
              </a:rPr>
              <a:t>Alert, the vet's number, fans on</a:t>
            </a:r>
            <a:endParaRPr lang="en-US" sz="1300" dirty="0"/>
          </a:p>
        </p:txBody>
      </p:sp>
      <p:sp>
        <p:nvSpPr>
          <p:cNvPr id="39" name="Text 24"/>
          <p:cNvSpPr/>
          <p:nvPr/>
        </p:nvSpPr>
        <p:spPr>
          <a:xfrm>
            <a:off x="5486400" y="6053328"/>
            <a:ext cx="6062472" cy="274320"/>
          </a:xfrm>
          <a:prstGeom prst="rect">
            <a:avLst/>
          </a:prstGeom>
          <a:noFill/>
          <a:ln/>
        </p:spPr>
        <p:txBody>
          <a:bodyPr wrap="square" lIns="0" tIns="0" rIns="0" bIns="0" rtlCol="0" anchor="ctr"/>
          <a:lstStyle/>
          <a:p>
            <a:pPr indent="0" marL="0">
              <a:buNone/>
            </a:pPr>
            <a:r>
              <a:rPr lang="en-US" sz="1100" i="1" dirty="0">
                <a:solidFill>
                  <a:srgbClr val="7A8E7E"/>
                </a:solidFill>
                <a:latin typeface="Calibri" pitchFamily="34" charset="0"/>
                <a:ea typeface="Calibri" pitchFamily="34" charset="-122"/>
                <a:cs typeface="Calibri" pitchFamily="34" charset="-120"/>
              </a:rPr>
              <a:t>Demo mode today: readings are simulated. Hardware goes into two pilot farms in 2027.</a:t>
            </a:r>
            <a:endParaRPr lang="en-US" sz="1100" dirty="0"/>
          </a:p>
        </p:txBody>
      </p:sp>
      <p:sp>
        <p:nvSpPr>
          <p:cNvPr id="40" name="Text 25"/>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NEW · FOR BANKS</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Banks see how the flock is doing — and trust the loan</a:t>
            </a:r>
            <a:endParaRPr lang="en-US" sz="3400" dirty="0"/>
          </a:p>
        </p:txBody>
      </p:sp>
      <p:pic>
        <p:nvPicPr>
          <p:cNvPr id="4" name="Image 0" descr="AgroZen screen: bank_report">    </p:cNvPr>
          <p:cNvPicPr>
            <a:picLocks noChangeAspect="1"/>
          </p:cNvPicPr>
          <p:nvPr/>
        </p:nvPicPr>
        <p:blipFill>
          <a:blip r:embed="rId1"/>
          <a:stretch>
            <a:fillRect/>
          </a:stretch>
        </p:blipFill>
        <p:spPr>
          <a:xfrm>
            <a:off x="640080" y="1645920"/>
            <a:ext cx="2172138" cy="4572000"/>
          </a:xfrm>
          <a:prstGeom prst="rect">
            <a:avLst/>
          </a:prstGeom>
          <a:effectLst>
            <a:outerShdw sx="100000" sy="100000" kx="0" ky="0" algn="bl" rotWithShape="0" blurRad="254000" dist="101600" dir="5400000">
              <a:srgbClr val="000000">
                <a:alpha val="35000"/>
              </a:srgbClr>
            </a:outerShdw>
          </a:effectLst>
        </p:spPr>
      </p:pic>
      <p:pic>
        <p:nvPicPr>
          <p:cNvPr id="5" name="Image 1" descr="AgroZen for Banks dashboard">    </p:cNvPr>
          <p:cNvPicPr>
            <a:picLocks noChangeAspect="1"/>
          </p:cNvPicPr>
          <p:nvPr/>
        </p:nvPicPr>
        <p:blipFill>
          <a:blip r:embed="rId2"/>
          <a:stretch>
            <a:fillRect/>
          </a:stretch>
        </p:blipFill>
        <p:spPr>
          <a:xfrm>
            <a:off x="3108960" y="1645920"/>
            <a:ext cx="5257800" cy="4375846"/>
          </a:xfrm>
          <a:prstGeom prst="rect">
            <a:avLst/>
          </a:prstGeom>
          <a:effectLst>
            <a:outerShdw sx="100000" sy="100000" kx="0" ky="0" algn="bl" rotWithShape="0" blurRad="177800" dist="38100" dir="5400000">
              <a:srgbClr val="0F172A">
                <a:alpha val="12000"/>
              </a:srgbClr>
            </a:outerShdw>
          </a:effectLst>
        </p:spPr>
      </p:pic>
      <p:sp>
        <p:nvSpPr>
          <p:cNvPr id="6" name="Text 2"/>
          <p:cNvSpPr/>
          <p:nvPr/>
        </p:nvSpPr>
        <p:spPr>
          <a:xfrm>
            <a:off x="3108960" y="6094918"/>
            <a:ext cx="5257800" cy="274320"/>
          </a:xfrm>
          <a:prstGeom prst="rect">
            <a:avLst/>
          </a:prstGeom>
          <a:noFill/>
          <a:ln/>
        </p:spPr>
        <p:txBody>
          <a:bodyPr wrap="square" lIns="0" tIns="0" rIns="0" bIns="0" rtlCol="0" anchor="ctr"/>
          <a:lstStyle/>
          <a:p>
            <a:pPr indent="0" marL="0">
              <a:buNone/>
            </a:pPr>
            <a:r>
              <a:rPr lang="en-US" sz="1100" dirty="0">
                <a:solidFill>
                  <a:srgbClr val="52665A"/>
                </a:solidFill>
                <a:latin typeface="Calibri" pitchFamily="34" charset="0"/>
                <a:ea typeface="Calibri" pitchFamily="34" charset="-122"/>
                <a:cs typeface="Calibri" pitchFamily="34" charset="-120"/>
              </a:rPr>
              <a:t>Bank dashboard: 10 pilot farmers, survival against the norm, risk and a district disease alert</a:t>
            </a:r>
            <a:endParaRPr lang="en-US" sz="1100" dirty="0"/>
          </a:p>
        </p:txBody>
      </p:sp>
      <p:sp>
        <p:nvSpPr>
          <p:cNvPr id="7" name="Shape 3"/>
          <p:cNvSpPr/>
          <p:nvPr/>
        </p:nvSpPr>
        <p:spPr>
          <a:xfrm>
            <a:off x="8686800" y="1645920"/>
            <a:ext cx="457200" cy="457200"/>
          </a:xfrm>
          <a:prstGeom prst="ellipse">
            <a:avLst/>
          </a:prstGeom>
          <a:solidFill>
            <a:srgbClr val="15803D"/>
          </a:solidFill>
          <a:ln/>
        </p:spPr>
      </p:sp>
      <p:pic>
        <p:nvPicPr>
          <p:cNvPr id="8" name="Image 2" descr="preencoded.png">    </p:cNvPr>
          <p:cNvPicPr>
            <a:picLocks noChangeAspect="1"/>
          </p:cNvPicPr>
          <p:nvPr/>
        </p:nvPicPr>
        <p:blipFill>
          <a:blip r:embed="rId3"/>
          <a:stretch>
            <a:fillRect/>
          </a:stretch>
        </p:blipFill>
        <p:spPr>
          <a:xfrm>
            <a:off x="8791956" y="1751076"/>
            <a:ext cx="246888" cy="246888"/>
          </a:xfrm>
          <a:prstGeom prst="rect">
            <a:avLst/>
          </a:prstGeom>
        </p:spPr>
      </p:pic>
      <p:sp>
        <p:nvSpPr>
          <p:cNvPr id="9" name="Text 4"/>
          <p:cNvSpPr/>
          <p:nvPr/>
        </p:nvSpPr>
        <p:spPr>
          <a:xfrm>
            <a:off x="9235440" y="1609344"/>
            <a:ext cx="2331720" cy="100584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Farmer's consent</a:t>
            </a:r>
            <a:endParaRPr lang="en-US" sz="1450" dirty="0"/>
          </a:p>
          <a:p>
            <a:pPr indent="0" marL="0">
              <a:buNone/>
            </a:pPr>
            <a:r>
              <a:rPr lang="en-US" sz="1150" dirty="0">
                <a:solidFill>
                  <a:srgbClr val="52665A"/>
                </a:solidFill>
                <a:latin typeface="Calibri" pitchFamily="34" charset="0"/>
                <a:ea typeface="Calibri" pitchFamily="34" charset="-122"/>
                <a:cs typeface="Calibri" pitchFamily="34" charset="-120"/>
              </a:rPr>
              <a:t>The report is built from the diary and sent as a PDF only after the farmer agrees.</a:t>
            </a:r>
            <a:endParaRPr lang="en-US" sz="1450" dirty="0"/>
          </a:p>
        </p:txBody>
      </p:sp>
      <p:sp>
        <p:nvSpPr>
          <p:cNvPr id="10" name="Shape 5"/>
          <p:cNvSpPr/>
          <p:nvPr/>
        </p:nvSpPr>
        <p:spPr>
          <a:xfrm>
            <a:off x="8686800" y="2724912"/>
            <a:ext cx="457200" cy="457200"/>
          </a:xfrm>
          <a:prstGeom prst="ellipse">
            <a:avLst/>
          </a:prstGeom>
          <a:solidFill>
            <a:srgbClr val="F59E0B"/>
          </a:solidFill>
          <a:ln/>
        </p:spPr>
      </p:sp>
      <p:pic>
        <p:nvPicPr>
          <p:cNvPr id="11" name="Image 3" descr="preencoded.png">    </p:cNvPr>
          <p:cNvPicPr>
            <a:picLocks noChangeAspect="1"/>
          </p:cNvPicPr>
          <p:nvPr/>
        </p:nvPicPr>
        <p:blipFill>
          <a:blip r:embed="rId4"/>
          <a:stretch>
            <a:fillRect/>
          </a:stretch>
        </p:blipFill>
        <p:spPr>
          <a:xfrm>
            <a:off x="8791956" y="2830068"/>
            <a:ext cx="246888" cy="246888"/>
          </a:xfrm>
          <a:prstGeom prst="rect">
            <a:avLst/>
          </a:prstGeom>
        </p:spPr>
      </p:pic>
      <p:sp>
        <p:nvSpPr>
          <p:cNvPr id="12" name="Text 6"/>
          <p:cNvSpPr/>
          <p:nvPr/>
        </p:nvSpPr>
        <p:spPr>
          <a:xfrm>
            <a:off x="9235440" y="2688336"/>
            <a:ext cx="2331720" cy="100584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Score 0–100</a:t>
            </a:r>
            <a:endParaRPr lang="en-US" sz="1450" dirty="0"/>
          </a:p>
          <a:p>
            <a:pPr indent="0" marL="0">
              <a:buNone/>
            </a:pPr>
            <a:r>
              <a:rPr lang="en-US" sz="1150" dirty="0">
                <a:solidFill>
                  <a:srgbClr val="52665A"/>
                </a:solidFill>
                <a:latin typeface="Calibri" pitchFamily="34" charset="0"/>
                <a:ea typeface="Calibri" pitchFamily="34" charset="-122"/>
                <a:cs typeface="Calibri" pitchFamily="34" charset="-120"/>
              </a:rPr>
              <a:t>Survival, diary, weight, training — fixed rules the bank can check, not AI.</a:t>
            </a:r>
            <a:endParaRPr lang="en-US" sz="1450" dirty="0"/>
          </a:p>
        </p:txBody>
      </p:sp>
      <p:sp>
        <p:nvSpPr>
          <p:cNvPr id="13" name="Shape 7"/>
          <p:cNvSpPr/>
          <p:nvPr/>
        </p:nvSpPr>
        <p:spPr>
          <a:xfrm>
            <a:off x="8686800" y="3803904"/>
            <a:ext cx="457200" cy="457200"/>
          </a:xfrm>
          <a:prstGeom prst="ellipse">
            <a:avLst/>
          </a:prstGeom>
          <a:solidFill>
            <a:srgbClr val="DC2626"/>
          </a:solidFill>
          <a:ln/>
        </p:spPr>
      </p:sp>
      <p:pic>
        <p:nvPicPr>
          <p:cNvPr id="14" name="Image 4" descr="preencoded.png">    </p:cNvPr>
          <p:cNvPicPr>
            <a:picLocks noChangeAspect="1"/>
          </p:cNvPicPr>
          <p:nvPr/>
        </p:nvPicPr>
        <p:blipFill>
          <a:blip r:embed="rId5"/>
          <a:stretch>
            <a:fillRect/>
          </a:stretch>
        </p:blipFill>
        <p:spPr>
          <a:xfrm>
            <a:off x="8791956" y="3909060"/>
            <a:ext cx="246888" cy="246888"/>
          </a:xfrm>
          <a:prstGeom prst="rect">
            <a:avLst/>
          </a:prstGeom>
        </p:spPr>
      </p:pic>
      <p:sp>
        <p:nvSpPr>
          <p:cNvPr id="15" name="Text 8"/>
          <p:cNvSpPr/>
          <p:nvPr/>
        </p:nvSpPr>
        <p:spPr>
          <a:xfrm>
            <a:off x="9235440" y="3767328"/>
            <a:ext cx="2331720" cy="100584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Disease alert</a:t>
            </a:r>
            <a:endParaRPr lang="en-US" sz="1450" dirty="0"/>
          </a:p>
          <a:p>
            <a:pPr indent="0" marL="0">
              <a:buNone/>
            </a:pPr>
            <a:r>
              <a:rPr lang="en-US" sz="1150" dirty="0">
                <a:solidFill>
                  <a:srgbClr val="52665A"/>
                </a:solidFill>
                <a:latin typeface="Calibri" pitchFamily="34" charset="0"/>
                <a:ea typeface="Calibri" pitchFamily="34" charset="-122"/>
                <a:cs typeface="Calibri" pitchFamily="34" charset="-120"/>
              </a:rPr>
              <a:t>One tap warns every farmer of the bank in a district.</a:t>
            </a:r>
            <a:endParaRPr lang="en-US" sz="1450" dirty="0"/>
          </a:p>
        </p:txBody>
      </p:sp>
      <p:sp>
        <p:nvSpPr>
          <p:cNvPr id="16" name="Shape 9"/>
          <p:cNvSpPr/>
          <p:nvPr/>
        </p:nvSpPr>
        <p:spPr>
          <a:xfrm>
            <a:off x="8686800" y="4983480"/>
            <a:ext cx="2862072" cy="1097280"/>
          </a:xfrm>
          <a:prstGeom prst="roundRect">
            <a:avLst>
              <a:gd name="adj" fmla="val 13333"/>
            </a:avLst>
          </a:prstGeom>
          <a:solidFill>
            <a:srgbClr val="15803D"/>
          </a:solidFill>
          <a:ln/>
        </p:spPr>
      </p:sp>
      <p:sp>
        <p:nvSpPr>
          <p:cNvPr id="17" name="Text 10"/>
          <p:cNvSpPr/>
          <p:nvPr/>
        </p:nvSpPr>
        <p:spPr>
          <a:xfrm>
            <a:off x="8851392" y="5029200"/>
            <a:ext cx="2560320" cy="10058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Free for farmers. </a:t>
            </a:r>
            <a:pPr indent="0" marL="0">
              <a:buNone/>
            </a:pPr>
            <a:r>
              <a:rPr lang="en-US" sz="1250" dirty="0">
                <a:solidFill>
                  <a:srgbClr val="FFFFFF"/>
                </a:solidFill>
                <a:latin typeface="Calibri" pitchFamily="34" charset="0"/>
                <a:ea typeface="Calibri" pitchFamily="34" charset="-122"/>
                <a:cs typeface="Calibri" pitchFamily="34" charset="-120"/>
              </a:rPr>
              <a:t>Banks and microfinance pay: a trained farmer is more likely to repay.</a:t>
            </a:r>
            <a:endParaRPr lang="en-US" sz="1250" dirty="0"/>
          </a:p>
        </p:txBody>
      </p:sp>
      <p:sp>
        <p:nvSpPr>
          <p:cNvPr id="18" name="Text 11"/>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4"/>
        </a:solidFill>
      </p:bgPr>
    </p:bg>
    <p:spTree>
      <p:nvGrpSpPr>
        <p:cNvPr id="1" name=""/>
        <p:cNvGrpSpPr/>
        <p:nvPr/>
      </p:nvGrpSpPr>
      <p:grpSpPr>
        <a:xfrm>
          <a:off x="0" y="0"/>
          <a:ext cx="0" cy="0"/>
          <a:chOff x="0" y="0"/>
          <a:chExt cx="0" cy="0"/>
        </a:xfrm>
      </p:grpSpPr>
      <p:sp>
        <p:nvSpPr>
          <p:cNvPr id="2" name="Text 0"/>
          <p:cNvSpPr/>
          <p:nvPr/>
        </p:nvSpPr>
        <p:spPr>
          <a:xfrm>
            <a:off x="640080" y="411480"/>
            <a:ext cx="7315200" cy="292608"/>
          </a:xfrm>
          <a:prstGeom prst="rect">
            <a:avLst/>
          </a:prstGeom>
          <a:noFill/>
          <a:ln/>
        </p:spPr>
        <p:txBody>
          <a:bodyPr wrap="square" lIns="0" tIns="0" rIns="0" bIns="0" rtlCol="0" anchor="ctr"/>
          <a:lstStyle/>
          <a:p>
            <a:pPr indent="0" marL="0">
              <a:buNone/>
            </a:pPr>
            <a:r>
              <a:rPr lang="en-US" sz="1300" b="1" spc="200" kern="0" dirty="0">
                <a:solidFill>
                  <a:srgbClr val="15803D"/>
                </a:solidFill>
                <a:latin typeface="Calibri" pitchFamily="34" charset="0"/>
                <a:ea typeface="Calibri" pitchFamily="34" charset="-122"/>
                <a:cs typeface="Calibri" pitchFamily="34" charset="-120"/>
              </a:rPr>
              <a:t>THE RESULT</a:t>
            </a:r>
            <a:endParaRPr lang="en-US" sz="1300" dirty="0"/>
          </a:p>
        </p:txBody>
      </p:sp>
      <p:sp>
        <p:nvSpPr>
          <p:cNvPr id="3" name="Text 1"/>
          <p:cNvSpPr/>
          <p:nvPr/>
        </p:nvSpPr>
        <p:spPr>
          <a:xfrm>
            <a:off x="640080" y="731520"/>
            <a:ext cx="10972800" cy="822960"/>
          </a:xfrm>
          <a:prstGeom prst="rect">
            <a:avLst/>
          </a:prstGeom>
          <a:noFill/>
          <a:ln/>
        </p:spPr>
        <p:txBody>
          <a:bodyPr wrap="square" lIns="0" tIns="0" rIns="0" bIns="0" rtlCol="0" anchor="t"/>
          <a:lstStyle/>
          <a:p>
            <a:pPr indent="0" marL="0">
              <a:buNone/>
            </a:pPr>
            <a:r>
              <a:rPr lang="en-US" sz="3400" b="1" dirty="0">
                <a:solidFill>
                  <a:srgbClr val="0F172A"/>
                </a:solidFill>
                <a:latin typeface="Calibri" pitchFamily="34" charset="0"/>
                <a:ea typeface="Calibri" pitchFamily="34" charset="-122"/>
                <a:cs typeface="Calibri" pitchFamily="34" charset="-120"/>
              </a:rPr>
              <a:t>Not a concept: the app already works</a:t>
            </a:r>
            <a:endParaRPr lang="en-US" sz="3400" dirty="0"/>
          </a:p>
        </p:txBody>
      </p:sp>
      <p:sp>
        <p:nvSpPr>
          <p:cNvPr id="4" name="Shape 2"/>
          <p:cNvSpPr/>
          <p:nvPr/>
        </p:nvSpPr>
        <p:spPr>
          <a:xfrm>
            <a:off x="640080" y="1645920"/>
            <a:ext cx="2651760" cy="1298448"/>
          </a:xfrm>
          <a:prstGeom prst="roundRect">
            <a:avLst>
              <a:gd name="adj" fmla="val 11268"/>
            </a:avLst>
          </a:prstGeom>
          <a:solidFill>
            <a:srgbClr val="FFFFFF"/>
          </a:solidFill>
          <a:ln/>
          <a:effectLst>
            <a:outerShdw sx="100000" sy="100000" kx="0" ky="0" algn="bl" rotWithShape="0" blurRad="177800" dist="38100" dir="5400000">
              <a:srgbClr val="0F172A">
                <a:alpha val="12000"/>
              </a:srgbClr>
            </a:outerShdw>
          </a:effectLst>
        </p:spPr>
      </p:sp>
      <p:sp>
        <p:nvSpPr>
          <p:cNvPr id="5" name="Text 3"/>
          <p:cNvSpPr/>
          <p:nvPr/>
        </p:nvSpPr>
        <p:spPr>
          <a:xfrm>
            <a:off x="841248" y="1755648"/>
            <a:ext cx="2286000" cy="1097280"/>
          </a:xfrm>
          <a:prstGeom prst="rect">
            <a:avLst/>
          </a:prstGeom>
          <a:noFill/>
          <a:ln/>
        </p:spPr>
        <p:txBody>
          <a:bodyPr wrap="square" lIns="0" tIns="0" rIns="0" bIns="0" rtlCol="0" anchor="ctr"/>
          <a:lstStyle/>
          <a:p>
            <a:pPr indent="0" marL="0">
              <a:buNone/>
            </a:pPr>
            <a:r>
              <a:rPr lang="en-US" sz="3000" b="1" dirty="0">
                <a:solidFill>
                  <a:srgbClr val="15803D"/>
                </a:solidFill>
                <a:latin typeface="Calibri" pitchFamily="34" charset="0"/>
                <a:ea typeface="Calibri" pitchFamily="34" charset="-122"/>
                <a:cs typeface="Calibri" pitchFamily="34" charset="-120"/>
              </a:rPr>
              <a:t>42 days</a:t>
            </a:r>
            <a:endParaRPr lang="en-US" sz="3000" dirty="0"/>
          </a:p>
          <a:p>
            <a:pPr indent="0" marL="0">
              <a:buNone/>
            </a:pPr>
            <a:r>
              <a:rPr lang="en-US" sz="1200" dirty="0">
                <a:solidFill>
                  <a:srgbClr val="52665A"/>
                </a:solidFill>
                <a:latin typeface="Calibri" pitchFamily="34" charset="0"/>
                <a:ea typeface="Calibri" pitchFamily="34" charset="-122"/>
                <a:cs typeface="Calibri" pitchFamily="34" charset="-120"/>
              </a:rPr>
              <a:t>growing plan with norms for every day</a:t>
            </a:r>
            <a:endParaRPr lang="en-US" sz="3000" dirty="0"/>
          </a:p>
        </p:txBody>
      </p:sp>
      <p:sp>
        <p:nvSpPr>
          <p:cNvPr id="6" name="Shape 4"/>
          <p:cNvSpPr/>
          <p:nvPr/>
        </p:nvSpPr>
        <p:spPr>
          <a:xfrm>
            <a:off x="3429000" y="1645920"/>
            <a:ext cx="2651760" cy="1298448"/>
          </a:xfrm>
          <a:prstGeom prst="roundRect">
            <a:avLst>
              <a:gd name="adj" fmla="val 11268"/>
            </a:avLst>
          </a:prstGeom>
          <a:solidFill>
            <a:srgbClr val="FFFFFF"/>
          </a:solidFill>
          <a:ln/>
          <a:effectLst>
            <a:outerShdw sx="100000" sy="100000" kx="0" ky="0" algn="bl" rotWithShape="0" blurRad="177800" dist="38100" dir="5400000">
              <a:srgbClr val="0F172A">
                <a:alpha val="12000"/>
              </a:srgbClr>
            </a:outerShdw>
          </a:effectLst>
        </p:spPr>
      </p:sp>
      <p:sp>
        <p:nvSpPr>
          <p:cNvPr id="7" name="Text 5"/>
          <p:cNvSpPr/>
          <p:nvPr/>
        </p:nvSpPr>
        <p:spPr>
          <a:xfrm>
            <a:off x="3630168" y="1755648"/>
            <a:ext cx="2286000" cy="1097280"/>
          </a:xfrm>
          <a:prstGeom prst="rect">
            <a:avLst/>
          </a:prstGeom>
          <a:noFill/>
          <a:ln/>
        </p:spPr>
        <p:txBody>
          <a:bodyPr wrap="square" lIns="0" tIns="0" rIns="0" bIns="0" rtlCol="0" anchor="ctr"/>
          <a:lstStyle/>
          <a:p>
            <a:pPr indent="0" marL="0">
              <a:buNone/>
            </a:pPr>
            <a:r>
              <a:rPr lang="en-US" sz="3000" b="1" dirty="0">
                <a:solidFill>
                  <a:srgbClr val="1D4ED8"/>
                </a:solidFill>
                <a:latin typeface="Calibri" pitchFamily="34" charset="0"/>
                <a:ea typeface="Calibri" pitchFamily="34" charset="-122"/>
                <a:cs typeface="Calibri" pitchFamily="34" charset="-120"/>
              </a:rPr>
              <a:t>5 lessons</a:t>
            </a:r>
            <a:endParaRPr lang="en-US" sz="3000" dirty="0"/>
          </a:p>
          <a:p>
            <a:pPr indent="0" marL="0">
              <a:buNone/>
            </a:pPr>
            <a:r>
              <a:rPr lang="en-US" sz="1200" dirty="0">
                <a:solidFill>
                  <a:srgbClr val="52665A"/>
                </a:solidFill>
                <a:latin typeface="Calibri" pitchFamily="34" charset="0"/>
                <a:ea typeface="Calibri" pitchFamily="34" charset="-122"/>
                <a:cs typeface="Calibri" pitchFamily="34" charset="-120"/>
              </a:rPr>
              <a:t>a course with tests and a certificate</a:t>
            </a:r>
            <a:endParaRPr lang="en-US" sz="3000" dirty="0"/>
          </a:p>
        </p:txBody>
      </p:sp>
      <p:sp>
        <p:nvSpPr>
          <p:cNvPr id="8" name="Shape 6"/>
          <p:cNvSpPr/>
          <p:nvPr/>
        </p:nvSpPr>
        <p:spPr>
          <a:xfrm>
            <a:off x="640080" y="3108960"/>
            <a:ext cx="2651760" cy="1298448"/>
          </a:xfrm>
          <a:prstGeom prst="roundRect">
            <a:avLst>
              <a:gd name="adj" fmla="val 11268"/>
            </a:avLst>
          </a:prstGeom>
          <a:solidFill>
            <a:srgbClr val="FFFFFF"/>
          </a:solidFill>
          <a:ln/>
          <a:effectLst>
            <a:outerShdw sx="100000" sy="100000" kx="0" ky="0" algn="bl" rotWithShape="0" blurRad="177800" dist="38100" dir="5400000">
              <a:srgbClr val="0F172A">
                <a:alpha val="12000"/>
              </a:srgbClr>
            </a:outerShdw>
          </a:effectLst>
        </p:spPr>
      </p:sp>
      <p:sp>
        <p:nvSpPr>
          <p:cNvPr id="9" name="Text 7"/>
          <p:cNvSpPr/>
          <p:nvPr/>
        </p:nvSpPr>
        <p:spPr>
          <a:xfrm>
            <a:off x="841248" y="3218688"/>
            <a:ext cx="2286000" cy="1097280"/>
          </a:xfrm>
          <a:prstGeom prst="rect">
            <a:avLst/>
          </a:prstGeom>
          <a:noFill/>
          <a:ln/>
        </p:spPr>
        <p:txBody>
          <a:bodyPr wrap="square" lIns="0" tIns="0" rIns="0" bIns="0" rtlCol="0" anchor="ctr"/>
          <a:lstStyle/>
          <a:p>
            <a:pPr indent="0" marL="0">
              <a:buNone/>
            </a:pPr>
            <a:r>
              <a:rPr lang="en-US" sz="3000" b="1" dirty="0">
                <a:solidFill>
                  <a:srgbClr val="DC2626"/>
                </a:solidFill>
                <a:latin typeface="Calibri" pitchFamily="34" charset="0"/>
                <a:ea typeface="Calibri" pitchFamily="34" charset="-122"/>
                <a:cs typeface="Calibri" pitchFamily="34" charset="-120"/>
              </a:rPr>
              <a:t>13 regions</a:t>
            </a:r>
            <a:endParaRPr lang="en-US" sz="3000" dirty="0"/>
          </a:p>
          <a:p>
            <a:pPr indent="0" marL="0">
              <a:buNone/>
            </a:pPr>
            <a:r>
              <a:rPr lang="en-US" sz="1200" dirty="0">
                <a:solidFill>
                  <a:srgbClr val="52665A"/>
                </a:solidFill>
                <a:latin typeface="Calibri" pitchFamily="34" charset="0"/>
                <a:ea typeface="Calibri" pitchFamily="34" charset="-122"/>
                <a:cs typeface="Calibri" pitchFamily="34" charset="-120"/>
              </a:rPr>
              <a:t>vet contacts across Uzbekistan</a:t>
            </a:r>
            <a:endParaRPr lang="en-US" sz="3000" dirty="0"/>
          </a:p>
        </p:txBody>
      </p:sp>
      <p:sp>
        <p:nvSpPr>
          <p:cNvPr id="10" name="Shape 8"/>
          <p:cNvSpPr/>
          <p:nvPr/>
        </p:nvSpPr>
        <p:spPr>
          <a:xfrm>
            <a:off x="3429000" y="3108960"/>
            <a:ext cx="2651760" cy="1298448"/>
          </a:xfrm>
          <a:prstGeom prst="roundRect">
            <a:avLst>
              <a:gd name="adj" fmla="val 11268"/>
            </a:avLst>
          </a:prstGeom>
          <a:solidFill>
            <a:srgbClr val="FFFFFF"/>
          </a:solidFill>
          <a:ln/>
          <a:effectLst>
            <a:outerShdw sx="100000" sy="100000" kx="0" ky="0" algn="bl" rotWithShape="0" blurRad="177800" dist="38100" dir="5400000">
              <a:srgbClr val="0F172A">
                <a:alpha val="12000"/>
              </a:srgbClr>
            </a:outerShdw>
          </a:effectLst>
        </p:spPr>
      </p:sp>
      <p:sp>
        <p:nvSpPr>
          <p:cNvPr id="11" name="Text 9"/>
          <p:cNvSpPr/>
          <p:nvPr/>
        </p:nvSpPr>
        <p:spPr>
          <a:xfrm>
            <a:off x="3630168" y="3218688"/>
            <a:ext cx="2286000" cy="1097280"/>
          </a:xfrm>
          <a:prstGeom prst="rect">
            <a:avLst/>
          </a:prstGeom>
          <a:noFill/>
          <a:ln/>
        </p:spPr>
        <p:txBody>
          <a:bodyPr wrap="square" lIns="0" tIns="0" rIns="0" bIns="0" rtlCol="0" anchor="ctr"/>
          <a:lstStyle/>
          <a:p>
            <a:pPr indent="0" marL="0">
              <a:buNone/>
            </a:pPr>
            <a:r>
              <a:rPr lang="en-US" sz="3000" b="1" dirty="0">
                <a:solidFill>
                  <a:srgbClr val="B45309"/>
                </a:solidFill>
                <a:latin typeface="Calibri" pitchFamily="34" charset="0"/>
                <a:ea typeface="Calibri" pitchFamily="34" charset="-122"/>
                <a:cs typeface="Calibri" pitchFamily="34" charset="-120"/>
              </a:rPr>
              <a:t>260 tests</a:t>
            </a:r>
            <a:endParaRPr lang="en-US" sz="3000" dirty="0"/>
          </a:p>
          <a:p>
            <a:pPr indent="0" marL="0">
              <a:buNone/>
            </a:pPr>
            <a:r>
              <a:rPr lang="en-US" sz="1200" dirty="0">
                <a:solidFill>
                  <a:srgbClr val="52665A"/>
                </a:solidFill>
                <a:latin typeface="Calibri" pitchFamily="34" charset="0"/>
                <a:ea typeface="Calibri" pitchFamily="34" charset="-122"/>
                <a:cs typeface="Calibri" pitchFamily="34" charset="-120"/>
              </a:rPr>
              <a:t>automated tests check norms, alerts and scores</a:t>
            </a:r>
            <a:endParaRPr lang="en-US" sz="3000" dirty="0"/>
          </a:p>
        </p:txBody>
      </p:sp>
      <p:sp>
        <p:nvSpPr>
          <p:cNvPr id="12" name="Shape 10"/>
          <p:cNvSpPr/>
          <p:nvPr/>
        </p:nvSpPr>
        <p:spPr>
          <a:xfrm>
            <a:off x="640080" y="4681728"/>
            <a:ext cx="384048" cy="384048"/>
          </a:xfrm>
          <a:prstGeom prst="ellipse">
            <a:avLst/>
          </a:prstGeom>
          <a:solidFill>
            <a:srgbClr val="E6F4EA"/>
          </a:solidFill>
          <a:ln/>
        </p:spPr>
      </p:sp>
      <p:pic>
        <p:nvPicPr>
          <p:cNvPr id="13" name="Image 0" descr="preencoded.png">    </p:cNvPr>
          <p:cNvPicPr>
            <a:picLocks noChangeAspect="1"/>
          </p:cNvPicPr>
          <p:nvPr/>
        </p:nvPicPr>
        <p:blipFill>
          <a:blip r:embed="rId1"/>
          <a:stretch>
            <a:fillRect/>
          </a:stretch>
        </p:blipFill>
        <p:spPr>
          <a:xfrm>
            <a:off x="728411" y="4770059"/>
            <a:ext cx="207386" cy="207386"/>
          </a:xfrm>
          <a:prstGeom prst="rect">
            <a:avLst/>
          </a:prstGeom>
        </p:spPr>
      </p:pic>
      <p:sp>
        <p:nvSpPr>
          <p:cNvPr id="14" name="Text 11"/>
          <p:cNvSpPr/>
          <p:nvPr/>
        </p:nvSpPr>
        <p:spPr>
          <a:xfrm>
            <a:off x="640080" y="5138928"/>
            <a:ext cx="1325880" cy="5486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Flutter</a:t>
            </a:r>
            <a:endParaRPr lang="en-US" sz="1200" dirty="0"/>
          </a:p>
          <a:p>
            <a:pPr indent="0" marL="0">
              <a:buNone/>
            </a:pPr>
            <a:r>
              <a:rPr lang="en-US" sz="1050" dirty="0">
                <a:solidFill>
                  <a:srgbClr val="52665A"/>
                </a:solidFill>
                <a:latin typeface="Calibri" pitchFamily="34" charset="0"/>
                <a:ea typeface="Calibri" pitchFamily="34" charset="-122"/>
                <a:cs typeface="Calibri" pitchFamily="34" charset="-120"/>
              </a:rPr>
              <a:t>Android, iOS, web</a:t>
            </a:r>
            <a:endParaRPr lang="en-US" sz="1200" dirty="0"/>
          </a:p>
        </p:txBody>
      </p:sp>
      <p:sp>
        <p:nvSpPr>
          <p:cNvPr id="15" name="Shape 12"/>
          <p:cNvSpPr/>
          <p:nvPr/>
        </p:nvSpPr>
        <p:spPr>
          <a:xfrm>
            <a:off x="2039112" y="4681728"/>
            <a:ext cx="384048" cy="384048"/>
          </a:xfrm>
          <a:prstGeom prst="ellipse">
            <a:avLst/>
          </a:prstGeom>
          <a:solidFill>
            <a:srgbClr val="E6F4EA"/>
          </a:solidFill>
          <a:ln/>
        </p:spPr>
      </p:sp>
      <p:pic>
        <p:nvPicPr>
          <p:cNvPr id="16" name="Image 1" descr="preencoded.png">    </p:cNvPr>
          <p:cNvPicPr>
            <a:picLocks noChangeAspect="1"/>
          </p:cNvPicPr>
          <p:nvPr/>
        </p:nvPicPr>
        <p:blipFill>
          <a:blip r:embed="rId2"/>
          <a:stretch>
            <a:fillRect/>
          </a:stretch>
        </p:blipFill>
        <p:spPr>
          <a:xfrm>
            <a:off x="2127443" y="4770059"/>
            <a:ext cx="207386" cy="207386"/>
          </a:xfrm>
          <a:prstGeom prst="rect">
            <a:avLst/>
          </a:prstGeom>
        </p:spPr>
      </p:pic>
      <p:sp>
        <p:nvSpPr>
          <p:cNvPr id="17" name="Text 13"/>
          <p:cNvSpPr/>
          <p:nvPr/>
        </p:nvSpPr>
        <p:spPr>
          <a:xfrm>
            <a:off x="2039112" y="5138928"/>
            <a:ext cx="1325880" cy="5486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Supabase + Gemini</a:t>
            </a:r>
            <a:endParaRPr lang="en-US" sz="1200" dirty="0"/>
          </a:p>
          <a:p>
            <a:pPr indent="0" marL="0">
              <a:buNone/>
            </a:pPr>
            <a:r>
              <a:rPr lang="en-US" sz="1050" dirty="0">
                <a:solidFill>
                  <a:srgbClr val="52665A"/>
                </a:solidFill>
                <a:latin typeface="Calibri" pitchFamily="34" charset="0"/>
                <a:ea typeface="Calibri" pitchFamily="34" charset="-122"/>
                <a:cs typeface="Calibri" pitchFamily="34" charset="-120"/>
              </a:rPr>
              <a:t>cloud data and AI</a:t>
            </a:r>
            <a:endParaRPr lang="en-US" sz="1200" dirty="0"/>
          </a:p>
        </p:txBody>
      </p:sp>
      <p:sp>
        <p:nvSpPr>
          <p:cNvPr id="18" name="Shape 14"/>
          <p:cNvSpPr/>
          <p:nvPr/>
        </p:nvSpPr>
        <p:spPr>
          <a:xfrm>
            <a:off x="3438144" y="4681728"/>
            <a:ext cx="384048" cy="384048"/>
          </a:xfrm>
          <a:prstGeom prst="ellipse">
            <a:avLst/>
          </a:prstGeom>
          <a:solidFill>
            <a:srgbClr val="E6F4EA"/>
          </a:solidFill>
          <a:ln/>
        </p:spPr>
      </p:sp>
      <p:pic>
        <p:nvPicPr>
          <p:cNvPr id="19" name="Image 2" descr="preencoded.png">    </p:cNvPr>
          <p:cNvPicPr>
            <a:picLocks noChangeAspect="1"/>
          </p:cNvPicPr>
          <p:nvPr/>
        </p:nvPicPr>
        <p:blipFill>
          <a:blip r:embed="rId3"/>
          <a:stretch>
            <a:fillRect/>
          </a:stretch>
        </p:blipFill>
        <p:spPr>
          <a:xfrm>
            <a:off x="3526475" y="4770059"/>
            <a:ext cx="207386" cy="207386"/>
          </a:xfrm>
          <a:prstGeom prst="rect">
            <a:avLst/>
          </a:prstGeom>
        </p:spPr>
      </p:pic>
      <p:sp>
        <p:nvSpPr>
          <p:cNvPr id="20" name="Text 15"/>
          <p:cNvSpPr/>
          <p:nvPr/>
        </p:nvSpPr>
        <p:spPr>
          <a:xfrm>
            <a:off x="3438144" y="5138928"/>
            <a:ext cx="1325880" cy="5486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Offline</a:t>
            </a:r>
            <a:endParaRPr lang="en-US" sz="1200" dirty="0"/>
          </a:p>
          <a:p>
            <a:pPr indent="0" marL="0">
              <a:buNone/>
            </a:pPr>
            <a:r>
              <a:rPr lang="en-US" sz="1050" dirty="0">
                <a:solidFill>
                  <a:srgbClr val="52665A"/>
                </a:solidFill>
                <a:latin typeface="Calibri" pitchFamily="34" charset="0"/>
                <a:ea typeface="Calibri" pitchFamily="34" charset="-122"/>
                <a:cs typeface="Calibri" pitchFamily="34" charset="-120"/>
              </a:rPr>
              <a:t>plan and diary</a:t>
            </a:r>
            <a:endParaRPr lang="en-US" sz="1200" dirty="0"/>
          </a:p>
        </p:txBody>
      </p:sp>
      <p:sp>
        <p:nvSpPr>
          <p:cNvPr id="21" name="Shape 16"/>
          <p:cNvSpPr/>
          <p:nvPr/>
        </p:nvSpPr>
        <p:spPr>
          <a:xfrm>
            <a:off x="4837176" y="4681728"/>
            <a:ext cx="384048" cy="384048"/>
          </a:xfrm>
          <a:prstGeom prst="ellipse">
            <a:avLst/>
          </a:prstGeom>
          <a:solidFill>
            <a:srgbClr val="E6F4EA"/>
          </a:solidFill>
          <a:ln/>
        </p:spPr>
      </p:sp>
      <p:pic>
        <p:nvPicPr>
          <p:cNvPr id="22" name="Image 3" descr="preencoded.png">    </p:cNvPr>
          <p:cNvPicPr>
            <a:picLocks noChangeAspect="1"/>
          </p:cNvPicPr>
          <p:nvPr/>
        </p:nvPicPr>
        <p:blipFill>
          <a:blip r:embed="rId4"/>
          <a:stretch>
            <a:fillRect/>
          </a:stretch>
        </p:blipFill>
        <p:spPr>
          <a:xfrm>
            <a:off x="4925507" y="4770059"/>
            <a:ext cx="207386" cy="207386"/>
          </a:xfrm>
          <a:prstGeom prst="rect">
            <a:avLst/>
          </a:prstGeom>
        </p:spPr>
      </p:pic>
      <p:sp>
        <p:nvSpPr>
          <p:cNvPr id="23" name="Text 17"/>
          <p:cNvSpPr/>
          <p:nvPr/>
        </p:nvSpPr>
        <p:spPr>
          <a:xfrm>
            <a:off x="4837176" y="5138928"/>
            <a:ext cx="1325880" cy="5486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3 languages</a:t>
            </a:r>
            <a:endParaRPr lang="en-US" sz="1200" dirty="0"/>
          </a:p>
          <a:p>
            <a:pPr indent="0" marL="0">
              <a:buNone/>
            </a:pPr>
            <a:r>
              <a:rPr lang="en-US" sz="1050" dirty="0">
                <a:solidFill>
                  <a:srgbClr val="52665A"/>
                </a:solidFill>
                <a:latin typeface="Calibri" pitchFamily="34" charset="0"/>
                <a:ea typeface="Calibri" pitchFamily="34" charset="-122"/>
                <a:cs typeface="Calibri" pitchFamily="34" charset="-120"/>
              </a:rPr>
              <a:t>uz · ru · en</a:t>
            </a:r>
            <a:endParaRPr lang="en-US" sz="1200" dirty="0"/>
          </a:p>
        </p:txBody>
      </p:sp>
      <p:sp>
        <p:nvSpPr>
          <p:cNvPr id="24" name="Shape 18"/>
          <p:cNvSpPr/>
          <p:nvPr/>
        </p:nvSpPr>
        <p:spPr>
          <a:xfrm>
            <a:off x="6400800" y="1645920"/>
            <a:ext cx="5148072" cy="2743200"/>
          </a:xfrm>
          <a:prstGeom prst="roundRect">
            <a:avLst>
              <a:gd name="adj" fmla="val 5333"/>
            </a:avLst>
          </a:prstGeom>
          <a:solidFill>
            <a:srgbClr val="FFFFFF"/>
          </a:solidFill>
          <a:ln/>
          <a:effectLst>
            <a:outerShdw sx="100000" sy="100000" kx="0" ky="0" algn="bl" rotWithShape="0" blurRad="177800" dist="38100" dir="5400000">
              <a:srgbClr val="0F172A">
                <a:alpha val="12000"/>
              </a:srgbClr>
            </a:outerShdw>
          </a:effectLst>
        </p:spPr>
      </p:sp>
      <p:sp>
        <p:nvSpPr>
          <p:cNvPr id="25" name="Text 19"/>
          <p:cNvSpPr/>
          <p:nvPr/>
        </p:nvSpPr>
        <p:spPr>
          <a:xfrm>
            <a:off x="6629400" y="1783080"/>
            <a:ext cx="475488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The AI answers only from a verified knowledge base</a:t>
            </a:r>
            <a:endParaRPr lang="en-US" sz="1500" dirty="0"/>
          </a:p>
        </p:txBody>
      </p:sp>
      <p:sp>
        <p:nvSpPr>
          <p:cNvPr id="26" name="Shape 20"/>
          <p:cNvSpPr/>
          <p:nvPr/>
        </p:nvSpPr>
        <p:spPr>
          <a:xfrm>
            <a:off x="7086600" y="2377440"/>
            <a:ext cx="502920" cy="502920"/>
          </a:xfrm>
          <a:prstGeom prst="ellipse">
            <a:avLst/>
          </a:prstGeom>
          <a:solidFill>
            <a:srgbClr val="1D4ED8"/>
          </a:solidFill>
          <a:ln/>
        </p:spPr>
      </p:sp>
      <p:pic>
        <p:nvPicPr>
          <p:cNvPr id="27" name="Image 4" descr="preencoded.png">    </p:cNvPr>
          <p:cNvPicPr>
            <a:picLocks noChangeAspect="1"/>
          </p:cNvPicPr>
          <p:nvPr/>
        </p:nvPicPr>
        <p:blipFill>
          <a:blip r:embed="rId5"/>
          <a:stretch>
            <a:fillRect/>
          </a:stretch>
        </p:blipFill>
        <p:spPr>
          <a:xfrm>
            <a:off x="7202272" y="2493112"/>
            <a:ext cx="271577" cy="271577"/>
          </a:xfrm>
          <a:prstGeom prst="rect">
            <a:avLst/>
          </a:prstGeom>
        </p:spPr>
      </p:pic>
      <p:sp>
        <p:nvSpPr>
          <p:cNvPr id="28" name="Text 21"/>
          <p:cNvSpPr/>
          <p:nvPr/>
        </p:nvSpPr>
        <p:spPr>
          <a:xfrm>
            <a:off x="6629400" y="2971800"/>
            <a:ext cx="1417320" cy="640080"/>
          </a:xfrm>
          <a:prstGeom prst="rect">
            <a:avLst/>
          </a:prstGeom>
          <a:noFill/>
          <a:ln/>
        </p:spPr>
        <p:txBody>
          <a:bodyPr wrap="square" lIns="0" tIns="0" rIns="0" bIns="0" rtlCol="0" anchor="t"/>
          <a:lstStyle/>
          <a:p>
            <a:pPr algn="ctr" indent="0" marL="0">
              <a:buNone/>
            </a:pPr>
            <a:r>
              <a:rPr lang="en-US" sz="1250" b="1" dirty="0">
                <a:solidFill>
                  <a:srgbClr val="0F172A"/>
                </a:solidFill>
                <a:latin typeface="Calibri" pitchFamily="34" charset="0"/>
                <a:ea typeface="Calibri" pitchFamily="34" charset="-122"/>
                <a:cs typeface="Calibri" pitchFamily="34" charset="-120"/>
              </a:rPr>
              <a:t>Question</a:t>
            </a:r>
            <a:endParaRPr lang="en-US" sz="1250" dirty="0"/>
          </a:p>
          <a:p>
            <a:pPr algn="ctr" indent="0" marL="0">
              <a:buNone/>
            </a:pPr>
            <a:r>
              <a:rPr lang="en-US" sz="1100" dirty="0">
                <a:solidFill>
                  <a:srgbClr val="52665A"/>
                </a:solidFill>
                <a:latin typeface="Calibri" pitchFamily="34" charset="0"/>
                <a:ea typeface="Calibri" pitchFamily="34" charset="-122"/>
                <a:cs typeface="Calibri" pitchFamily="34" charset="-120"/>
              </a:rPr>
              <a:t>voice, text or photo</a:t>
            </a:r>
            <a:endParaRPr lang="en-US" sz="1250" dirty="0"/>
          </a:p>
        </p:txBody>
      </p:sp>
      <p:pic>
        <p:nvPicPr>
          <p:cNvPr id="29" name="Image 5" descr="preencoded.png">    </p:cNvPr>
          <p:cNvPicPr>
            <a:picLocks noChangeAspect="1"/>
          </p:cNvPicPr>
          <p:nvPr/>
        </p:nvPicPr>
        <p:blipFill>
          <a:blip r:embed="rId6"/>
          <a:stretch>
            <a:fillRect/>
          </a:stretch>
        </p:blipFill>
        <p:spPr>
          <a:xfrm>
            <a:off x="8092440" y="2542032"/>
            <a:ext cx="164592" cy="164592"/>
          </a:xfrm>
          <a:prstGeom prst="rect">
            <a:avLst/>
          </a:prstGeom>
        </p:spPr>
      </p:pic>
      <p:sp>
        <p:nvSpPr>
          <p:cNvPr id="30" name="Shape 22"/>
          <p:cNvSpPr/>
          <p:nvPr/>
        </p:nvSpPr>
        <p:spPr>
          <a:xfrm>
            <a:off x="8714232" y="2377440"/>
            <a:ext cx="502920" cy="502920"/>
          </a:xfrm>
          <a:prstGeom prst="ellipse">
            <a:avLst/>
          </a:prstGeom>
          <a:solidFill>
            <a:srgbClr val="15803D"/>
          </a:solidFill>
          <a:ln/>
        </p:spPr>
      </p:sp>
      <p:pic>
        <p:nvPicPr>
          <p:cNvPr id="31" name="Image 6" descr="preencoded.png">    </p:cNvPr>
          <p:cNvPicPr>
            <a:picLocks noChangeAspect="1"/>
          </p:cNvPicPr>
          <p:nvPr/>
        </p:nvPicPr>
        <p:blipFill>
          <a:blip r:embed="rId7"/>
          <a:stretch>
            <a:fillRect/>
          </a:stretch>
        </p:blipFill>
        <p:spPr>
          <a:xfrm>
            <a:off x="8829904" y="2493112"/>
            <a:ext cx="271577" cy="271577"/>
          </a:xfrm>
          <a:prstGeom prst="rect">
            <a:avLst/>
          </a:prstGeom>
        </p:spPr>
      </p:pic>
      <p:sp>
        <p:nvSpPr>
          <p:cNvPr id="32" name="Text 23"/>
          <p:cNvSpPr/>
          <p:nvPr/>
        </p:nvSpPr>
        <p:spPr>
          <a:xfrm>
            <a:off x="8257032" y="2971800"/>
            <a:ext cx="1417320" cy="640080"/>
          </a:xfrm>
          <a:prstGeom prst="rect">
            <a:avLst/>
          </a:prstGeom>
          <a:noFill/>
          <a:ln/>
        </p:spPr>
        <p:txBody>
          <a:bodyPr wrap="square" lIns="0" tIns="0" rIns="0" bIns="0" rtlCol="0" anchor="t"/>
          <a:lstStyle/>
          <a:p>
            <a:pPr algn="ctr" indent="0" marL="0">
              <a:buNone/>
            </a:pPr>
            <a:r>
              <a:rPr lang="en-US" sz="1250" b="1" dirty="0">
                <a:solidFill>
                  <a:srgbClr val="0F172A"/>
                </a:solidFill>
                <a:latin typeface="Calibri" pitchFamily="34" charset="0"/>
                <a:ea typeface="Calibri" pitchFamily="34" charset="-122"/>
                <a:cs typeface="Calibri" pitchFamily="34" charset="-120"/>
              </a:rPr>
              <a:t>Search the base</a:t>
            </a:r>
            <a:endParaRPr lang="en-US" sz="1250" dirty="0"/>
          </a:p>
          <a:p>
            <a:pPr algn="ctr" indent="0" marL="0">
              <a:buNone/>
            </a:pPr>
            <a:r>
              <a:rPr lang="en-US" sz="1100" dirty="0">
                <a:solidFill>
                  <a:srgbClr val="52665A"/>
                </a:solidFill>
                <a:latin typeface="Calibri" pitchFamily="34" charset="0"/>
                <a:ea typeface="Calibri" pitchFamily="34" charset="-122"/>
                <a:cs typeface="Calibri" pitchFamily="34" charset="-120"/>
              </a:rPr>
              <a:t>Ross-308 / Cobb-500</a:t>
            </a:r>
            <a:endParaRPr lang="en-US" sz="1250" dirty="0"/>
          </a:p>
        </p:txBody>
      </p:sp>
      <p:pic>
        <p:nvPicPr>
          <p:cNvPr id="33" name="Image 7" descr="preencoded.png">    </p:cNvPr>
          <p:cNvPicPr>
            <a:picLocks noChangeAspect="1"/>
          </p:cNvPicPr>
          <p:nvPr/>
        </p:nvPicPr>
        <p:blipFill>
          <a:blip r:embed="rId8"/>
          <a:stretch>
            <a:fillRect/>
          </a:stretch>
        </p:blipFill>
        <p:spPr>
          <a:xfrm>
            <a:off x="9720072" y="2542032"/>
            <a:ext cx="164592" cy="164592"/>
          </a:xfrm>
          <a:prstGeom prst="rect">
            <a:avLst/>
          </a:prstGeom>
        </p:spPr>
      </p:pic>
      <p:sp>
        <p:nvSpPr>
          <p:cNvPr id="34" name="Shape 24"/>
          <p:cNvSpPr/>
          <p:nvPr/>
        </p:nvSpPr>
        <p:spPr>
          <a:xfrm>
            <a:off x="10341864" y="2377440"/>
            <a:ext cx="502920" cy="502920"/>
          </a:xfrm>
          <a:prstGeom prst="ellipse">
            <a:avLst/>
          </a:prstGeom>
          <a:solidFill>
            <a:srgbClr val="DC2626"/>
          </a:solidFill>
          <a:ln/>
        </p:spPr>
      </p:sp>
      <p:pic>
        <p:nvPicPr>
          <p:cNvPr id="35" name="Image 8" descr="preencoded.png">    </p:cNvPr>
          <p:cNvPicPr>
            <a:picLocks noChangeAspect="1"/>
          </p:cNvPicPr>
          <p:nvPr/>
        </p:nvPicPr>
        <p:blipFill>
          <a:blip r:embed="rId9"/>
          <a:stretch>
            <a:fillRect/>
          </a:stretch>
        </p:blipFill>
        <p:spPr>
          <a:xfrm>
            <a:off x="10457536" y="2493112"/>
            <a:ext cx="271577" cy="271577"/>
          </a:xfrm>
          <a:prstGeom prst="rect">
            <a:avLst/>
          </a:prstGeom>
        </p:spPr>
      </p:pic>
      <p:sp>
        <p:nvSpPr>
          <p:cNvPr id="36" name="Text 25"/>
          <p:cNvSpPr/>
          <p:nvPr/>
        </p:nvSpPr>
        <p:spPr>
          <a:xfrm>
            <a:off x="9884664" y="2971800"/>
            <a:ext cx="1417320" cy="640080"/>
          </a:xfrm>
          <a:prstGeom prst="rect">
            <a:avLst/>
          </a:prstGeom>
          <a:noFill/>
          <a:ln/>
        </p:spPr>
        <p:txBody>
          <a:bodyPr wrap="square" lIns="0" tIns="0" rIns="0" bIns="0" rtlCol="0" anchor="t"/>
          <a:lstStyle/>
          <a:p>
            <a:pPr algn="ctr" indent="0" marL="0">
              <a:buNone/>
            </a:pPr>
            <a:r>
              <a:rPr lang="en-US" sz="1250" b="1" dirty="0">
                <a:solidFill>
                  <a:srgbClr val="0F172A"/>
                </a:solidFill>
                <a:latin typeface="Calibri" pitchFamily="34" charset="0"/>
                <a:ea typeface="Calibri" pitchFamily="34" charset="-122"/>
                <a:cs typeface="Calibri" pitchFamily="34" charset="-120"/>
              </a:rPr>
              <a:t>Not in the base?</a:t>
            </a:r>
            <a:endParaRPr lang="en-US" sz="1250" dirty="0"/>
          </a:p>
          <a:p>
            <a:pPr algn="ctr" indent="0" marL="0">
              <a:buNone/>
            </a:pPr>
            <a:r>
              <a:rPr lang="en-US" sz="1100" dirty="0">
                <a:solidFill>
                  <a:srgbClr val="52665A"/>
                </a:solidFill>
                <a:latin typeface="Calibri" pitchFamily="34" charset="0"/>
                <a:ea typeface="Calibri" pitchFamily="34" charset="-122"/>
                <a:cs typeface="Calibri" pitchFamily="34" charset="-120"/>
              </a:rPr>
              <a:t>"ask your vet"</a:t>
            </a:r>
            <a:endParaRPr lang="en-US" sz="1250" dirty="0"/>
          </a:p>
        </p:txBody>
      </p:sp>
      <p:sp>
        <p:nvSpPr>
          <p:cNvPr id="37" name="Text 26"/>
          <p:cNvSpPr/>
          <p:nvPr/>
        </p:nvSpPr>
        <p:spPr>
          <a:xfrm>
            <a:off x="6629400" y="3703320"/>
            <a:ext cx="4754880" cy="502920"/>
          </a:xfrm>
          <a:prstGeom prst="rect">
            <a:avLst/>
          </a:prstGeom>
          <a:noFill/>
          <a:ln/>
        </p:spPr>
        <p:txBody>
          <a:bodyPr wrap="square" lIns="0" tIns="0" rIns="0" bIns="0" rtlCol="0" anchor="ctr"/>
          <a:lstStyle/>
          <a:p>
            <a:pPr indent="0" marL="0">
              <a:buNone/>
            </a:pPr>
            <a:r>
              <a:rPr lang="en-US" sz="1150" dirty="0">
                <a:solidFill>
                  <a:srgbClr val="52665A"/>
                </a:solidFill>
                <a:latin typeface="Calibri" pitchFamily="34" charset="0"/>
                <a:ea typeface="Calibri" pitchFamily="34" charset="-122"/>
                <a:cs typeface="Calibri" pitchFamily="34" charset="-120"/>
              </a:rPr>
              <a:t>Alerts are counted by plain code against the norms — they never depend on an AI answer.</a:t>
            </a:r>
            <a:endParaRPr lang="en-US" sz="1150" dirty="0"/>
          </a:p>
        </p:txBody>
      </p:sp>
      <p:sp>
        <p:nvSpPr>
          <p:cNvPr id="38" name="Shape 27"/>
          <p:cNvSpPr/>
          <p:nvPr/>
        </p:nvSpPr>
        <p:spPr>
          <a:xfrm>
            <a:off x="6400800" y="4617720"/>
            <a:ext cx="5148072" cy="822960"/>
          </a:xfrm>
          <a:prstGeom prst="roundRect">
            <a:avLst>
              <a:gd name="adj" fmla="val 17778"/>
            </a:avLst>
          </a:prstGeom>
          <a:solidFill>
            <a:srgbClr val="FEE2E2"/>
          </a:solidFill>
          <a:ln/>
        </p:spPr>
      </p:sp>
      <p:sp>
        <p:nvSpPr>
          <p:cNvPr id="39" name="Shape 28"/>
          <p:cNvSpPr/>
          <p:nvPr/>
        </p:nvSpPr>
        <p:spPr>
          <a:xfrm>
            <a:off x="6601968" y="4800600"/>
            <a:ext cx="457200" cy="457200"/>
          </a:xfrm>
          <a:prstGeom prst="ellipse">
            <a:avLst/>
          </a:prstGeom>
          <a:solidFill>
            <a:srgbClr val="DC2626"/>
          </a:solidFill>
          <a:ln/>
        </p:spPr>
      </p:sp>
      <p:pic>
        <p:nvPicPr>
          <p:cNvPr id="40" name="Image 9" descr="preencoded.png">    </p:cNvPr>
          <p:cNvPicPr>
            <a:picLocks noChangeAspect="1"/>
          </p:cNvPicPr>
          <p:nvPr/>
        </p:nvPicPr>
        <p:blipFill>
          <a:blip r:embed="rId10"/>
          <a:stretch>
            <a:fillRect/>
          </a:stretch>
        </p:blipFill>
        <p:spPr>
          <a:xfrm>
            <a:off x="6707124" y="4905756"/>
            <a:ext cx="246888" cy="246888"/>
          </a:xfrm>
          <a:prstGeom prst="rect">
            <a:avLst/>
          </a:prstGeom>
        </p:spPr>
      </p:pic>
      <p:sp>
        <p:nvSpPr>
          <p:cNvPr id="41" name="Text 29"/>
          <p:cNvSpPr/>
          <p:nvPr/>
        </p:nvSpPr>
        <p:spPr>
          <a:xfrm>
            <a:off x="7205472" y="4663440"/>
            <a:ext cx="4206240" cy="7315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diagnoses or dosages — the app calls the district vet in time.</a:t>
            </a:r>
            <a:endParaRPr lang="en-US" sz="1400" dirty="0"/>
          </a:p>
        </p:txBody>
      </p:sp>
      <p:sp>
        <p:nvSpPr>
          <p:cNvPr id="42" name="Text 30"/>
          <p:cNvSpPr/>
          <p:nvPr/>
        </p:nvSpPr>
        <p:spPr>
          <a:xfrm>
            <a:off x="11274552" y="6419088"/>
            <a:ext cx="457200" cy="274320"/>
          </a:xfrm>
          <a:prstGeom prst="rect">
            <a:avLst/>
          </a:prstGeom>
          <a:noFill/>
          <a:ln/>
        </p:spPr>
        <p:txBody>
          <a:bodyPr wrap="square" lIns="0" tIns="0" rIns="0" bIns="0" rtlCol="0" anchor="ctr"/>
          <a:lstStyle/>
          <a:p>
            <a:pPr algn="r" indent="0" marL="0">
              <a:buNone/>
            </a:pPr>
            <a:r>
              <a:rPr lang="en-US" sz="1000" dirty="0">
                <a:solidFill>
                  <a:srgbClr val="7A8E7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2E16"/>
        </a:solidFill>
      </p:bgPr>
    </p:bg>
    <p:spTree>
      <p:nvGrpSpPr>
        <p:cNvPr id="1" name=""/>
        <p:cNvGrpSpPr/>
        <p:nvPr/>
      </p:nvGrpSpPr>
      <p:grpSpPr>
        <a:xfrm>
          <a:off x="0" y="0"/>
          <a:ext cx="0" cy="0"/>
          <a:chOff x="0" y="0"/>
          <a:chExt cx="0" cy="0"/>
        </a:xfrm>
      </p:grpSpPr>
      <p:sp>
        <p:nvSpPr>
          <p:cNvPr id="2" name="Shape 0"/>
          <p:cNvSpPr/>
          <p:nvPr/>
        </p:nvSpPr>
        <p:spPr>
          <a:xfrm>
            <a:off x="7498080" y="2926080"/>
            <a:ext cx="5943600" cy="5943600"/>
          </a:xfrm>
          <a:prstGeom prst="ellipse">
            <a:avLst/>
          </a:prstGeom>
          <a:solidFill>
            <a:srgbClr val="15803D">
              <a:alpha val="40000"/>
            </a:srgbClr>
          </a:solidFill>
          <a:ln/>
        </p:spPr>
      </p:sp>
      <p:sp>
        <p:nvSpPr>
          <p:cNvPr id="3" name="Text 1"/>
          <p:cNvSpPr/>
          <p:nvPr/>
        </p:nvSpPr>
        <p:spPr>
          <a:xfrm>
            <a:off x="640080" y="502920"/>
            <a:ext cx="7315200" cy="292608"/>
          </a:xfrm>
          <a:prstGeom prst="rect">
            <a:avLst/>
          </a:prstGeom>
          <a:noFill/>
          <a:ln/>
        </p:spPr>
        <p:txBody>
          <a:bodyPr wrap="square" lIns="0" tIns="0" rIns="0" bIns="0" rtlCol="0" anchor="ctr"/>
          <a:lstStyle/>
          <a:p>
            <a:pPr indent="0" marL="0">
              <a:buNone/>
            </a:pPr>
            <a:r>
              <a:rPr lang="en-US" sz="1300" b="1" spc="200" kern="0" dirty="0">
                <a:solidFill>
                  <a:srgbClr val="F59E0B"/>
                </a:solidFill>
                <a:latin typeface="Calibri" pitchFamily="34" charset="0"/>
                <a:ea typeface="Calibri" pitchFamily="34" charset="-122"/>
                <a:cs typeface="Calibri" pitchFamily="34" charset="-120"/>
              </a:rPr>
              <a:t>NEXT STEP</a:t>
            </a:r>
            <a:endParaRPr lang="en-US" sz="1300" dirty="0"/>
          </a:p>
        </p:txBody>
      </p:sp>
      <p:sp>
        <p:nvSpPr>
          <p:cNvPr id="4" name="Text 2"/>
          <p:cNvSpPr/>
          <p:nvPr/>
        </p:nvSpPr>
        <p:spPr>
          <a:xfrm>
            <a:off x="640080" y="822960"/>
            <a:ext cx="694944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A pilot with 10 farmers and a bank in Namangan region</a:t>
            </a:r>
            <a:endParaRPr lang="en-US" sz="3200" dirty="0"/>
          </a:p>
        </p:txBody>
      </p:sp>
      <p:sp>
        <p:nvSpPr>
          <p:cNvPr id="5" name="Text 3"/>
          <p:cNvSpPr/>
          <p:nvPr/>
        </p:nvSpPr>
        <p:spPr>
          <a:xfrm>
            <a:off x="64008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92–95%</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flock survival</a:t>
            </a:r>
            <a:endParaRPr lang="en-US" sz="3400" dirty="0"/>
          </a:p>
        </p:txBody>
      </p:sp>
      <p:sp>
        <p:nvSpPr>
          <p:cNvPr id="6" name="Text 4"/>
          <p:cNvSpPr/>
          <p:nvPr/>
        </p:nvSpPr>
        <p:spPr>
          <a:xfrm>
            <a:off x="297180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80%+</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days with diary entries</a:t>
            </a:r>
            <a:endParaRPr lang="en-US" sz="3400" dirty="0"/>
          </a:p>
        </p:txBody>
      </p:sp>
      <p:sp>
        <p:nvSpPr>
          <p:cNvPr id="7" name="Text 5"/>
          <p:cNvSpPr/>
          <p:nvPr/>
        </p:nvSpPr>
        <p:spPr>
          <a:xfrm>
            <a:off x="5303520" y="2057400"/>
            <a:ext cx="2194560" cy="1051560"/>
          </a:xfrm>
          <a:prstGeom prst="rect">
            <a:avLst/>
          </a:prstGeom>
          <a:noFill/>
          <a:ln/>
        </p:spPr>
        <p:txBody>
          <a:bodyPr wrap="square" lIns="0" tIns="0" rIns="0" bIns="0" rtlCol="0" anchor="t"/>
          <a:lstStyle/>
          <a:p>
            <a:pPr indent="0" marL="0">
              <a:buNone/>
            </a:pPr>
            <a:r>
              <a:rPr lang="en-US" sz="3400" b="1" dirty="0">
                <a:solidFill>
                  <a:srgbClr val="F97316"/>
                </a:solidFill>
                <a:latin typeface="Calibri" pitchFamily="34" charset="0"/>
                <a:ea typeface="Calibri" pitchFamily="34" charset="-122"/>
                <a:cs typeface="Calibri" pitchFamily="34" charset="-120"/>
              </a:rPr>
              <a:t>96%+</a:t>
            </a:r>
            <a:endParaRPr lang="en-US" sz="3400" dirty="0"/>
          </a:p>
          <a:p>
            <a:pPr indent="0" marL="0">
              <a:buNone/>
            </a:pPr>
            <a:r>
              <a:rPr lang="en-US" sz="1300" dirty="0">
                <a:solidFill>
                  <a:srgbClr val="DCFCE7"/>
                </a:solidFill>
                <a:latin typeface="Calibri" pitchFamily="34" charset="0"/>
                <a:ea typeface="Calibri" pitchFamily="34" charset="-122"/>
                <a:cs typeface="Calibri" pitchFamily="34" charset="-120"/>
              </a:rPr>
              <a:t>AI answers matching the norms</a:t>
            </a:r>
            <a:endParaRPr lang="en-US" sz="3400" dirty="0"/>
          </a:p>
        </p:txBody>
      </p:sp>
      <p:sp>
        <p:nvSpPr>
          <p:cNvPr id="8" name="Text 6"/>
          <p:cNvSpPr/>
          <p:nvPr/>
        </p:nvSpPr>
        <p:spPr>
          <a:xfrm>
            <a:off x="640080" y="3200400"/>
            <a:ext cx="6858000" cy="320040"/>
          </a:xfrm>
          <a:prstGeom prst="rect">
            <a:avLst/>
          </a:prstGeom>
          <a:noFill/>
          <a:ln/>
        </p:spPr>
        <p:txBody>
          <a:bodyPr wrap="square" lIns="0" tIns="0" rIns="0" bIns="0" rtlCol="0" anchor="ctr"/>
          <a:lstStyle/>
          <a:p>
            <a:pPr indent="0" marL="0">
              <a:buNone/>
            </a:pPr>
            <a:r>
              <a:rPr lang="en-US" sz="1250" i="1" dirty="0">
                <a:solidFill>
                  <a:srgbClr val="DCFCE7"/>
                </a:solidFill>
                <a:latin typeface="Calibri" pitchFamily="34" charset="0"/>
                <a:ea typeface="Calibri" pitchFamily="34" charset="-122"/>
                <a:cs typeface="Calibri" pitchFamily="34" charset="-120"/>
              </a:rPr>
              <a:t>Target figures per flock (42 days).</a:t>
            </a:r>
            <a:endParaRPr lang="en-US" sz="1250" dirty="0"/>
          </a:p>
        </p:txBody>
      </p:sp>
      <p:sp>
        <p:nvSpPr>
          <p:cNvPr id="9" name="Shape 7"/>
          <p:cNvSpPr/>
          <p:nvPr/>
        </p:nvSpPr>
        <p:spPr>
          <a:xfrm>
            <a:off x="640080" y="3794760"/>
            <a:ext cx="384048" cy="384048"/>
          </a:xfrm>
          <a:prstGeom prst="ellipse">
            <a:avLst/>
          </a:prstGeom>
          <a:solidFill>
            <a:srgbClr val="15803D"/>
          </a:solidFill>
          <a:ln/>
        </p:spPr>
      </p:sp>
      <p:pic>
        <p:nvPicPr>
          <p:cNvPr id="10" name="Image 0" descr="preencoded.png">    </p:cNvPr>
          <p:cNvPicPr>
            <a:picLocks noChangeAspect="1"/>
          </p:cNvPicPr>
          <p:nvPr/>
        </p:nvPicPr>
        <p:blipFill>
          <a:blip r:embed="rId1"/>
          <a:stretch>
            <a:fillRect/>
          </a:stretch>
        </p:blipFill>
        <p:spPr>
          <a:xfrm>
            <a:off x="728411" y="3883091"/>
            <a:ext cx="207386" cy="207386"/>
          </a:xfrm>
          <a:prstGeom prst="rect">
            <a:avLst/>
          </a:prstGeom>
        </p:spPr>
      </p:pic>
      <p:sp>
        <p:nvSpPr>
          <p:cNvPr id="11" name="Text 8"/>
          <p:cNvSpPr/>
          <p:nvPr/>
        </p:nvSpPr>
        <p:spPr>
          <a:xfrm>
            <a:off x="1161288" y="379476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Sensors and AI cameras in two pilot farms</a:t>
            </a:r>
            <a:endParaRPr lang="en-US" sz="1450" dirty="0"/>
          </a:p>
        </p:txBody>
      </p:sp>
      <p:sp>
        <p:nvSpPr>
          <p:cNvPr id="12" name="Shape 9"/>
          <p:cNvSpPr/>
          <p:nvPr/>
        </p:nvSpPr>
        <p:spPr>
          <a:xfrm>
            <a:off x="640080" y="4343400"/>
            <a:ext cx="384048" cy="384048"/>
          </a:xfrm>
          <a:prstGeom prst="ellipse">
            <a:avLst/>
          </a:prstGeom>
          <a:solidFill>
            <a:srgbClr val="15803D"/>
          </a:solidFill>
          <a:ln/>
        </p:spPr>
      </p:sp>
      <p:pic>
        <p:nvPicPr>
          <p:cNvPr id="13" name="Image 1" descr="preencoded.png">    </p:cNvPr>
          <p:cNvPicPr>
            <a:picLocks noChangeAspect="1"/>
          </p:cNvPicPr>
          <p:nvPr/>
        </p:nvPicPr>
        <p:blipFill>
          <a:blip r:embed="rId2"/>
          <a:stretch>
            <a:fillRect/>
          </a:stretch>
        </p:blipFill>
        <p:spPr>
          <a:xfrm>
            <a:off x="728411" y="4431731"/>
            <a:ext cx="207386" cy="207386"/>
          </a:xfrm>
          <a:prstGeom prst="rect">
            <a:avLst/>
          </a:prstGeom>
        </p:spPr>
      </p:pic>
      <p:sp>
        <p:nvSpPr>
          <p:cNvPr id="14" name="Text 10"/>
          <p:cNvSpPr/>
          <p:nvPr/>
        </p:nvSpPr>
        <p:spPr>
          <a:xfrm>
            <a:off x="1161288" y="434340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Bank dashboard with real pilot data</a:t>
            </a:r>
            <a:endParaRPr lang="en-US" sz="1450" dirty="0"/>
          </a:p>
        </p:txBody>
      </p:sp>
      <p:sp>
        <p:nvSpPr>
          <p:cNvPr id="15" name="Shape 11"/>
          <p:cNvSpPr/>
          <p:nvPr/>
        </p:nvSpPr>
        <p:spPr>
          <a:xfrm>
            <a:off x="640080" y="4892040"/>
            <a:ext cx="384048" cy="384048"/>
          </a:xfrm>
          <a:prstGeom prst="ellipse">
            <a:avLst/>
          </a:prstGeom>
          <a:solidFill>
            <a:srgbClr val="15803D"/>
          </a:solidFill>
          <a:ln/>
        </p:spPr>
      </p:sp>
      <p:pic>
        <p:nvPicPr>
          <p:cNvPr id="16" name="Image 2" descr="preencoded.png">    </p:cNvPr>
          <p:cNvPicPr>
            <a:picLocks noChangeAspect="1"/>
          </p:cNvPicPr>
          <p:nvPr/>
        </p:nvPicPr>
        <p:blipFill>
          <a:blip r:embed="rId3"/>
          <a:stretch>
            <a:fillRect/>
          </a:stretch>
        </p:blipFill>
        <p:spPr>
          <a:xfrm>
            <a:off x="728411" y="4980371"/>
            <a:ext cx="207386" cy="207386"/>
          </a:xfrm>
          <a:prstGeom prst="rect">
            <a:avLst/>
          </a:prstGeom>
        </p:spPr>
      </p:pic>
      <p:sp>
        <p:nvSpPr>
          <p:cNvPr id="17" name="Text 12"/>
          <p:cNvSpPr/>
          <p:nvPr/>
        </p:nvSpPr>
        <p:spPr>
          <a:xfrm>
            <a:off x="1161288" y="4892040"/>
            <a:ext cx="6035040" cy="38404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Then laying hens, sheep and cattle, greenhouses</a:t>
            </a:r>
            <a:endParaRPr lang="en-US" sz="1450" dirty="0"/>
          </a:p>
        </p:txBody>
      </p:sp>
      <p:pic>
        <p:nvPicPr>
          <p:cNvPr id="18" name="Image 3" descr="/home/abraxis/Desktop/AgroZen/docs/studexpo/assets/logo.png">    </p:cNvPr>
          <p:cNvPicPr>
            <a:picLocks noChangeAspect="1"/>
          </p:cNvPicPr>
          <p:nvPr/>
        </p:nvPicPr>
        <p:blipFill>
          <a:blip r:embed="rId4"/>
          <a:stretch>
            <a:fillRect/>
          </a:stretch>
        </p:blipFill>
        <p:spPr>
          <a:xfrm>
            <a:off x="640080" y="5669280"/>
            <a:ext cx="640080" cy="640080"/>
          </a:xfrm>
          <a:prstGeom prst="rect">
            <a:avLst/>
          </a:prstGeom>
        </p:spPr>
      </p:pic>
      <p:sp>
        <p:nvSpPr>
          <p:cNvPr id="19" name="Text 13"/>
          <p:cNvSpPr/>
          <p:nvPr/>
        </p:nvSpPr>
        <p:spPr>
          <a:xfrm>
            <a:off x="1417320" y="5669280"/>
            <a:ext cx="566928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Salimbek Zamalitdinov, project lead</a:t>
            </a:r>
            <a:endParaRPr lang="en-US" sz="1400" dirty="0"/>
          </a:p>
          <a:p>
            <a:pPr indent="0" marL="0">
              <a:buNone/>
            </a:pPr>
            <a:r>
              <a:rPr lang="en-US" sz="1250" dirty="0">
                <a:solidFill>
                  <a:srgbClr val="DCFCE7"/>
                </a:solidFill>
                <a:latin typeface="Calibri" pitchFamily="34" charset="0"/>
                <a:ea typeface="Calibri" pitchFamily="34" charset="-122"/>
                <a:cs typeface="Calibri" pitchFamily="34" charset="-120"/>
              </a:rPr>
              <a:t>+998 93 211 59 13 · salzamov@gmail.com</a:t>
            </a:r>
            <a:endParaRPr lang="en-US" sz="1400" dirty="0"/>
          </a:p>
        </p:txBody>
      </p:sp>
      <p:sp>
        <p:nvSpPr>
          <p:cNvPr id="20" name="Shape 14"/>
          <p:cNvSpPr/>
          <p:nvPr/>
        </p:nvSpPr>
        <p:spPr>
          <a:xfrm>
            <a:off x="8412480" y="731520"/>
            <a:ext cx="3136392" cy="4343400"/>
          </a:xfrm>
          <a:prstGeom prst="roundRect">
            <a:avLst>
              <a:gd name="adj" fmla="val 5248"/>
            </a:avLst>
          </a:prstGeom>
          <a:solidFill>
            <a:srgbClr val="FFFFFF"/>
          </a:solidFill>
          <a:ln/>
          <a:effectLst>
            <a:outerShdw sx="100000" sy="100000" kx="0" ky="0" algn="bl" rotWithShape="0" blurRad="177800" dist="38100" dir="5400000">
              <a:srgbClr val="0F172A">
                <a:alpha val="12000"/>
              </a:srgbClr>
            </a:outerShdw>
          </a:effectLst>
        </p:spPr>
      </p:sp>
      <p:pic>
        <p:nvPicPr>
          <p:cNvPr id="21" name="Image 4" descr="/home/abraxis/Desktop/AgroZen/docs/studexpo/assets/qr.png">    </p:cNvPr>
          <p:cNvPicPr>
            <a:picLocks noChangeAspect="1"/>
          </p:cNvPicPr>
          <p:nvPr/>
        </p:nvPicPr>
        <p:blipFill>
          <a:blip r:embed="rId5"/>
          <a:stretch>
            <a:fillRect/>
          </a:stretch>
        </p:blipFill>
        <p:spPr>
          <a:xfrm>
            <a:off x="8705088" y="1005840"/>
            <a:ext cx="2560320" cy="2560320"/>
          </a:xfrm>
          <a:prstGeom prst="rect">
            <a:avLst/>
          </a:prstGeom>
        </p:spPr>
      </p:pic>
      <p:sp>
        <p:nvSpPr>
          <p:cNvPr id="22" name="Text 15"/>
          <p:cNvSpPr/>
          <p:nvPr/>
        </p:nvSpPr>
        <p:spPr>
          <a:xfrm>
            <a:off x="8503920" y="3703320"/>
            <a:ext cx="2953512" cy="1188720"/>
          </a:xfrm>
          <a:prstGeom prst="rect">
            <a:avLst/>
          </a:prstGeom>
          <a:noFill/>
          <a:ln/>
        </p:spPr>
        <p:txBody>
          <a:bodyPr wrap="square" lIns="0" tIns="0" rIns="0" bIns="0" rtlCol="0" anchor="ctr"/>
          <a:lstStyle/>
          <a:p>
            <a:pPr algn="ctr" indent="0" marL="0">
              <a:buNone/>
            </a:pPr>
            <a:r>
              <a:rPr lang="en-US" sz="1700" b="1" dirty="0">
                <a:solidFill>
                  <a:srgbClr val="0F172A"/>
                </a:solidFill>
                <a:latin typeface="Calibri" pitchFamily="34" charset="0"/>
                <a:ea typeface="Calibri" pitchFamily="34" charset="-122"/>
                <a:cs typeface="Calibri" pitchFamily="34" charset="-120"/>
              </a:rPr>
              <a:t>Download and try it</a:t>
            </a:r>
            <a:endParaRPr lang="en-US" sz="1700" dirty="0"/>
          </a:p>
          <a:p>
            <a:pPr algn="ctr" indent="0" marL="0">
              <a:buNone/>
            </a:pPr>
            <a:r>
              <a:rPr lang="en-US" sz="1300" dirty="0">
                <a:solidFill>
                  <a:srgbClr val="52665A"/>
                </a:solidFill>
                <a:latin typeface="Calibri" pitchFamily="34" charset="0"/>
                <a:ea typeface="Calibri" pitchFamily="34" charset="-122"/>
                <a:cs typeface="Calibri" pitchFamily="34" charset="-120"/>
              </a:rPr>
              <a:t>Android app</a:t>
            </a:r>
            <a:endParaRPr lang="en-US" sz="1700" dirty="0"/>
          </a:p>
          <a:p>
            <a:pPr algn="ctr" indent="0" marL="0">
              <a:buNone/>
            </a:pPr>
            <a:r>
              <a:rPr lang="en-US" sz="1200" dirty="0">
                <a:solidFill>
                  <a:srgbClr val="15803D"/>
                </a:solidFill>
                <a:latin typeface="Calibri" pitchFamily="34" charset="0"/>
                <a:ea typeface="Calibri" pitchFamily="34" charset="-122"/>
                <a:cs typeface="Calibri" pitchFamily="34" charset="-120"/>
              </a:rPr>
              <a:t>github.com/ZedRubilan/agrozen</a:t>
            </a:r>
            <a:endParaRPr lang="en-US" sz="1700" dirty="0"/>
          </a:p>
        </p:txBody>
      </p:sp>
      <p:sp>
        <p:nvSpPr>
          <p:cNvPr id="23" name="Text 16"/>
          <p:cNvSpPr/>
          <p:nvPr/>
        </p:nvSpPr>
        <p:spPr>
          <a:xfrm>
            <a:off x="8412480" y="5349240"/>
            <a:ext cx="3136392"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Thank you!</a:t>
            </a:r>
            <a:endParaRPr lang="en-US" sz="3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AgroZen — StudEXPO-2026</dc:title>
  <dc:subject>PptxGenJS Presentation</dc:subject>
  <dc:creator>Salimbek Zamalitdinov, Ulugbek Kodirov</dc:creator>
  <cp:lastModifiedBy>Salimbek Zamalitdinov, Ulugbek Kodirov</cp:lastModifiedBy>
  <cp:revision>1</cp:revision>
  <dcterms:created xsi:type="dcterms:W3CDTF">2026-10-22T14:41:21Z</dcterms:created>
  <dcterms:modified xsi:type="dcterms:W3CDTF">2026-10-22T14:41:21Z</dcterms:modified>
</cp:coreProperties>
</file>